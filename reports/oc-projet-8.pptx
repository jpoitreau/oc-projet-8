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notesMasterIdLst>
    <p:notesMasterId r:id="rId13"/>
  </p:notesMasterIdLst>
  <p:handoutMasterIdLst>
    <p:handoutMasterId r:id="rId14"/>
  </p:handoutMasterIdLst>
  <p:sldIdLst>
    <p:sldId id="256" r:id="rId2"/>
    <p:sldId id="287" r:id="rId3"/>
    <p:sldId id="332" r:id="rId4"/>
    <p:sldId id="278" r:id="rId5"/>
    <p:sldId id="277" r:id="rId6"/>
    <p:sldId id="329" r:id="rId7"/>
    <p:sldId id="333" r:id="rId8"/>
    <p:sldId id="334" r:id="rId9"/>
    <p:sldId id="336" r:id="rId10"/>
    <p:sldId id="335" r:id="rId11"/>
    <p:sldId id="312"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75000"/>
    <a:srgbClr val="1C1B22"/>
    <a:srgbClr val="4F8BBE"/>
    <a:srgbClr val="6588A5"/>
    <a:srgbClr val="CE9178"/>
    <a:srgbClr val="262626"/>
    <a:srgbClr val="9D2D0F"/>
    <a:srgbClr val="FFFFFF"/>
    <a:srgbClr val="4C72B0"/>
    <a:srgbClr val="DD845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8490" autoAdjust="0"/>
  </p:normalViewPr>
  <p:slideViewPr>
    <p:cSldViewPr snapToGrid="0">
      <p:cViewPr varScale="1">
        <p:scale>
          <a:sx n="49" d="100"/>
          <a:sy n="49" d="100"/>
        </p:scale>
        <p:origin x="1336" y="52"/>
      </p:cViewPr>
      <p:guideLst/>
    </p:cSldViewPr>
  </p:slideViewPr>
  <p:notesTextViewPr>
    <p:cViewPr>
      <p:scale>
        <a:sx n="3" d="2"/>
        <a:sy n="3" d="2"/>
      </p:scale>
      <p:origin x="0" y="0"/>
    </p:cViewPr>
  </p:notesTextViewPr>
  <p:notesViewPr>
    <p:cSldViewPr snapToGrid="0">
      <p:cViewPr varScale="1">
        <p:scale>
          <a:sx n="61" d="100"/>
          <a:sy n="61" d="100"/>
        </p:scale>
        <p:origin x="2117" y="43"/>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F3733C9E-AFC9-2203-69AD-E794060CF9F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Espace réservé de la date 2">
            <a:extLst>
              <a:ext uri="{FF2B5EF4-FFF2-40B4-BE49-F238E27FC236}">
                <a16:creationId xmlns:a16="http://schemas.microsoft.com/office/drawing/2014/main" id="{01A12ABE-837A-D1C3-AD69-BA6A28307C0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5DDB058-A044-4043-A3A3-7BACA5B3A04F}" type="datetimeFigureOut">
              <a:rPr lang="en-US" smtClean="0"/>
              <a:t>8/22/2026</a:t>
            </a:fld>
            <a:endParaRPr lang="en-US"/>
          </a:p>
        </p:txBody>
      </p:sp>
      <p:sp>
        <p:nvSpPr>
          <p:cNvPr id="4" name="Espace réservé du pied de page 3">
            <a:extLst>
              <a:ext uri="{FF2B5EF4-FFF2-40B4-BE49-F238E27FC236}">
                <a16:creationId xmlns:a16="http://schemas.microsoft.com/office/drawing/2014/main" id="{300D5124-CA9E-0699-6A17-C136EDC632B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Espace réservé du numéro de diapositive 4">
            <a:extLst>
              <a:ext uri="{FF2B5EF4-FFF2-40B4-BE49-F238E27FC236}">
                <a16:creationId xmlns:a16="http://schemas.microsoft.com/office/drawing/2014/main" id="{30E6FDFE-755F-0C64-6E9A-48D78C2737F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C4BEB73-50BC-478F-9973-E68CD0A30E97}" type="slidenum">
              <a:rPr lang="en-US" smtClean="0"/>
              <a:t>‹#›</a:t>
            </a:fld>
            <a:endParaRPr lang="en-US"/>
          </a:p>
        </p:txBody>
      </p:sp>
    </p:spTree>
    <p:extLst>
      <p:ext uri="{BB962C8B-B14F-4D97-AF65-F5344CB8AC3E}">
        <p14:creationId xmlns:p14="http://schemas.microsoft.com/office/powerpoint/2010/main" val="35409490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1CF6E6-CAE2-4C00-8C24-5E0E8B2FFA08}" type="datetimeFigureOut">
              <a:rPr lang="en-US" smtClean="0"/>
              <a:t>8/22/2026</a:t>
            </a:fld>
            <a:endParaRPr lang="en-US"/>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F3624B-3861-4937-8F64-3EF5A72077AD}" type="slidenum">
              <a:rPr lang="en-US" smtClean="0"/>
              <a:t>‹#›</a:t>
            </a:fld>
            <a:endParaRPr lang="en-US"/>
          </a:p>
        </p:txBody>
      </p:sp>
    </p:spTree>
    <p:extLst>
      <p:ext uri="{BB962C8B-B14F-4D97-AF65-F5344CB8AC3E}">
        <p14:creationId xmlns:p14="http://schemas.microsoft.com/office/powerpoint/2010/main" val="39332284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n-US" dirty="0"/>
              <a:t>Bonjour, je </a:t>
            </a:r>
            <a:r>
              <a:rPr lang="en-US" dirty="0" err="1"/>
              <a:t>vais</a:t>
            </a:r>
            <a:r>
              <a:rPr lang="en-US" dirty="0"/>
              <a:t> vous presenter </a:t>
            </a:r>
            <a:r>
              <a:rPr lang="en-US" dirty="0" err="1"/>
              <a:t>mon</a:t>
            </a:r>
            <a:r>
              <a:rPr lang="en-US" dirty="0"/>
              <a:t> travail pour le </a:t>
            </a:r>
            <a:r>
              <a:rPr lang="en-US" dirty="0" err="1"/>
              <a:t>projet</a:t>
            </a:r>
            <a:r>
              <a:rPr lang="en-US" dirty="0"/>
              <a:t> 8 du </a:t>
            </a:r>
            <a:r>
              <a:rPr lang="en-US" dirty="0" err="1"/>
              <a:t>parcours</a:t>
            </a:r>
            <a:r>
              <a:rPr lang="en-US" dirty="0"/>
              <a:t> </a:t>
            </a:r>
            <a:r>
              <a:rPr lang="en-US" dirty="0" err="1"/>
              <a:t>datascience</a:t>
            </a:r>
            <a:r>
              <a:rPr lang="en-US" dirty="0"/>
              <a:t>, </a:t>
            </a:r>
            <a:r>
              <a:rPr lang="en-US" dirty="0" err="1"/>
              <a:t>confirmez</a:t>
            </a:r>
            <a:r>
              <a:rPr lang="en-US" dirty="0"/>
              <a:t> </a:t>
            </a:r>
            <a:r>
              <a:rPr lang="en-US" dirty="0" err="1"/>
              <a:t>vos</a:t>
            </a:r>
            <a:r>
              <a:rPr lang="en-US" dirty="0"/>
              <a:t> </a:t>
            </a:r>
            <a:r>
              <a:rPr lang="en-US" dirty="0" err="1"/>
              <a:t>compétences</a:t>
            </a:r>
            <a:r>
              <a:rPr lang="en-US" dirty="0"/>
              <a:t> </a:t>
            </a:r>
            <a:r>
              <a:rPr lang="en-US" dirty="0" err="1"/>
              <a:t>en</a:t>
            </a:r>
            <a:r>
              <a:rPr lang="en-US" dirty="0"/>
              <a:t> </a:t>
            </a:r>
            <a:r>
              <a:rPr lang="en-US" dirty="0" err="1"/>
              <a:t>MLOps</a:t>
            </a:r>
            <a:r>
              <a:rPr lang="en-US" dirty="0"/>
              <a:t>.</a:t>
            </a:r>
          </a:p>
        </p:txBody>
      </p:sp>
      <p:sp>
        <p:nvSpPr>
          <p:cNvPr id="4" name="Espace réservé du numéro de diapositive 3"/>
          <p:cNvSpPr>
            <a:spLocks noGrp="1"/>
          </p:cNvSpPr>
          <p:nvPr>
            <p:ph type="sldNum" sz="quarter" idx="5"/>
          </p:nvPr>
        </p:nvSpPr>
        <p:spPr/>
        <p:txBody>
          <a:bodyPr/>
          <a:lstStyle/>
          <a:p>
            <a:fld id="{A3F3624B-3861-4937-8F64-3EF5A72077AD}" type="slidenum">
              <a:rPr lang="en-US" smtClean="0"/>
              <a:t>1</a:t>
            </a:fld>
            <a:endParaRPr lang="en-US"/>
          </a:p>
        </p:txBody>
      </p:sp>
    </p:spTree>
    <p:extLst>
      <p:ext uri="{BB962C8B-B14F-4D97-AF65-F5344CB8AC3E}">
        <p14:creationId xmlns:p14="http://schemas.microsoft.com/office/powerpoint/2010/main" val="33523497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n-US" dirty="0"/>
              <a:t>Ma presentation se </a:t>
            </a:r>
            <a:r>
              <a:rPr lang="en-US" dirty="0" err="1"/>
              <a:t>divisera</a:t>
            </a:r>
            <a:r>
              <a:rPr lang="en-US" dirty="0"/>
              <a:t> </a:t>
            </a:r>
            <a:r>
              <a:rPr lang="en-US" dirty="0" err="1"/>
              <a:t>en</a:t>
            </a:r>
            <a:r>
              <a:rPr lang="en-US" dirty="0"/>
              <a:t> 4 points: je </a:t>
            </a:r>
            <a:r>
              <a:rPr lang="en-US" dirty="0" err="1"/>
              <a:t>ferai</a:t>
            </a:r>
            <a:r>
              <a:rPr lang="en-US" dirty="0"/>
              <a:t> </a:t>
            </a:r>
            <a:r>
              <a:rPr lang="en-US" dirty="0" err="1"/>
              <a:t>d’abord</a:t>
            </a:r>
            <a:r>
              <a:rPr lang="en-US" dirty="0"/>
              <a:t> un rappel du context métier, </a:t>
            </a:r>
            <a:r>
              <a:rPr lang="en-US" dirty="0" err="1"/>
              <a:t>suivi</a:t>
            </a:r>
            <a:r>
              <a:rPr lang="en-US" dirty="0"/>
              <a:t> de la </a:t>
            </a:r>
            <a:r>
              <a:rPr lang="en-US" dirty="0" err="1"/>
              <a:t>présentation</a:t>
            </a:r>
            <a:r>
              <a:rPr lang="en-US" dirty="0"/>
              <a:t> de la structure de </a:t>
            </a:r>
            <a:r>
              <a:rPr lang="en-US" dirty="0" err="1"/>
              <a:t>mon</a:t>
            </a:r>
            <a:r>
              <a:rPr lang="en-US" dirty="0"/>
              <a:t> </a:t>
            </a:r>
            <a:r>
              <a:rPr lang="en-US" dirty="0" err="1"/>
              <a:t>dépôt</a:t>
            </a:r>
            <a:r>
              <a:rPr lang="en-US" dirty="0"/>
              <a:t>. Je </a:t>
            </a:r>
            <a:r>
              <a:rPr lang="en-US" dirty="0" err="1"/>
              <a:t>ferai</a:t>
            </a:r>
            <a:r>
              <a:rPr lang="en-US" dirty="0"/>
              <a:t> ensuite </a:t>
            </a:r>
            <a:r>
              <a:rPr lang="en-US" dirty="0" err="1"/>
              <a:t>une</a:t>
            </a:r>
            <a:r>
              <a:rPr lang="en-US" dirty="0"/>
              <a:t> demonstration du </a:t>
            </a:r>
            <a:r>
              <a:rPr lang="en-US" dirty="0" err="1"/>
              <a:t>fonctionnement</a:t>
            </a:r>
            <a:r>
              <a:rPr lang="en-US" dirty="0"/>
              <a:t> de </a:t>
            </a:r>
            <a:r>
              <a:rPr lang="en-US" dirty="0" err="1"/>
              <a:t>mon</a:t>
            </a:r>
            <a:r>
              <a:rPr lang="en-US" dirty="0"/>
              <a:t> pipeline de ci/cd et de </a:t>
            </a:r>
            <a:r>
              <a:rPr lang="en-US" dirty="0" err="1"/>
              <a:t>l’api</a:t>
            </a:r>
            <a:r>
              <a:rPr lang="en-US" dirty="0"/>
              <a:t> </a:t>
            </a:r>
            <a:r>
              <a:rPr lang="en-US" dirty="0" err="1"/>
              <a:t>déployée</a:t>
            </a:r>
            <a:r>
              <a:rPr lang="en-US" dirty="0"/>
              <a:t> et je </a:t>
            </a:r>
            <a:r>
              <a:rPr lang="en-US" dirty="0" err="1"/>
              <a:t>terminerai</a:t>
            </a:r>
            <a:r>
              <a:rPr lang="en-US" dirty="0"/>
              <a:t> </a:t>
            </a:r>
            <a:r>
              <a:rPr lang="en-US" dirty="0" err="1"/>
              <a:t>en</a:t>
            </a:r>
            <a:r>
              <a:rPr lang="en-US" dirty="0"/>
              <a:t> </a:t>
            </a:r>
            <a:r>
              <a:rPr lang="en-US" dirty="0" err="1"/>
              <a:t>présentant</a:t>
            </a:r>
            <a:r>
              <a:rPr lang="en-US" dirty="0"/>
              <a:t> </a:t>
            </a:r>
            <a:r>
              <a:rPr lang="en-US" dirty="0" err="1"/>
              <a:t>mes</a:t>
            </a:r>
            <a:r>
              <a:rPr lang="en-US" dirty="0"/>
              <a:t> </a:t>
            </a:r>
            <a:r>
              <a:rPr lang="en-US" dirty="0" err="1"/>
              <a:t>résultats</a:t>
            </a:r>
            <a:r>
              <a:rPr lang="en-US" dirty="0"/>
              <a:t> de monitoring et </a:t>
            </a:r>
            <a:r>
              <a:rPr lang="en-US" dirty="0" err="1"/>
              <a:t>l’optimization</a:t>
            </a:r>
            <a:r>
              <a:rPr lang="en-US" dirty="0"/>
              <a:t> de </a:t>
            </a:r>
            <a:r>
              <a:rPr lang="en-US" dirty="0" err="1"/>
              <a:t>mon</a:t>
            </a:r>
            <a:r>
              <a:rPr lang="en-US" dirty="0"/>
              <a:t> pipeline de </a:t>
            </a:r>
            <a:r>
              <a:rPr lang="en-US" dirty="0" err="1"/>
              <a:t>requête</a:t>
            </a:r>
            <a:r>
              <a:rPr lang="en-US" dirty="0"/>
              <a:t>.  </a:t>
            </a:r>
          </a:p>
        </p:txBody>
      </p:sp>
      <p:sp>
        <p:nvSpPr>
          <p:cNvPr id="4" name="Espace réservé du numéro de diapositive 3"/>
          <p:cNvSpPr>
            <a:spLocks noGrp="1"/>
          </p:cNvSpPr>
          <p:nvPr>
            <p:ph type="sldNum" sz="quarter" idx="5"/>
          </p:nvPr>
        </p:nvSpPr>
        <p:spPr/>
        <p:txBody>
          <a:bodyPr/>
          <a:lstStyle/>
          <a:p>
            <a:fld id="{A3F3624B-3861-4937-8F64-3EF5A72077AD}" type="slidenum">
              <a:rPr lang="en-US" smtClean="0"/>
              <a:t>2</a:t>
            </a:fld>
            <a:endParaRPr lang="en-US"/>
          </a:p>
        </p:txBody>
      </p:sp>
    </p:spTree>
    <p:extLst>
      <p:ext uri="{BB962C8B-B14F-4D97-AF65-F5344CB8AC3E}">
        <p14:creationId xmlns:p14="http://schemas.microsoft.com/office/powerpoint/2010/main" val="2502626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8F945-F4B6-C98E-1C52-6623B4364CE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F922442-2AAF-1D8C-264B-5B721C1076C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35F1BA5-95D5-A4B3-4BC1-120DBD1217BF}"/>
              </a:ext>
            </a:extLst>
          </p:cNvPr>
          <p:cNvSpPr>
            <a:spLocks noGrp="1"/>
          </p:cNvSpPr>
          <p:nvPr>
            <p:ph type="body" idx="1"/>
          </p:nvPr>
        </p:nvSpPr>
        <p:spPr/>
        <p:txBody>
          <a:bodyPr/>
          <a:lstStyle/>
          <a:p>
            <a:r>
              <a:rPr lang="en-US" dirty="0"/>
              <a:t>La mission du </a:t>
            </a:r>
            <a:r>
              <a:rPr lang="en-US" dirty="0" err="1"/>
              <a:t>projet</a:t>
            </a:r>
            <a:r>
              <a:rPr lang="en-US" dirty="0"/>
              <a:t> </a:t>
            </a:r>
            <a:r>
              <a:rPr lang="en-US" dirty="0" err="1"/>
              <a:t>était</a:t>
            </a:r>
            <a:r>
              <a:rPr lang="en-US" dirty="0"/>
              <a:t> de </a:t>
            </a:r>
            <a:r>
              <a:rPr lang="en-US" dirty="0" err="1"/>
              <a:t>simuler</a:t>
            </a:r>
            <a:r>
              <a:rPr lang="en-US" dirty="0"/>
              <a:t> la mise </a:t>
            </a:r>
            <a:r>
              <a:rPr lang="en-US" dirty="0" err="1"/>
              <a:t>en</a:t>
            </a:r>
            <a:r>
              <a:rPr lang="en-US" dirty="0"/>
              <a:t> production d’un </a:t>
            </a:r>
            <a:r>
              <a:rPr lang="en-US" dirty="0" err="1"/>
              <a:t>modèle</a:t>
            </a:r>
            <a:r>
              <a:rPr lang="en-US" dirty="0"/>
              <a:t> de scoring client qui se base sur des données </a:t>
            </a:r>
            <a:r>
              <a:rPr lang="en-US" dirty="0" err="1"/>
              <a:t>bancaires</a:t>
            </a:r>
            <a:r>
              <a:rPr lang="en-US" dirty="0"/>
              <a:t> et </a:t>
            </a:r>
            <a:r>
              <a:rPr lang="en-US" dirty="0" err="1"/>
              <a:t>personnelles</a:t>
            </a:r>
            <a:r>
              <a:rPr lang="en-US" dirty="0"/>
              <a:t> pour </a:t>
            </a:r>
            <a:r>
              <a:rPr lang="en-US" dirty="0" err="1"/>
              <a:t>prédire</a:t>
            </a:r>
            <a:r>
              <a:rPr lang="en-US" dirty="0"/>
              <a:t> le </a:t>
            </a:r>
            <a:r>
              <a:rPr lang="en-US" dirty="0" err="1"/>
              <a:t>recouvrement</a:t>
            </a:r>
            <a:r>
              <a:rPr lang="en-US" dirty="0"/>
              <a:t> d’un nouveau prêt. Les deux </a:t>
            </a:r>
            <a:r>
              <a:rPr lang="en-US" dirty="0" err="1"/>
              <a:t>objectifs</a:t>
            </a:r>
            <a:r>
              <a:rPr lang="en-US" dirty="0"/>
              <a:t> </a:t>
            </a:r>
            <a:r>
              <a:rPr lang="en-US" dirty="0" err="1"/>
              <a:t>principaux</a:t>
            </a:r>
            <a:r>
              <a:rPr lang="en-US" dirty="0"/>
              <a:t> </a:t>
            </a:r>
            <a:r>
              <a:rPr lang="en-US" dirty="0" err="1"/>
              <a:t>étaient</a:t>
            </a:r>
            <a:r>
              <a:rPr lang="en-US" dirty="0"/>
              <a:t> le </a:t>
            </a:r>
            <a:r>
              <a:rPr lang="en-US" dirty="0" err="1"/>
              <a:t>déploiement</a:t>
            </a:r>
            <a:r>
              <a:rPr lang="en-US" dirty="0"/>
              <a:t> </a:t>
            </a:r>
            <a:r>
              <a:rPr lang="en-US" dirty="0" err="1"/>
              <a:t>d’une</a:t>
            </a:r>
            <a:r>
              <a:rPr lang="en-US" dirty="0"/>
              <a:t> API </a:t>
            </a:r>
            <a:r>
              <a:rPr lang="en-US" dirty="0" err="1"/>
              <a:t>gradio</a:t>
            </a:r>
            <a:r>
              <a:rPr lang="en-US" dirty="0"/>
              <a:t> </a:t>
            </a:r>
            <a:r>
              <a:rPr lang="en-US" dirty="0" err="1"/>
              <a:t>conteneurisée</a:t>
            </a:r>
            <a:r>
              <a:rPr lang="en-US" dirty="0"/>
              <a:t> sur </a:t>
            </a:r>
            <a:r>
              <a:rPr lang="en-US" dirty="0" err="1"/>
              <a:t>une</a:t>
            </a:r>
            <a:r>
              <a:rPr lang="en-US" dirty="0"/>
              <a:t> </a:t>
            </a:r>
            <a:r>
              <a:rPr lang="en-US" dirty="0" err="1"/>
              <a:t>plateforme</a:t>
            </a:r>
            <a:r>
              <a:rPr lang="en-US" dirty="0"/>
              <a:t> </a:t>
            </a:r>
            <a:r>
              <a:rPr lang="en-US" dirty="0" err="1"/>
              <a:t>permettant</a:t>
            </a:r>
            <a:r>
              <a:rPr lang="en-US" dirty="0"/>
              <a:t> </a:t>
            </a:r>
            <a:r>
              <a:rPr lang="en-US" dirty="0" err="1"/>
              <a:t>d’utilizer</a:t>
            </a:r>
            <a:r>
              <a:rPr lang="en-US" dirty="0"/>
              <a:t> </a:t>
            </a:r>
            <a:r>
              <a:rPr lang="en-US" dirty="0" err="1"/>
              <a:t>l’application</a:t>
            </a:r>
            <a:r>
              <a:rPr lang="en-US" dirty="0"/>
              <a:t> et la mise </a:t>
            </a:r>
            <a:r>
              <a:rPr lang="en-US" dirty="0" err="1"/>
              <a:t>en</a:t>
            </a:r>
            <a:r>
              <a:rPr lang="en-US" dirty="0"/>
              <a:t> place d’un dashboard de monitoring de </a:t>
            </a:r>
            <a:r>
              <a:rPr lang="en-US" dirty="0" err="1"/>
              <a:t>l’API</a:t>
            </a:r>
            <a:r>
              <a:rPr lang="en-US" dirty="0"/>
              <a:t> qui </a:t>
            </a:r>
            <a:r>
              <a:rPr lang="en-US" dirty="0" err="1"/>
              <a:t>permet</a:t>
            </a:r>
            <a:r>
              <a:rPr lang="en-US" dirty="0"/>
              <a:t> de </a:t>
            </a:r>
            <a:r>
              <a:rPr lang="en-US" dirty="0" err="1"/>
              <a:t>suivre</a:t>
            </a:r>
            <a:r>
              <a:rPr lang="en-US" dirty="0"/>
              <a:t> son </a:t>
            </a:r>
            <a:r>
              <a:rPr lang="en-US" dirty="0" err="1"/>
              <a:t>fonctionnement</a:t>
            </a:r>
            <a:r>
              <a:rPr lang="en-US" dirty="0"/>
              <a:t>.</a:t>
            </a:r>
          </a:p>
        </p:txBody>
      </p:sp>
      <p:sp>
        <p:nvSpPr>
          <p:cNvPr id="4" name="Espace réservé du numéro de diapositive 3">
            <a:extLst>
              <a:ext uri="{FF2B5EF4-FFF2-40B4-BE49-F238E27FC236}">
                <a16:creationId xmlns:a16="http://schemas.microsoft.com/office/drawing/2014/main" id="{56D39E1A-C695-BA42-A8CF-A6D69F4FF483}"/>
              </a:ext>
            </a:extLst>
          </p:cNvPr>
          <p:cNvSpPr>
            <a:spLocks noGrp="1"/>
          </p:cNvSpPr>
          <p:nvPr>
            <p:ph type="sldNum" sz="quarter" idx="5"/>
          </p:nvPr>
        </p:nvSpPr>
        <p:spPr/>
        <p:txBody>
          <a:bodyPr/>
          <a:lstStyle/>
          <a:p>
            <a:fld id="{A3F3624B-3861-4937-8F64-3EF5A72077AD}" type="slidenum">
              <a:rPr lang="en-US" smtClean="0"/>
              <a:t>3</a:t>
            </a:fld>
            <a:endParaRPr lang="en-US"/>
          </a:p>
        </p:txBody>
      </p:sp>
    </p:spTree>
    <p:extLst>
      <p:ext uri="{BB962C8B-B14F-4D97-AF65-F5344CB8AC3E}">
        <p14:creationId xmlns:p14="http://schemas.microsoft.com/office/powerpoint/2010/main" val="16823631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n-US" dirty="0"/>
              <a:t>Pour </a:t>
            </a:r>
            <a:r>
              <a:rPr lang="en-US" dirty="0" err="1"/>
              <a:t>ce</a:t>
            </a:r>
            <a:r>
              <a:rPr lang="en-US" dirty="0"/>
              <a:t> qui est de </a:t>
            </a:r>
            <a:r>
              <a:rPr lang="en-US" dirty="0" err="1"/>
              <a:t>l’organization</a:t>
            </a:r>
            <a:r>
              <a:rPr lang="en-US" dirty="0"/>
              <a:t> de </a:t>
            </a:r>
            <a:r>
              <a:rPr lang="en-US" dirty="0" err="1"/>
              <a:t>mon</a:t>
            </a:r>
            <a:r>
              <a:rPr lang="en-US" dirty="0"/>
              <a:t> depot, je vous </a:t>
            </a:r>
            <a:r>
              <a:rPr lang="en-US" dirty="0" err="1"/>
              <a:t>présente</a:t>
            </a:r>
            <a:r>
              <a:rPr lang="en-US" dirty="0"/>
              <a:t> </a:t>
            </a:r>
            <a:r>
              <a:rPr lang="en-US" dirty="0" err="1"/>
              <a:t>ici</a:t>
            </a:r>
            <a:r>
              <a:rPr lang="en-US" dirty="0"/>
              <a:t> </a:t>
            </a:r>
            <a:r>
              <a:rPr lang="en-US" dirty="0" err="1"/>
              <a:t>l’architecture</a:t>
            </a:r>
            <a:r>
              <a:rPr lang="en-US" dirty="0"/>
              <a:t> de </a:t>
            </a:r>
            <a:r>
              <a:rPr lang="en-US" dirty="0" err="1"/>
              <a:t>mon</a:t>
            </a:r>
            <a:r>
              <a:rPr lang="en-US" dirty="0"/>
              <a:t> </a:t>
            </a:r>
            <a:r>
              <a:rPr lang="en-US" dirty="0" err="1"/>
              <a:t>projet</a:t>
            </a:r>
            <a:r>
              <a:rPr lang="en-US" dirty="0"/>
              <a:t>. </a:t>
            </a:r>
            <a:r>
              <a:rPr lang="en-US" dirty="0" err="1"/>
              <a:t>J’ai</a:t>
            </a:r>
            <a:r>
              <a:rPr lang="en-US" dirty="0"/>
              <a:t> 4 </a:t>
            </a:r>
            <a:r>
              <a:rPr lang="en-US" dirty="0" err="1"/>
              <a:t>éléments</a:t>
            </a:r>
            <a:r>
              <a:rPr lang="en-US" dirty="0"/>
              <a:t> à la </a:t>
            </a:r>
            <a:r>
              <a:rPr lang="en-US" dirty="0" err="1"/>
              <a:t>racine</a:t>
            </a:r>
            <a:r>
              <a:rPr lang="en-US" dirty="0"/>
              <a:t>, un dossier source qui </a:t>
            </a:r>
            <a:r>
              <a:rPr lang="en-US" dirty="0" err="1"/>
              <a:t>va</a:t>
            </a:r>
            <a:r>
              <a:rPr lang="en-US" dirty="0"/>
              <a:t> </a:t>
            </a:r>
            <a:r>
              <a:rPr lang="en-US" dirty="0" err="1"/>
              <a:t>contenir</a:t>
            </a:r>
            <a:r>
              <a:rPr lang="en-US" dirty="0"/>
              <a:t> la </a:t>
            </a:r>
            <a:r>
              <a:rPr lang="en-US" dirty="0" err="1"/>
              <a:t>totalité</a:t>
            </a:r>
            <a:r>
              <a:rPr lang="en-US" dirty="0"/>
              <a:t> de </a:t>
            </a:r>
            <a:r>
              <a:rPr lang="en-US" dirty="0" err="1"/>
              <a:t>mon</a:t>
            </a:r>
            <a:r>
              <a:rPr lang="en-US" dirty="0"/>
              <a:t> code. Un dossier data, qui </a:t>
            </a:r>
            <a:r>
              <a:rPr lang="en-US" dirty="0" err="1"/>
              <a:t>contient</a:t>
            </a:r>
            <a:r>
              <a:rPr lang="en-US" dirty="0"/>
              <a:t> </a:t>
            </a:r>
            <a:r>
              <a:rPr lang="en-US" dirty="0" err="1"/>
              <a:t>une</a:t>
            </a:r>
            <a:r>
              <a:rPr lang="en-US" dirty="0"/>
              <a:t> </a:t>
            </a:r>
            <a:r>
              <a:rPr lang="en-US" dirty="0" err="1"/>
              <a:t>partie</a:t>
            </a:r>
            <a:r>
              <a:rPr lang="en-US" dirty="0"/>
              <a:t> des données </a:t>
            </a:r>
            <a:r>
              <a:rPr lang="en-US" dirty="0" err="1"/>
              <a:t>d’entrainement</a:t>
            </a:r>
            <a:r>
              <a:rPr lang="en-US" dirty="0"/>
              <a:t> du </a:t>
            </a:r>
            <a:r>
              <a:rPr lang="en-US" dirty="0" err="1"/>
              <a:t>modèle</a:t>
            </a:r>
            <a:r>
              <a:rPr lang="en-US" dirty="0"/>
              <a:t> </a:t>
            </a:r>
            <a:r>
              <a:rPr lang="en-US" dirty="0" err="1"/>
              <a:t>comme</a:t>
            </a:r>
            <a:r>
              <a:rPr lang="en-US" dirty="0"/>
              <a:t> données de demonstration. Ce tableau me </a:t>
            </a:r>
            <a:r>
              <a:rPr lang="en-US" dirty="0" err="1"/>
              <a:t>permet</a:t>
            </a:r>
            <a:r>
              <a:rPr lang="en-US" dirty="0"/>
              <a:t> de </a:t>
            </a:r>
            <a:r>
              <a:rPr lang="en-US" dirty="0" err="1"/>
              <a:t>récupérer</a:t>
            </a:r>
            <a:r>
              <a:rPr lang="en-US" dirty="0"/>
              <a:t> les features et de </a:t>
            </a:r>
            <a:r>
              <a:rPr lang="en-US" dirty="0" err="1"/>
              <a:t>simuler</a:t>
            </a:r>
            <a:r>
              <a:rPr lang="en-US" dirty="0"/>
              <a:t> de nouveau </a:t>
            </a:r>
            <a:r>
              <a:rPr lang="en-US" dirty="0" err="1"/>
              <a:t>profil</a:t>
            </a:r>
            <a:r>
              <a:rPr lang="en-US" dirty="0"/>
              <a:t> de données </a:t>
            </a:r>
            <a:r>
              <a:rPr lang="en-US" dirty="0" err="1"/>
              <a:t>en</a:t>
            </a:r>
            <a:r>
              <a:rPr lang="en-US" dirty="0"/>
              <a:t> y </a:t>
            </a:r>
            <a:r>
              <a:rPr lang="en-US" dirty="0" err="1"/>
              <a:t>piochant</a:t>
            </a:r>
            <a:r>
              <a:rPr lang="en-US" dirty="0"/>
              <a:t> des </a:t>
            </a:r>
            <a:r>
              <a:rPr lang="en-US" dirty="0" err="1"/>
              <a:t>valeurs</a:t>
            </a:r>
            <a:r>
              <a:rPr lang="en-US" dirty="0"/>
              <a:t>. Le dossier schema </a:t>
            </a:r>
            <a:r>
              <a:rPr lang="en-US" dirty="0" err="1"/>
              <a:t>contient</a:t>
            </a:r>
            <a:r>
              <a:rPr lang="en-US" dirty="0"/>
              <a:t> les </a:t>
            </a:r>
            <a:r>
              <a:rPr lang="en-US" dirty="0" err="1"/>
              <a:t>schémas</a:t>
            </a:r>
            <a:r>
              <a:rPr lang="en-US" dirty="0"/>
              <a:t> de validation </a:t>
            </a:r>
            <a:r>
              <a:rPr lang="en-US" dirty="0" err="1"/>
              <a:t>pydantic</a:t>
            </a:r>
            <a:r>
              <a:rPr lang="en-US" dirty="0"/>
              <a:t> sous la </a:t>
            </a:r>
            <a:r>
              <a:rPr lang="en-US" dirty="0" err="1"/>
              <a:t>forme</a:t>
            </a:r>
            <a:r>
              <a:rPr lang="en-US" dirty="0"/>
              <a:t> d’un </a:t>
            </a:r>
            <a:r>
              <a:rPr lang="en-US" dirty="0" err="1"/>
              <a:t>json</a:t>
            </a:r>
            <a:r>
              <a:rPr lang="en-US" dirty="0"/>
              <a:t> pour la verification des features </a:t>
            </a:r>
            <a:r>
              <a:rPr lang="en-US" dirty="0" err="1"/>
              <a:t>requêtées</a:t>
            </a:r>
            <a:r>
              <a:rPr lang="en-US" dirty="0"/>
              <a:t> par le client. Ensuite, un dossier outputs pour le stockage de </a:t>
            </a:r>
            <a:r>
              <a:rPr lang="en-US" dirty="0" err="1"/>
              <a:t>graphiques</a:t>
            </a:r>
            <a:r>
              <a:rPr lang="en-US" dirty="0"/>
              <a:t>, un </a:t>
            </a:r>
            <a:r>
              <a:rPr lang="en-US" dirty="0" err="1"/>
              <a:t>dokerfile</a:t>
            </a:r>
            <a:r>
              <a:rPr lang="en-US" dirty="0"/>
              <a:t> pour les instructions de </a:t>
            </a:r>
            <a:r>
              <a:rPr lang="en-US" dirty="0" err="1"/>
              <a:t>conteneurisation</a:t>
            </a:r>
            <a:r>
              <a:rPr lang="en-US" dirty="0"/>
              <a:t> et le schema de </a:t>
            </a:r>
            <a:r>
              <a:rPr lang="en-US" dirty="0" err="1"/>
              <a:t>mon</a:t>
            </a:r>
            <a:r>
              <a:rPr lang="en-US" dirty="0"/>
              <a:t> Environnement </a:t>
            </a:r>
            <a:r>
              <a:rPr lang="en-US" dirty="0" err="1"/>
              <a:t>virtuel</a:t>
            </a:r>
            <a:r>
              <a:rPr lang="en-US" dirty="0"/>
              <a:t> sous la </a:t>
            </a:r>
            <a:r>
              <a:rPr lang="en-US" dirty="0" err="1"/>
              <a:t>forme</a:t>
            </a:r>
            <a:r>
              <a:rPr lang="en-US" dirty="0"/>
              <a:t> d’un </a:t>
            </a:r>
            <a:r>
              <a:rPr lang="en-US" dirty="0" err="1"/>
              <a:t>fichier</a:t>
            </a:r>
            <a:r>
              <a:rPr lang="en-US" dirty="0"/>
              <a:t> </a:t>
            </a:r>
            <a:r>
              <a:rPr lang="en-US" dirty="0" err="1"/>
              <a:t>toml</a:t>
            </a:r>
            <a:r>
              <a:rPr lang="en-US" dirty="0"/>
              <a:t>. </a:t>
            </a:r>
            <a:r>
              <a:rPr lang="en-US" dirty="0" err="1"/>
              <a:t>J’utilize</a:t>
            </a:r>
            <a:r>
              <a:rPr lang="en-US" dirty="0"/>
              <a:t> </a:t>
            </a:r>
            <a:r>
              <a:rPr lang="en-US" dirty="0" err="1"/>
              <a:t>uv</a:t>
            </a:r>
            <a:r>
              <a:rPr lang="en-US" dirty="0"/>
              <a:t> pour </a:t>
            </a:r>
            <a:r>
              <a:rPr lang="en-US" dirty="0" err="1"/>
              <a:t>gérer</a:t>
            </a:r>
            <a:r>
              <a:rPr lang="en-US" dirty="0"/>
              <a:t> </a:t>
            </a:r>
            <a:r>
              <a:rPr lang="en-US" dirty="0" err="1"/>
              <a:t>mon</a:t>
            </a:r>
            <a:r>
              <a:rPr lang="en-US" dirty="0"/>
              <a:t> Environnement. Dans le dossier source on </a:t>
            </a:r>
            <a:r>
              <a:rPr lang="en-US" dirty="0" err="1"/>
              <a:t>retrouvera</a:t>
            </a:r>
            <a:r>
              <a:rPr lang="en-US" dirty="0"/>
              <a:t>: les scripts de </a:t>
            </a:r>
            <a:r>
              <a:rPr lang="en-US" dirty="0" err="1"/>
              <a:t>l’api</a:t>
            </a:r>
            <a:r>
              <a:rPr lang="en-US" dirty="0"/>
              <a:t>; de la gestion de la base de données; du dashboard de monitoring; le </a:t>
            </a:r>
            <a:r>
              <a:rPr lang="en-US" dirty="0" err="1"/>
              <a:t>modèle</a:t>
            </a:r>
            <a:r>
              <a:rPr lang="en-US" dirty="0"/>
              <a:t> et </a:t>
            </a:r>
            <a:r>
              <a:rPr lang="en-US" dirty="0" err="1"/>
              <a:t>ses</a:t>
            </a:r>
            <a:r>
              <a:rPr lang="en-US" dirty="0"/>
              <a:t> </a:t>
            </a:r>
            <a:r>
              <a:rPr lang="en-US" dirty="0" err="1"/>
              <a:t>utilitaires</a:t>
            </a:r>
            <a:r>
              <a:rPr lang="en-US" dirty="0"/>
              <a:t>; </a:t>
            </a:r>
            <a:r>
              <a:rPr lang="en-US" dirty="0" err="1"/>
              <a:t>plusieurs</a:t>
            </a:r>
            <a:r>
              <a:rPr lang="en-US" dirty="0"/>
              <a:t> notebook pour </a:t>
            </a:r>
            <a:r>
              <a:rPr lang="en-US" dirty="0" err="1"/>
              <a:t>l’exploration</a:t>
            </a:r>
            <a:r>
              <a:rPr lang="en-US" dirty="0"/>
              <a:t> des données, la creation de la base et le travail </a:t>
            </a:r>
            <a:r>
              <a:rPr lang="en-US" dirty="0" err="1"/>
              <a:t>d’optimization</a:t>
            </a:r>
            <a:r>
              <a:rPr lang="en-US" dirty="0"/>
              <a:t>; et pour </a:t>
            </a:r>
            <a:r>
              <a:rPr lang="en-US" dirty="0" err="1"/>
              <a:t>finir</a:t>
            </a:r>
            <a:r>
              <a:rPr lang="en-US" dirty="0"/>
              <a:t> les tests </a:t>
            </a:r>
            <a:r>
              <a:rPr lang="en-US" dirty="0" err="1"/>
              <a:t>unitaires</a:t>
            </a:r>
            <a:r>
              <a:rPr lang="en-US" dirty="0"/>
              <a:t> et </a:t>
            </a:r>
            <a:r>
              <a:rPr lang="en-US" dirty="0" err="1"/>
              <a:t>d’integration</a:t>
            </a:r>
            <a:r>
              <a:rPr lang="en-US" dirty="0"/>
              <a:t>.</a:t>
            </a:r>
          </a:p>
        </p:txBody>
      </p:sp>
      <p:sp>
        <p:nvSpPr>
          <p:cNvPr id="4" name="Espace réservé du numéro de diapositive 3"/>
          <p:cNvSpPr>
            <a:spLocks noGrp="1"/>
          </p:cNvSpPr>
          <p:nvPr>
            <p:ph type="sldNum" sz="quarter" idx="5"/>
          </p:nvPr>
        </p:nvSpPr>
        <p:spPr/>
        <p:txBody>
          <a:bodyPr/>
          <a:lstStyle/>
          <a:p>
            <a:fld id="{A3F3624B-3861-4937-8F64-3EF5A72077AD}" type="slidenum">
              <a:rPr lang="en-US" smtClean="0"/>
              <a:t>4</a:t>
            </a:fld>
            <a:endParaRPr lang="en-US"/>
          </a:p>
        </p:txBody>
      </p:sp>
    </p:spTree>
    <p:extLst>
      <p:ext uri="{BB962C8B-B14F-4D97-AF65-F5344CB8AC3E}">
        <p14:creationId xmlns:p14="http://schemas.microsoft.com/office/powerpoint/2010/main" val="39186275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Ici c’est un </a:t>
            </a:r>
            <a:r>
              <a:rPr lang="fr-FR" dirty="0" err="1"/>
              <a:t>schema</a:t>
            </a:r>
            <a:r>
              <a:rPr lang="fr-FR" dirty="0"/>
              <a:t> de mon flux de travail avec git. Il ne s’agit pas de la totalité de mon </a:t>
            </a:r>
            <a:r>
              <a:rPr lang="fr-FR" dirty="0" err="1"/>
              <a:t>schema</a:t>
            </a:r>
            <a:r>
              <a:rPr lang="fr-FR" dirty="0"/>
              <a:t> de branches  mais seulement d’une partie pour pouvoir illustrer ma méthode. Donc c’est une version simplifiée de la méthode </a:t>
            </a:r>
            <a:r>
              <a:rPr lang="fr-FR" dirty="0" err="1"/>
              <a:t>gitflow</a:t>
            </a:r>
            <a:r>
              <a:rPr lang="fr-FR" dirty="0"/>
              <a:t> avec une branche principale de développement, donc dev, de laquelle partent des branches de fonctionnalités spécifiques qui me permettent de développer c’est fonctionnalité sans risque de casser le code principal. Une fois la fonctionnalité terminée, la branche est mergée sur dev avec le contrôle de mon pipeline d’intégration continue pour assurer la qualité du code. Puis de dev, je fais des releases sur la branche de production avec une ou plusieurs nouvelles </a:t>
            </a:r>
            <a:r>
              <a:rPr lang="fr-FR" dirty="0" err="1"/>
              <a:t>features</a:t>
            </a:r>
            <a:r>
              <a:rPr lang="fr-FR" dirty="0"/>
              <a:t>. Chaque nouvelle release est taguée. A chaque poussée sur production, mon pipeline de déploiement continue publie l’application sur </a:t>
            </a:r>
            <a:r>
              <a:rPr lang="fr-FR" dirty="0" err="1"/>
              <a:t>huggingface</a:t>
            </a:r>
            <a:r>
              <a:rPr lang="fr-FR" dirty="0"/>
              <a:t> </a:t>
            </a:r>
            <a:r>
              <a:rPr lang="fr-FR" dirty="0" err="1"/>
              <a:t>spaces</a:t>
            </a:r>
            <a:r>
              <a:rPr lang="fr-FR" dirty="0"/>
              <a:t>.</a:t>
            </a:r>
          </a:p>
        </p:txBody>
      </p:sp>
      <p:sp>
        <p:nvSpPr>
          <p:cNvPr id="4" name="Espace réservé du numéro de diapositive 3"/>
          <p:cNvSpPr>
            <a:spLocks noGrp="1"/>
          </p:cNvSpPr>
          <p:nvPr>
            <p:ph type="sldNum" sz="quarter" idx="5"/>
          </p:nvPr>
        </p:nvSpPr>
        <p:spPr/>
        <p:txBody>
          <a:bodyPr/>
          <a:lstStyle/>
          <a:p>
            <a:fld id="{A3F3624B-3861-4937-8F64-3EF5A72077AD}" type="slidenum">
              <a:rPr lang="en-US" smtClean="0"/>
              <a:t>5</a:t>
            </a:fld>
            <a:endParaRPr lang="en-US"/>
          </a:p>
        </p:txBody>
      </p:sp>
    </p:spTree>
    <p:extLst>
      <p:ext uri="{BB962C8B-B14F-4D97-AF65-F5344CB8AC3E}">
        <p14:creationId xmlns:p14="http://schemas.microsoft.com/office/powerpoint/2010/main" val="3018180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282EC-A145-E460-3B34-24AB2E50FC8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10D59D5-C7F4-BFA6-404A-F686812855E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EA8D3E9-2FAB-88A6-CD29-D78E2CCB2ED4}"/>
              </a:ext>
            </a:extLst>
          </p:cNvPr>
          <p:cNvSpPr>
            <a:spLocks noGrp="1"/>
          </p:cNvSpPr>
          <p:nvPr>
            <p:ph type="body" idx="1"/>
          </p:nvPr>
        </p:nvSpPr>
        <p:spPr/>
        <p:txBody>
          <a:bodyPr/>
          <a:lstStyle/>
          <a:p>
            <a:r>
              <a:rPr lang="en-US" dirty="0" err="1"/>
              <a:t>Donc</a:t>
            </a:r>
            <a:r>
              <a:rPr lang="en-US" dirty="0"/>
              <a:t> je </a:t>
            </a:r>
            <a:r>
              <a:rPr lang="en-US" dirty="0" err="1"/>
              <a:t>vais</a:t>
            </a:r>
            <a:r>
              <a:rPr lang="en-US" dirty="0"/>
              <a:t> vous faire la demonstration du </a:t>
            </a:r>
            <a:r>
              <a:rPr lang="en-US" dirty="0" err="1"/>
              <a:t>fonctionnement</a:t>
            </a:r>
            <a:r>
              <a:rPr lang="en-US" dirty="0"/>
              <a:t> de </a:t>
            </a:r>
            <a:r>
              <a:rPr lang="en-US" dirty="0" err="1"/>
              <a:t>mon</a:t>
            </a:r>
            <a:r>
              <a:rPr lang="en-US" dirty="0"/>
              <a:t> </a:t>
            </a:r>
            <a:r>
              <a:rPr lang="en-US" dirty="0" err="1"/>
              <a:t>api</a:t>
            </a:r>
            <a:r>
              <a:rPr lang="en-US" dirty="0"/>
              <a:t> </a:t>
            </a:r>
            <a:r>
              <a:rPr lang="en-US" dirty="0" err="1"/>
              <a:t>déployée</a:t>
            </a:r>
            <a:r>
              <a:rPr lang="en-US" dirty="0"/>
              <a:t> et de </a:t>
            </a:r>
            <a:r>
              <a:rPr lang="en-US" dirty="0" err="1"/>
              <a:t>mon</a:t>
            </a:r>
            <a:r>
              <a:rPr lang="en-US" dirty="0"/>
              <a:t> pipeline de ci/cd</a:t>
            </a:r>
          </a:p>
        </p:txBody>
      </p:sp>
      <p:sp>
        <p:nvSpPr>
          <p:cNvPr id="4" name="Espace réservé du numéro de diapositive 3">
            <a:extLst>
              <a:ext uri="{FF2B5EF4-FFF2-40B4-BE49-F238E27FC236}">
                <a16:creationId xmlns:a16="http://schemas.microsoft.com/office/drawing/2014/main" id="{F06124D5-14AD-6A9F-6E6A-92497FFDF574}"/>
              </a:ext>
            </a:extLst>
          </p:cNvPr>
          <p:cNvSpPr>
            <a:spLocks noGrp="1"/>
          </p:cNvSpPr>
          <p:nvPr>
            <p:ph type="sldNum" sz="quarter" idx="5"/>
          </p:nvPr>
        </p:nvSpPr>
        <p:spPr/>
        <p:txBody>
          <a:bodyPr/>
          <a:lstStyle/>
          <a:p>
            <a:fld id="{A3F3624B-3861-4937-8F64-3EF5A72077AD}" type="slidenum">
              <a:rPr lang="en-US" smtClean="0"/>
              <a:t>6</a:t>
            </a:fld>
            <a:endParaRPr lang="en-US"/>
          </a:p>
        </p:txBody>
      </p:sp>
    </p:spTree>
    <p:extLst>
      <p:ext uri="{BB962C8B-B14F-4D97-AF65-F5344CB8AC3E}">
        <p14:creationId xmlns:p14="http://schemas.microsoft.com/office/powerpoint/2010/main" val="13387682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A6AC4-28D7-EE02-207D-4EA54FDB198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1D88ECE-EF5D-B65F-0209-99BECA0BC85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88D418B-7711-BED1-FC77-BD9A592CAF9E}"/>
              </a:ext>
            </a:extLst>
          </p:cNvPr>
          <p:cNvSpPr>
            <a:spLocks noGrp="1"/>
          </p:cNvSpPr>
          <p:nvPr>
            <p:ph type="body" idx="1"/>
          </p:nvPr>
        </p:nvSpPr>
        <p:spPr/>
        <p:txBody>
          <a:bodyPr/>
          <a:lstStyle/>
          <a:p>
            <a:r>
              <a:rPr lang="en-US" dirty="0"/>
              <a:t>Je </a:t>
            </a:r>
            <a:r>
              <a:rPr lang="en-US" dirty="0" err="1"/>
              <a:t>terminerai</a:t>
            </a:r>
            <a:r>
              <a:rPr lang="en-US" dirty="0"/>
              <a:t> avec les </a:t>
            </a:r>
            <a:r>
              <a:rPr lang="en-US" dirty="0" err="1"/>
              <a:t>résultats</a:t>
            </a:r>
            <a:r>
              <a:rPr lang="en-US" dirty="0"/>
              <a:t> du monitoring de </a:t>
            </a:r>
            <a:r>
              <a:rPr lang="en-US" dirty="0" err="1"/>
              <a:t>l’api</a:t>
            </a:r>
            <a:r>
              <a:rPr lang="en-US" dirty="0"/>
              <a:t> à </a:t>
            </a:r>
            <a:r>
              <a:rPr lang="en-US" dirty="0" err="1"/>
              <a:t>partir</a:t>
            </a:r>
            <a:r>
              <a:rPr lang="en-US" dirty="0"/>
              <a:t> de données </a:t>
            </a:r>
            <a:r>
              <a:rPr lang="en-US" dirty="0" err="1"/>
              <a:t>simulée</a:t>
            </a:r>
            <a:r>
              <a:rPr lang="en-US" dirty="0"/>
              <a:t>. </a:t>
            </a:r>
          </a:p>
        </p:txBody>
      </p:sp>
      <p:sp>
        <p:nvSpPr>
          <p:cNvPr id="4" name="Espace réservé du numéro de diapositive 3">
            <a:extLst>
              <a:ext uri="{FF2B5EF4-FFF2-40B4-BE49-F238E27FC236}">
                <a16:creationId xmlns:a16="http://schemas.microsoft.com/office/drawing/2014/main" id="{36E87100-1B64-3630-90B8-EE54CCD6A504}"/>
              </a:ext>
            </a:extLst>
          </p:cNvPr>
          <p:cNvSpPr>
            <a:spLocks noGrp="1"/>
          </p:cNvSpPr>
          <p:nvPr>
            <p:ph type="sldNum" sz="quarter" idx="5"/>
          </p:nvPr>
        </p:nvSpPr>
        <p:spPr/>
        <p:txBody>
          <a:bodyPr/>
          <a:lstStyle/>
          <a:p>
            <a:fld id="{A3F3624B-3861-4937-8F64-3EF5A72077AD}" type="slidenum">
              <a:rPr lang="en-US" smtClean="0"/>
              <a:t>7</a:t>
            </a:fld>
            <a:endParaRPr lang="en-US"/>
          </a:p>
        </p:txBody>
      </p:sp>
    </p:spTree>
    <p:extLst>
      <p:ext uri="{BB962C8B-B14F-4D97-AF65-F5344CB8AC3E}">
        <p14:creationId xmlns:p14="http://schemas.microsoft.com/office/powerpoint/2010/main" val="4000680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3F210-4B84-F453-EB15-857E6313E6F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E1CAE1B-F99F-9D99-2A45-A26A9B9397B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8FEB244-5AB3-01F8-EBFD-0CC6973E6AB9}"/>
              </a:ext>
            </a:extLst>
          </p:cNvPr>
          <p:cNvSpPr>
            <a:spLocks noGrp="1"/>
          </p:cNvSpPr>
          <p:nvPr>
            <p:ph type="body" idx="1"/>
          </p:nvPr>
        </p:nvSpPr>
        <p:spPr/>
        <p:txBody>
          <a:bodyPr/>
          <a:lstStyle/>
          <a:p>
            <a:r>
              <a:rPr lang="en-US" dirty="0"/>
              <a:t>La durée Moyenne de </a:t>
            </a:r>
            <a:r>
              <a:rPr lang="en-US" dirty="0" err="1"/>
              <a:t>mes</a:t>
            </a:r>
            <a:r>
              <a:rPr lang="en-US" dirty="0"/>
              <a:t> </a:t>
            </a:r>
            <a:r>
              <a:rPr lang="en-US" dirty="0" err="1"/>
              <a:t>requêtes</a:t>
            </a:r>
            <a:r>
              <a:rPr lang="en-US" dirty="0"/>
              <a:t> et de 31ms, don’t 71% du temps pris par </a:t>
            </a:r>
            <a:r>
              <a:rPr lang="en-US" dirty="0" err="1"/>
              <a:t>l’étape</a:t>
            </a:r>
            <a:r>
              <a:rPr lang="en-US" dirty="0"/>
              <a:t> </a:t>
            </a:r>
            <a:r>
              <a:rPr lang="en-US" dirty="0" err="1"/>
              <a:t>d’inference</a:t>
            </a:r>
            <a:r>
              <a:rPr lang="en-US" dirty="0"/>
              <a:t>. Pour identifier les </a:t>
            </a:r>
            <a:r>
              <a:rPr lang="en-US" dirty="0" err="1"/>
              <a:t>fonctions</a:t>
            </a:r>
            <a:r>
              <a:rPr lang="en-US" dirty="0"/>
              <a:t> qui font </a:t>
            </a:r>
            <a:r>
              <a:rPr lang="en-US" dirty="0" err="1"/>
              <a:t>goulots</a:t>
            </a:r>
            <a:r>
              <a:rPr lang="en-US" dirty="0"/>
              <a:t> </a:t>
            </a:r>
            <a:r>
              <a:rPr lang="en-US" dirty="0" err="1"/>
              <a:t>d’étranglement</a:t>
            </a:r>
            <a:r>
              <a:rPr lang="en-US" dirty="0"/>
              <a:t> de </a:t>
            </a:r>
            <a:r>
              <a:rPr lang="en-US" dirty="0" err="1"/>
              <a:t>mon</a:t>
            </a:r>
            <a:r>
              <a:rPr lang="en-US" dirty="0"/>
              <a:t> pipeline de </a:t>
            </a:r>
            <a:r>
              <a:rPr lang="en-US" dirty="0" err="1"/>
              <a:t>requête</a:t>
            </a:r>
            <a:r>
              <a:rPr lang="en-US" dirty="0"/>
              <a:t> </a:t>
            </a:r>
            <a:r>
              <a:rPr lang="en-US" dirty="0" err="1"/>
              <a:t>j’utilize</a:t>
            </a:r>
            <a:r>
              <a:rPr lang="en-US" dirty="0"/>
              <a:t> </a:t>
            </a:r>
            <a:r>
              <a:rPr lang="en-US" dirty="0" err="1"/>
              <a:t>cProfile</a:t>
            </a:r>
            <a:r>
              <a:rPr lang="en-US" dirty="0"/>
              <a:t>.</a:t>
            </a:r>
          </a:p>
        </p:txBody>
      </p:sp>
      <p:sp>
        <p:nvSpPr>
          <p:cNvPr id="4" name="Espace réservé du numéro de diapositive 3">
            <a:extLst>
              <a:ext uri="{FF2B5EF4-FFF2-40B4-BE49-F238E27FC236}">
                <a16:creationId xmlns:a16="http://schemas.microsoft.com/office/drawing/2014/main" id="{32CB8682-DF9A-CC7B-36D3-AC010FE16B6C}"/>
              </a:ext>
            </a:extLst>
          </p:cNvPr>
          <p:cNvSpPr>
            <a:spLocks noGrp="1"/>
          </p:cNvSpPr>
          <p:nvPr>
            <p:ph type="sldNum" sz="quarter" idx="5"/>
          </p:nvPr>
        </p:nvSpPr>
        <p:spPr/>
        <p:txBody>
          <a:bodyPr/>
          <a:lstStyle/>
          <a:p>
            <a:fld id="{A3F3624B-3861-4937-8F64-3EF5A72077AD}" type="slidenum">
              <a:rPr lang="en-US" smtClean="0"/>
              <a:t>8</a:t>
            </a:fld>
            <a:endParaRPr lang="en-US"/>
          </a:p>
        </p:txBody>
      </p:sp>
    </p:spTree>
    <p:extLst>
      <p:ext uri="{BB962C8B-B14F-4D97-AF65-F5344CB8AC3E}">
        <p14:creationId xmlns:p14="http://schemas.microsoft.com/office/powerpoint/2010/main" val="20108229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FA266-E108-62A8-1EDA-D8BD8B7B790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707F50A-85BE-6279-241D-DFB5D39CF2AF}"/>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5DA60D6-5998-FD94-94CE-CBA986BE5DDF}"/>
              </a:ext>
            </a:extLst>
          </p:cNvPr>
          <p:cNvSpPr>
            <a:spLocks noGrp="1"/>
          </p:cNvSpPr>
          <p:nvPr>
            <p:ph type="body" idx="1"/>
          </p:nvPr>
        </p:nvSpPr>
        <p:spPr/>
        <p:txBody>
          <a:bodyPr/>
          <a:lstStyle/>
          <a:p>
            <a:r>
              <a:rPr lang="en-US" dirty="0"/>
              <a:t>Ca me </a:t>
            </a:r>
            <a:r>
              <a:rPr lang="en-US" dirty="0" err="1"/>
              <a:t>permet</a:t>
            </a:r>
            <a:r>
              <a:rPr lang="en-US" dirty="0"/>
              <a:t> de </a:t>
            </a:r>
            <a:r>
              <a:rPr lang="en-US" dirty="0" err="1"/>
              <a:t>mettre</a:t>
            </a:r>
            <a:r>
              <a:rPr lang="en-US" dirty="0"/>
              <a:t> </a:t>
            </a:r>
            <a:r>
              <a:rPr lang="en-US" dirty="0" err="1"/>
              <a:t>en</a:t>
            </a:r>
            <a:r>
              <a:rPr lang="en-US" dirty="0"/>
              <a:t> evidence </a:t>
            </a:r>
            <a:r>
              <a:rPr lang="en-US" dirty="0" err="1"/>
              <a:t>que</a:t>
            </a:r>
            <a:r>
              <a:rPr lang="en-US" dirty="0"/>
              <a:t> la function qui utilize la </a:t>
            </a:r>
            <a:r>
              <a:rPr lang="en-US" dirty="0" err="1"/>
              <a:t>majorité</a:t>
            </a:r>
            <a:r>
              <a:rPr lang="en-US" dirty="0"/>
              <a:t> du temps de </a:t>
            </a:r>
            <a:r>
              <a:rPr lang="en-US" dirty="0" err="1"/>
              <a:t>requête</a:t>
            </a:r>
            <a:r>
              <a:rPr lang="en-US" dirty="0"/>
              <a:t> et ma function </a:t>
            </a:r>
            <a:r>
              <a:rPr lang="en-US" dirty="0" err="1"/>
              <a:t>d’inference</a:t>
            </a:r>
            <a:r>
              <a:rPr lang="en-US" dirty="0"/>
              <a:t> </a:t>
            </a:r>
            <a:r>
              <a:rPr lang="en-US" dirty="0" err="1"/>
              <a:t>infer_from_new_vector</a:t>
            </a:r>
            <a:r>
              <a:rPr lang="en-US" dirty="0"/>
              <a:t> au sein de </a:t>
            </a:r>
            <a:r>
              <a:rPr lang="en-US" dirty="0" err="1"/>
              <a:t>laquelle</a:t>
            </a:r>
            <a:r>
              <a:rPr lang="en-US" dirty="0"/>
              <a:t> le plus </a:t>
            </a:r>
            <a:r>
              <a:rPr lang="en-US" dirty="0" err="1"/>
              <a:t>couteux</a:t>
            </a:r>
            <a:r>
              <a:rPr lang="en-US" dirty="0"/>
              <a:t> est </a:t>
            </a:r>
            <a:r>
              <a:rPr lang="en-US" dirty="0" err="1"/>
              <a:t>en</a:t>
            </a:r>
            <a:r>
              <a:rPr lang="en-US" dirty="0"/>
              <a:t> fait la function predict de scikit learn. Il est </a:t>
            </a:r>
            <a:r>
              <a:rPr lang="en-US" dirty="0" err="1"/>
              <a:t>donc</a:t>
            </a:r>
            <a:r>
              <a:rPr lang="en-US" dirty="0"/>
              <a:t> possible </a:t>
            </a:r>
            <a:r>
              <a:rPr lang="en-US" dirty="0" err="1"/>
              <a:t>d’optimizer</a:t>
            </a:r>
            <a:r>
              <a:rPr lang="en-US" dirty="0"/>
              <a:t> le pipeline </a:t>
            </a:r>
            <a:r>
              <a:rPr lang="en-US" dirty="0" err="1"/>
              <a:t>en</a:t>
            </a:r>
            <a:r>
              <a:rPr lang="en-US" dirty="0"/>
              <a:t> transformant le </a:t>
            </a:r>
            <a:r>
              <a:rPr lang="en-US" dirty="0" err="1"/>
              <a:t>modèle</a:t>
            </a:r>
            <a:r>
              <a:rPr lang="en-US" dirty="0"/>
              <a:t>. Pour </a:t>
            </a:r>
            <a:r>
              <a:rPr lang="en-US" dirty="0" err="1"/>
              <a:t>ça</a:t>
            </a:r>
            <a:r>
              <a:rPr lang="en-US" dirty="0"/>
              <a:t>, </a:t>
            </a:r>
            <a:r>
              <a:rPr lang="en-US" dirty="0" err="1"/>
              <a:t>j’ai</a:t>
            </a:r>
            <a:r>
              <a:rPr lang="en-US" dirty="0"/>
              <a:t> </a:t>
            </a:r>
            <a:r>
              <a:rPr lang="en-US" dirty="0" err="1"/>
              <a:t>utilisé</a:t>
            </a:r>
            <a:r>
              <a:rPr lang="en-US" dirty="0"/>
              <a:t> </a:t>
            </a:r>
            <a:r>
              <a:rPr lang="en-US" dirty="0" err="1"/>
              <a:t>onnx</a:t>
            </a:r>
            <a:r>
              <a:rPr lang="en-US" dirty="0"/>
              <a:t> runtime.</a:t>
            </a:r>
          </a:p>
        </p:txBody>
      </p:sp>
      <p:sp>
        <p:nvSpPr>
          <p:cNvPr id="4" name="Espace réservé du numéro de diapositive 3">
            <a:extLst>
              <a:ext uri="{FF2B5EF4-FFF2-40B4-BE49-F238E27FC236}">
                <a16:creationId xmlns:a16="http://schemas.microsoft.com/office/drawing/2014/main" id="{8A3E5E52-DB51-B011-C68C-E1E48834DED2}"/>
              </a:ext>
            </a:extLst>
          </p:cNvPr>
          <p:cNvSpPr>
            <a:spLocks noGrp="1"/>
          </p:cNvSpPr>
          <p:nvPr>
            <p:ph type="sldNum" sz="quarter" idx="5"/>
          </p:nvPr>
        </p:nvSpPr>
        <p:spPr/>
        <p:txBody>
          <a:bodyPr/>
          <a:lstStyle/>
          <a:p>
            <a:fld id="{A3F3624B-3861-4937-8F64-3EF5A72077AD}" type="slidenum">
              <a:rPr lang="en-US" smtClean="0"/>
              <a:t>9</a:t>
            </a:fld>
            <a:endParaRPr lang="en-US"/>
          </a:p>
        </p:txBody>
      </p:sp>
    </p:spTree>
    <p:extLst>
      <p:ext uri="{BB962C8B-B14F-4D97-AF65-F5344CB8AC3E}">
        <p14:creationId xmlns:p14="http://schemas.microsoft.com/office/powerpoint/2010/main" val="4521674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2CF2A-5A16-AC72-2171-84BCFD345E8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DE35499-6B5E-DA22-71A5-9ADA33A7F59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6FF6F49-72FE-6080-898E-C01660F2099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dirty="0">
                <a:solidFill>
                  <a:schemeClr val="tx1"/>
                </a:solidFill>
                <a:effectLst/>
                <a:latin typeface="+mn-lt"/>
                <a:ea typeface="+mn-ea"/>
                <a:cs typeface="+mn-cs"/>
              </a:rPr>
              <a:t>Ce qui ma permit de gagner 42% de temps moyen de requête. Donc en refaisant le profiling on voit que c’est toujours l’inférence qui prend le plus de temps mais l’objet </a:t>
            </a:r>
            <a:r>
              <a:rPr lang="fr-FR" sz="1200" kern="1200" dirty="0" err="1">
                <a:solidFill>
                  <a:schemeClr val="tx1"/>
                </a:solidFill>
                <a:effectLst/>
                <a:latin typeface="+mn-lt"/>
                <a:ea typeface="+mn-ea"/>
                <a:cs typeface="+mn-cs"/>
              </a:rPr>
              <a:t>onnx</a:t>
            </a:r>
            <a:r>
              <a:rPr lang="fr-FR" sz="1200" kern="1200" dirty="0">
                <a:solidFill>
                  <a:schemeClr val="tx1"/>
                </a:solidFill>
                <a:effectLst/>
                <a:latin typeface="+mn-lt"/>
                <a:ea typeface="+mn-ea"/>
                <a:cs typeface="+mn-cs"/>
              </a:rPr>
              <a:t> runtime est beaucoup plus rapide que le pipeline </a:t>
            </a:r>
            <a:r>
              <a:rPr lang="fr-FR" sz="1200" kern="1200" dirty="0" err="1">
                <a:solidFill>
                  <a:schemeClr val="tx1"/>
                </a:solidFill>
                <a:effectLst/>
                <a:latin typeface="+mn-lt"/>
                <a:ea typeface="+mn-ea"/>
                <a:cs typeface="+mn-cs"/>
              </a:rPr>
              <a:t>scikit</a:t>
            </a:r>
            <a:r>
              <a:rPr lang="fr-FR" sz="1200" kern="1200" dirty="0">
                <a:solidFill>
                  <a:schemeClr val="tx1"/>
                </a:solidFill>
                <a:effectLst/>
                <a:latin typeface="+mn-lt"/>
                <a:ea typeface="+mn-ea"/>
                <a:cs typeface="+mn-cs"/>
              </a:rPr>
              <a:t> </a:t>
            </a:r>
            <a:r>
              <a:rPr lang="fr-FR" sz="1200" kern="1200" dirty="0" err="1">
                <a:solidFill>
                  <a:schemeClr val="tx1"/>
                </a:solidFill>
                <a:effectLst/>
                <a:latin typeface="+mn-lt"/>
                <a:ea typeface="+mn-ea"/>
                <a:cs typeface="+mn-cs"/>
              </a:rPr>
              <a:t>learn</a:t>
            </a:r>
            <a:r>
              <a:rPr lang="fr-FR" sz="1200" kern="1200" dirty="0">
                <a:solidFill>
                  <a:schemeClr val="tx1"/>
                </a:solidFill>
                <a:effectLst/>
                <a:latin typeface="+mn-lt"/>
                <a:ea typeface="+mn-ea"/>
                <a:cs typeface="+mn-cs"/>
              </a:rPr>
              <a:t>. </a:t>
            </a:r>
            <a:endParaRPr lang="en-US" sz="1200" kern="1200" dirty="0">
              <a:solidFill>
                <a:schemeClr val="tx1"/>
              </a:solidFill>
              <a:effectLst/>
              <a:latin typeface="+mn-lt"/>
              <a:ea typeface="+mn-ea"/>
              <a:cs typeface="+mn-cs"/>
            </a:endParaRPr>
          </a:p>
          <a:p>
            <a:endParaRPr lang="en-US" dirty="0"/>
          </a:p>
        </p:txBody>
      </p:sp>
      <p:sp>
        <p:nvSpPr>
          <p:cNvPr id="4" name="Espace réservé du numéro de diapositive 3">
            <a:extLst>
              <a:ext uri="{FF2B5EF4-FFF2-40B4-BE49-F238E27FC236}">
                <a16:creationId xmlns:a16="http://schemas.microsoft.com/office/drawing/2014/main" id="{F7EC02B4-D0F0-BEFC-E90C-80A495407D28}"/>
              </a:ext>
            </a:extLst>
          </p:cNvPr>
          <p:cNvSpPr>
            <a:spLocks noGrp="1"/>
          </p:cNvSpPr>
          <p:nvPr>
            <p:ph type="sldNum" sz="quarter" idx="5"/>
          </p:nvPr>
        </p:nvSpPr>
        <p:spPr/>
        <p:txBody>
          <a:bodyPr/>
          <a:lstStyle/>
          <a:p>
            <a:fld id="{A3F3624B-3861-4937-8F64-3EF5A72077AD}" type="slidenum">
              <a:rPr lang="en-US" smtClean="0"/>
              <a:t>10</a:t>
            </a:fld>
            <a:endParaRPr lang="en-US"/>
          </a:p>
        </p:txBody>
      </p:sp>
    </p:spTree>
    <p:extLst>
      <p:ext uri="{BB962C8B-B14F-4D97-AF65-F5344CB8AC3E}">
        <p14:creationId xmlns:p14="http://schemas.microsoft.com/office/powerpoint/2010/main" val="9228536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ECD86-C302-375F-541C-210EC53D81C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B3C846F-E495-9C77-AEC8-3D53F24CAB4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D461232-2A74-1D69-8DB1-2BE54B7C62F2}"/>
              </a:ext>
            </a:extLst>
          </p:cNvPr>
          <p:cNvSpPr>
            <a:spLocks noGrp="1"/>
          </p:cNvSpPr>
          <p:nvPr>
            <p:ph type="body" idx="1"/>
          </p:nvPr>
        </p:nvSpPr>
        <p:spPr/>
        <p:txBody>
          <a:bodyPr/>
          <a:lstStyle/>
          <a:p>
            <a:r>
              <a:rPr lang="en-US" dirty="0"/>
              <a:t>Ouverture sur la mise </a:t>
            </a:r>
            <a:r>
              <a:rPr lang="en-US" dirty="0" err="1"/>
              <a:t>en</a:t>
            </a:r>
            <a:r>
              <a:rPr lang="en-US" dirty="0"/>
              <a:t> </a:t>
            </a:r>
            <a:r>
              <a:rPr lang="en-US" dirty="0" err="1"/>
              <a:t>ligne</a:t>
            </a:r>
            <a:r>
              <a:rPr lang="en-US" dirty="0"/>
              <a:t> </a:t>
            </a:r>
            <a:r>
              <a:rPr lang="en-US" dirty="0" err="1"/>
              <a:t>d’une</a:t>
            </a:r>
            <a:r>
              <a:rPr lang="en-US" dirty="0"/>
              <a:t> base de données avec </a:t>
            </a:r>
            <a:r>
              <a:rPr lang="en-US" dirty="0" err="1"/>
              <a:t>connexion</a:t>
            </a:r>
            <a:r>
              <a:rPr lang="en-US" dirty="0"/>
              <a:t> à </a:t>
            </a:r>
            <a:r>
              <a:rPr lang="en-US" dirty="0" err="1"/>
              <a:t>l’api</a:t>
            </a:r>
            <a:r>
              <a:rPr lang="en-US" dirty="0"/>
              <a:t> </a:t>
            </a:r>
            <a:r>
              <a:rPr lang="en-US" dirty="0" err="1"/>
              <a:t>déployée</a:t>
            </a:r>
            <a:r>
              <a:rPr lang="en-US" dirty="0"/>
              <a:t> pour </a:t>
            </a:r>
            <a:r>
              <a:rPr lang="en-US" dirty="0" err="1"/>
              <a:t>pouvoir</a:t>
            </a:r>
            <a:r>
              <a:rPr lang="en-US" dirty="0"/>
              <a:t> la faire utilizer par des </a:t>
            </a:r>
            <a:r>
              <a:rPr lang="en-US" dirty="0" err="1"/>
              <a:t>personnes</a:t>
            </a:r>
            <a:r>
              <a:rPr lang="en-US" dirty="0"/>
              <a:t> externes.</a:t>
            </a:r>
          </a:p>
        </p:txBody>
      </p:sp>
      <p:sp>
        <p:nvSpPr>
          <p:cNvPr id="4" name="Espace réservé du numéro de diapositive 3">
            <a:extLst>
              <a:ext uri="{FF2B5EF4-FFF2-40B4-BE49-F238E27FC236}">
                <a16:creationId xmlns:a16="http://schemas.microsoft.com/office/drawing/2014/main" id="{D816D14E-DEAD-F47A-9926-E7567C845993}"/>
              </a:ext>
            </a:extLst>
          </p:cNvPr>
          <p:cNvSpPr>
            <a:spLocks noGrp="1"/>
          </p:cNvSpPr>
          <p:nvPr>
            <p:ph type="sldNum" sz="quarter" idx="5"/>
          </p:nvPr>
        </p:nvSpPr>
        <p:spPr/>
        <p:txBody>
          <a:bodyPr/>
          <a:lstStyle/>
          <a:p>
            <a:fld id="{A3F3624B-3861-4937-8F64-3EF5A72077AD}" type="slidenum">
              <a:rPr lang="en-US" smtClean="0"/>
              <a:t>11</a:t>
            </a:fld>
            <a:endParaRPr lang="en-US"/>
          </a:p>
        </p:txBody>
      </p:sp>
    </p:spTree>
    <p:extLst>
      <p:ext uri="{BB962C8B-B14F-4D97-AF65-F5344CB8AC3E}">
        <p14:creationId xmlns:p14="http://schemas.microsoft.com/office/powerpoint/2010/main" val="155852504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680322" y="2733709"/>
            <a:ext cx="8144134" cy="1373070"/>
          </a:xfrm>
        </p:spPr>
        <p:txBody>
          <a:bodyPr anchor="b">
            <a:noAutofit/>
          </a:bodyPr>
          <a:lstStyle>
            <a:lvl1pPr algn="r">
              <a:defRPr sz="5400"/>
            </a:lvl1pPr>
          </a:lstStyle>
          <a:p>
            <a:r>
              <a:rPr lang="fr-FR"/>
              <a:t>Modifiez le style du titre</a:t>
            </a:r>
            <a:endParaRPr lang="en-US" dirty="0"/>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D1F3894F-03A6-4760-8AFF-8C8908CB964C}" type="datetimeFigureOut">
              <a:rPr lang="en-US" smtClean="0"/>
              <a:t>8/22/2026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255346" y="2750337"/>
            <a:ext cx="1171888" cy="1356442"/>
          </a:xfr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41324385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D1F3894F-03A6-4760-8AFF-8C8908CB964C}" type="datetimeFigureOut">
              <a:rPr lang="en-US" smtClean="0"/>
              <a:t>8/22/2026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22045382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fr-FR"/>
              <a:t>Modifiez le style du titre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D1F3894F-03A6-4760-8AFF-8C8908CB964C}" type="datetimeFigureOut">
              <a:rPr lang="en-US" smtClean="0"/>
              <a:t>8/22/2026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729455" y="2869895"/>
            <a:ext cx="1154151" cy="1090789"/>
          </a:xfrm>
        </p:spPr>
        <p:txBody>
          <a:bodyPr/>
          <a:lstStyle/>
          <a:p>
            <a:fld id="{DD68962E-EF79-4265-AC71-696A4F49210D}" type="slidenum">
              <a:rPr lang="en-US" smtClean="0"/>
              <a:t>‹#›</a:t>
            </a:fld>
            <a:endParaRPr lang="en-US" dirty="0"/>
          </a:p>
        </p:txBody>
      </p:sp>
    </p:spTree>
    <p:extLst>
      <p:ext uri="{BB962C8B-B14F-4D97-AF65-F5344CB8AC3E}">
        <p14:creationId xmlns:p14="http://schemas.microsoft.com/office/powerpoint/2010/main" val="36111699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D1F3894F-03A6-4760-8AFF-8C8908CB964C}" type="datetimeFigureOut">
              <a:rPr lang="en-US" smtClean="0"/>
              <a:t>8/22/2026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D68962E-EF79-4265-AC71-696A4F49210D}" type="slidenum">
              <a:rPr lang="en-US" smtClean="0"/>
              <a:t>‹#›</a:t>
            </a:fld>
            <a:endParaRPr lang="en-US"/>
          </a:p>
        </p:txBody>
      </p:sp>
      <p:sp>
        <p:nvSpPr>
          <p:cNvPr id="12" name="Freeform 11">
            <a:extLst>
              <a:ext uri="{FF2B5EF4-FFF2-40B4-BE49-F238E27FC236}">
                <a16:creationId xmlns:a16="http://schemas.microsoft.com/office/drawing/2014/main" id="{982B277A-E1C9-DF4B-68C0-55E883243023}"/>
              </a:ext>
            </a:extLst>
          </p:cNvPr>
          <p:cNvSpPr/>
          <p:nvPr userDrawn="1"/>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Tree>
    <p:extLst>
      <p:ext uri="{BB962C8B-B14F-4D97-AF65-F5344CB8AC3E}">
        <p14:creationId xmlns:p14="http://schemas.microsoft.com/office/powerpoint/2010/main" val="5927086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fr-FR"/>
              <a:t>Modifiez le style du titre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680322" y="3030008"/>
            <a:ext cx="4698355" cy="290617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5594123" y="3030008"/>
            <a:ext cx="4700059" cy="290617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D1F3894F-03A6-4760-8AFF-8C8908CB964C}" type="datetimeFigureOut">
              <a:rPr lang="en-US" smtClean="0"/>
              <a:t>8/22/2026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D68962E-EF79-4265-AC71-696A4F49210D}" type="slidenum">
              <a:rPr lang="en-US" smtClean="0"/>
              <a:t>‹#›</a:t>
            </a:fld>
            <a:endParaRPr lang="en-US"/>
          </a:p>
        </p:txBody>
      </p:sp>
      <p:sp>
        <p:nvSpPr>
          <p:cNvPr id="14" name="Freeform 11">
            <a:extLst>
              <a:ext uri="{FF2B5EF4-FFF2-40B4-BE49-F238E27FC236}">
                <a16:creationId xmlns:a16="http://schemas.microsoft.com/office/drawing/2014/main" id="{4B03C7BF-47AD-8B50-B045-B545FB14FA3F}"/>
              </a:ext>
            </a:extLst>
          </p:cNvPr>
          <p:cNvSpPr/>
          <p:nvPr userDrawn="1"/>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Tree>
    <p:extLst>
      <p:ext uri="{BB962C8B-B14F-4D97-AF65-F5344CB8AC3E}">
        <p14:creationId xmlns:p14="http://schemas.microsoft.com/office/powerpoint/2010/main" val="34656895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D1F3894F-03A6-4760-8AFF-8C8908CB964C}" type="datetimeFigureOut">
              <a:rPr lang="en-US" smtClean="0"/>
              <a:t>8/22/2026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D68962E-EF79-4265-AC71-696A4F49210D}" type="slidenum">
              <a:rPr lang="en-US" smtClean="0"/>
              <a:t>‹#›</a:t>
            </a:fld>
            <a:endParaRPr lang="en-US"/>
          </a:p>
        </p:txBody>
      </p:sp>
      <p:sp>
        <p:nvSpPr>
          <p:cNvPr id="10" name="Freeform 11">
            <a:extLst>
              <a:ext uri="{FF2B5EF4-FFF2-40B4-BE49-F238E27FC236}">
                <a16:creationId xmlns:a16="http://schemas.microsoft.com/office/drawing/2014/main" id="{C07A5595-4F9E-9DFA-7B8E-BD1E75138E8E}"/>
              </a:ext>
            </a:extLst>
          </p:cNvPr>
          <p:cNvSpPr/>
          <p:nvPr userDrawn="1"/>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Tree>
    <p:extLst>
      <p:ext uri="{BB962C8B-B14F-4D97-AF65-F5344CB8AC3E}">
        <p14:creationId xmlns:p14="http://schemas.microsoft.com/office/powerpoint/2010/main" val="14198417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D1F3894F-03A6-4760-8AFF-8C8908CB964C}" type="datetimeFigureOut">
              <a:rPr lang="en-US" smtClean="0"/>
              <a:t>8/22/2026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D68962E-EF79-4265-AC71-696A4F49210D}" type="slidenum">
              <a:rPr lang="en-US" smtClean="0"/>
              <a:t>‹#›</a:t>
            </a:fld>
            <a:endParaRPr lang="en-US"/>
          </a:p>
        </p:txBody>
      </p:sp>
      <p:sp>
        <p:nvSpPr>
          <p:cNvPr id="7" name="Freeform 11">
            <a:extLst>
              <a:ext uri="{FF2B5EF4-FFF2-40B4-BE49-F238E27FC236}">
                <a16:creationId xmlns:a16="http://schemas.microsoft.com/office/drawing/2014/main" id="{2A5EC09A-6B7F-F2F7-3A53-60B130660E87}"/>
              </a:ext>
            </a:extLst>
          </p:cNvPr>
          <p:cNvSpPr/>
          <p:nvPr userDrawn="1"/>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Tree>
    <p:extLst>
      <p:ext uri="{BB962C8B-B14F-4D97-AF65-F5344CB8AC3E}">
        <p14:creationId xmlns:p14="http://schemas.microsoft.com/office/powerpoint/2010/main" val="12103222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fr-FR"/>
              <a:t>Modifiez le style du titre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D1F3894F-03A6-4760-8AFF-8C8908CB964C}" type="datetimeFigureOut">
              <a:rPr lang="en-US" smtClean="0"/>
              <a:t>8/22/2026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D68962E-EF79-4265-AC71-696A4F49210D}" type="slidenum">
              <a:rPr lang="en-US" smtClean="0"/>
              <a:t>‹#›</a:t>
            </a:fld>
            <a:endParaRPr lang="en-US"/>
          </a:p>
        </p:txBody>
      </p:sp>
    </p:spTree>
    <p:extLst>
      <p:ext uri="{BB962C8B-B14F-4D97-AF65-F5344CB8AC3E}">
        <p14:creationId xmlns:p14="http://schemas.microsoft.com/office/powerpoint/2010/main" val="29463432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fr-FR"/>
              <a:t>Modifiez le style du titre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D1F3894F-03A6-4760-8AFF-8C8908CB964C}" type="datetimeFigureOut">
              <a:rPr lang="en-US" smtClean="0"/>
              <a:t>8/22/2026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D68962E-EF79-4265-AC71-696A4F49210D}" type="slidenum">
              <a:rPr lang="en-US" smtClean="0"/>
              <a:t>‹#›</a:t>
            </a:fld>
            <a:endParaRPr lang="en-US"/>
          </a:p>
        </p:txBody>
      </p:sp>
    </p:spTree>
    <p:extLst>
      <p:ext uri="{BB962C8B-B14F-4D97-AF65-F5344CB8AC3E}">
        <p14:creationId xmlns:p14="http://schemas.microsoft.com/office/powerpoint/2010/main" val="8119575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fr-FR"/>
              <a:t>Modifiez le style du titre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D1F3894F-03A6-4760-8AFF-8C8908CB964C}" type="datetimeFigureOut">
              <a:rPr lang="en-US" smtClean="0"/>
              <a:t>8/22/2026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11309"/>
            <a:ext cx="1154151" cy="1090789"/>
          </a:xfrm>
        </p:spPr>
        <p:txBody>
          <a:bodyPr/>
          <a:lstStyle/>
          <a:p>
            <a:fld id="{DD68962E-EF79-4265-AC71-696A4F49210D}" type="slidenum">
              <a:rPr lang="en-US" smtClean="0"/>
              <a:t>‹#›</a:t>
            </a:fld>
            <a:endParaRPr lang="en-US" dirty="0"/>
          </a:p>
        </p:txBody>
      </p:sp>
    </p:spTree>
    <p:extLst>
      <p:ext uri="{BB962C8B-B14F-4D97-AF65-F5344CB8AC3E}">
        <p14:creationId xmlns:p14="http://schemas.microsoft.com/office/powerpoint/2010/main" val="8753634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re et légende">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fr-FR"/>
              <a:t>Modifiez le style du titre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D1F3894F-03A6-4760-8AFF-8C8908CB964C}" type="datetimeFigureOut">
              <a:rPr lang="en-US" smtClean="0"/>
              <a:t>8/22/2026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11615"/>
            <a:ext cx="1154151" cy="1090789"/>
          </a:xfrm>
        </p:spPr>
        <p:txBody>
          <a:bodyPr/>
          <a:lstStyle/>
          <a:p>
            <a:fld id="{DD68962E-EF79-4265-AC71-696A4F49210D}" type="slidenum">
              <a:rPr lang="en-US" smtClean="0"/>
              <a:t>‹#›</a:t>
            </a:fld>
            <a:endParaRPr lang="en-US" dirty="0"/>
          </a:p>
        </p:txBody>
      </p:sp>
    </p:spTree>
    <p:extLst>
      <p:ext uri="{BB962C8B-B14F-4D97-AF65-F5344CB8AC3E}">
        <p14:creationId xmlns:p14="http://schemas.microsoft.com/office/powerpoint/2010/main" val="16873388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tion avec légende">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fr-FR"/>
              <a:t>Modifiez le style du titre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D1F3894F-03A6-4760-8AFF-8C8908CB964C}" type="datetimeFigureOut">
              <a:rPr lang="en-US" smtClean="0"/>
              <a:t>8/22/2026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09925"/>
            <a:ext cx="1154151" cy="1090789"/>
          </a:xfrm>
        </p:spPr>
        <p:txBody>
          <a:bodyPr/>
          <a:lstStyle/>
          <a:p>
            <a:fld id="{DD68962E-EF79-4265-AC71-696A4F49210D}" type="slidenum">
              <a:rPr lang="en-US" smtClean="0"/>
              <a:t>‹#›</a:t>
            </a:fld>
            <a:endParaRPr lang="en-US" dirty="0"/>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extLst>
      <p:ext uri="{BB962C8B-B14F-4D97-AF65-F5344CB8AC3E}">
        <p14:creationId xmlns:p14="http://schemas.microsoft.com/office/powerpoint/2010/main" val="40430275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arte nom">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fr-FR"/>
              <a:t>Modifiez le style du titre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D1F3894F-03A6-4760-8AFF-8C8908CB964C}" type="datetimeFigureOut">
              <a:rPr lang="en-US" smtClean="0"/>
              <a:t>8/22/2026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09925"/>
            <a:ext cx="1154151" cy="1090789"/>
          </a:xfrm>
        </p:spPr>
        <p:txBody>
          <a:bodyPr/>
          <a:lstStyle/>
          <a:p>
            <a:fld id="{DD68962E-EF79-4265-AC71-696A4F49210D}" type="slidenum">
              <a:rPr lang="en-US" smtClean="0"/>
              <a:t>‹#›</a:t>
            </a:fld>
            <a:endParaRPr lang="en-US"/>
          </a:p>
        </p:txBody>
      </p:sp>
    </p:spTree>
    <p:extLst>
      <p:ext uri="{BB962C8B-B14F-4D97-AF65-F5344CB8AC3E}">
        <p14:creationId xmlns:p14="http://schemas.microsoft.com/office/powerpoint/2010/main" val="290301870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s">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fr-FR"/>
              <a:t>Modifiez le style du titre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3" name="Date Placeholder 2"/>
          <p:cNvSpPr>
            <a:spLocks noGrp="1"/>
          </p:cNvSpPr>
          <p:nvPr>
            <p:ph type="dt" sz="half" idx="10"/>
          </p:nvPr>
        </p:nvSpPr>
        <p:spPr/>
        <p:txBody>
          <a:bodyPr/>
          <a:lstStyle/>
          <a:p>
            <a:fld id="{D1F3894F-03A6-4760-8AFF-8C8908CB964C}" type="datetimeFigureOut">
              <a:rPr lang="en-US" smtClean="0"/>
              <a:t>8/22/2026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D68962E-EF79-4265-AC71-696A4F49210D}" type="slidenum">
              <a:rPr lang="en-US" smtClean="0"/>
              <a:t>‹#›</a:t>
            </a:fld>
            <a:endParaRPr lang="en-US" dirty="0"/>
          </a:p>
        </p:txBody>
      </p:sp>
    </p:spTree>
    <p:extLst>
      <p:ext uri="{BB962C8B-B14F-4D97-AF65-F5344CB8AC3E}">
        <p14:creationId xmlns:p14="http://schemas.microsoft.com/office/powerpoint/2010/main" val="29243558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s d’image">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fr-FR"/>
              <a:t>Modifiez le style du titre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3" name="Date Placeholder 2"/>
          <p:cNvSpPr>
            <a:spLocks noGrp="1"/>
          </p:cNvSpPr>
          <p:nvPr>
            <p:ph type="dt" sz="half" idx="10"/>
          </p:nvPr>
        </p:nvSpPr>
        <p:spPr/>
        <p:txBody>
          <a:bodyPr/>
          <a:lstStyle/>
          <a:p>
            <a:fld id="{D1F3894F-03A6-4760-8AFF-8C8908CB964C}" type="datetimeFigureOut">
              <a:rPr lang="en-US" smtClean="0"/>
              <a:t>8/22/2026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D68962E-EF79-4265-AC71-696A4F49210D}" type="slidenum">
              <a:rPr lang="en-US" smtClean="0"/>
              <a:t>‹#›</a:t>
            </a:fld>
            <a:endParaRPr lang="en-US" dirty="0"/>
          </a:p>
        </p:txBody>
      </p:sp>
    </p:spTree>
    <p:extLst>
      <p:ext uri="{BB962C8B-B14F-4D97-AF65-F5344CB8AC3E}">
        <p14:creationId xmlns:p14="http://schemas.microsoft.com/office/powerpoint/2010/main" val="19276231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D1F3894F-03A6-4760-8AFF-8C8908CB964C}" type="datetimeFigureOut">
              <a:rPr lang="en-US" smtClean="0"/>
              <a:t>8/22/2026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D68962E-EF79-4265-AC71-696A4F49210D}" type="slidenum">
              <a:rPr lang="en-US" smtClean="0"/>
              <a:t>‹#›</a:t>
            </a:fld>
            <a:endParaRPr lang="en-US"/>
          </a:p>
        </p:txBody>
      </p:sp>
    </p:spTree>
    <p:extLst>
      <p:ext uri="{BB962C8B-B14F-4D97-AF65-F5344CB8AC3E}">
        <p14:creationId xmlns:p14="http://schemas.microsoft.com/office/powerpoint/2010/main" val="35615223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D1F3894F-03A6-4760-8AFF-8C8908CB964C}" type="datetimeFigureOut">
              <a:rPr lang="en-US" smtClean="0"/>
              <a:t>8/22/2026</a:t>
            </a:fld>
            <a:endParaRPr lang="en-US"/>
          </a:p>
        </p:txBody>
      </p:sp>
      <p:sp>
        <p:nvSpPr>
          <p:cNvPr id="5" name="Footer Placeholder 4"/>
          <p:cNvSpPr>
            <a:spLocks noGrp="1"/>
          </p:cNvSpPr>
          <p:nvPr>
            <p:ph type="ftr" sz="quarter" idx="11"/>
          </p:nvPr>
        </p:nvSpPr>
        <p:spPr>
          <a:xfrm>
            <a:off x="680321" y="5936188"/>
            <a:ext cx="6126805" cy="365125"/>
          </a:xfrm>
        </p:spPr>
        <p:txBody>
          <a:bodyPr/>
          <a:lstStyle/>
          <a:p>
            <a:endParaRPr lang="en-US"/>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DD68962E-EF79-4265-AC71-696A4F49210D}" type="slidenum">
              <a:rPr lang="en-US" smtClean="0"/>
              <a:t>‹#›</a:t>
            </a:fld>
            <a:endParaRPr lang="en-US"/>
          </a:p>
        </p:txBody>
      </p:sp>
    </p:spTree>
    <p:extLst>
      <p:ext uri="{BB962C8B-B14F-4D97-AF65-F5344CB8AC3E}">
        <p14:creationId xmlns:p14="http://schemas.microsoft.com/office/powerpoint/2010/main" val="40016936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fr-FR" dirty="0"/>
              <a:t>Modifiez le style du titre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D1F3894F-03A6-4760-8AFF-8C8908CB964C}" type="datetimeFigureOut">
              <a:rPr lang="en-US" smtClean="0"/>
              <a:t>8/22/2026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1161555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20">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D1F3894F-03A6-4760-8AFF-8C8908CB964C}" type="datetimeFigureOut">
              <a:rPr lang="en-US" smtClean="0"/>
              <a:t>8/22/2026</a:t>
            </a:fld>
            <a:endParaRPr lang="en-US"/>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DD68962E-EF79-4265-AC71-696A4F49210D}" type="slidenum">
              <a:rPr lang="en-US" smtClean="0"/>
              <a:t>‹#›</a:t>
            </a:fld>
            <a:endParaRPr lang="en-US" dirty="0"/>
          </a:p>
        </p:txBody>
      </p:sp>
    </p:spTree>
    <p:extLst>
      <p:ext uri="{BB962C8B-B14F-4D97-AF65-F5344CB8AC3E}">
        <p14:creationId xmlns:p14="http://schemas.microsoft.com/office/powerpoint/2010/main" val="3983356040"/>
      </p:ext>
    </p:extLst>
  </p:cSld>
  <p:clrMap bg1="dk1" tx1="lt1" bg2="dk2" tx2="lt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 id="2147483694" r:id="rId17"/>
    <p:sldLayoutId id="2147483662" r:id="rId18"/>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ZoneTexte 3">
            <a:extLst>
              <a:ext uri="{FF2B5EF4-FFF2-40B4-BE49-F238E27FC236}">
                <a16:creationId xmlns:a16="http://schemas.microsoft.com/office/drawing/2014/main" id="{18CF6236-BAED-3295-151C-29122E2AB3D6}"/>
              </a:ext>
            </a:extLst>
          </p:cNvPr>
          <p:cNvSpPr txBox="1"/>
          <p:nvPr/>
        </p:nvSpPr>
        <p:spPr>
          <a:xfrm>
            <a:off x="449325" y="2767280"/>
            <a:ext cx="8436925" cy="1323439"/>
          </a:xfrm>
          <a:prstGeom prst="rect">
            <a:avLst/>
          </a:prstGeom>
          <a:noFill/>
        </p:spPr>
        <p:txBody>
          <a:bodyPr wrap="none" rtlCol="0">
            <a:spAutoFit/>
          </a:bodyPr>
          <a:lstStyle/>
          <a:p>
            <a:r>
              <a:rPr lang="fr-FR" sz="4000" noProof="0" dirty="0">
                <a:latin typeface="Eras Demi ITC" panose="020B0805030504020804" pitchFamily="34" charset="0"/>
              </a:rPr>
              <a:t>Projet 8 : </a:t>
            </a:r>
            <a:r>
              <a:rPr lang="fr-FR" sz="4000" noProof="0" dirty="0">
                <a:latin typeface="Eras Light ITC" panose="020B0402030504020804" pitchFamily="34" charset="0"/>
              </a:rPr>
              <a:t>Confirmez vos compétence</a:t>
            </a:r>
            <a:r>
              <a:rPr lang="fr-FR" sz="4000" dirty="0">
                <a:latin typeface="Eras Light ITC" panose="020B0402030504020804" pitchFamily="34" charset="0"/>
              </a:rPr>
              <a:t>s</a:t>
            </a:r>
            <a:br>
              <a:rPr lang="fr-FR" sz="4000" noProof="0" dirty="0">
                <a:latin typeface="Eras Light ITC" panose="020B0402030504020804" pitchFamily="34" charset="0"/>
              </a:rPr>
            </a:br>
            <a:r>
              <a:rPr lang="fr-FR" sz="4000" noProof="0" dirty="0">
                <a:latin typeface="Eras Light ITC" panose="020B0402030504020804" pitchFamily="34" charset="0"/>
              </a:rPr>
              <a:t>en </a:t>
            </a:r>
            <a:r>
              <a:rPr lang="fr-FR" sz="4000" noProof="0" dirty="0" err="1">
                <a:latin typeface="Eras Light ITC" panose="020B0402030504020804" pitchFamily="34" charset="0"/>
              </a:rPr>
              <a:t>MLOps</a:t>
            </a:r>
            <a:endParaRPr lang="fr-FR" sz="4000" noProof="0" dirty="0">
              <a:latin typeface="Eras Bold ITC" panose="020B0907030504020204" pitchFamily="34" charset="0"/>
            </a:endParaRPr>
          </a:p>
        </p:txBody>
      </p:sp>
      <p:grpSp>
        <p:nvGrpSpPr>
          <p:cNvPr id="8" name="Groupe 7">
            <a:extLst>
              <a:ext uri="{FF2B5EF4-FFF2-40B4-BE49-F238E27FC236}">
                <a16:creationId xmlns:a16="http://schemas.microsoft.com/office/drawing/2014/main" id="{BC06D275-A421-672F-9A19-2F79B3DCF016}"/>
              </a:ext>
            </a:extLst>
          </p:cNvPr>
          <p:cNvGrpSpPr/>
          <p:nvPr/>
        </p:nvGrpSpPr>
        <p:grpSpPr>
          <a:xfrm>
            <a:off x="368936" y="2862737"/>
            <a:ext cx="7184571" cy="1192811"/>
            <a:chOff x="4250453" y="1341454"/>
            <a:chExt cx="7184571" cy="1192811"/>
          </a:xfrm>
        </p:grpSpPr>
        <p:cxnSp>
          <p:nvCxnSpPr>
            <p:cNvPr id="3" name="Connecteur droit 2">
              <a:extLst>
                <a:ext uri="{FF2B5EF4-FFF2-40B4-BE49-F238E27FC236}">
                  <a16:creationId xmlns:a16="http://schemas.microsoft.com/office/drawing/2014/main" id="{40657F70-B0B7-ECE1-0085-F78FECFEA79E}"/>
                </a:ext>
              </a:extLst>
            </p:cNvPr>
            <p:cNvCxnSpPr/>
            <p:nvPr/>
          </p:nvCxnSpPr>
          <p:spPr>
            <a:xfrm>
              <a:off x="4250453" y="1341454"/>
              <a:ext cx="0" cy="119281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5" name="Connecteur droit 4">
              <a:extLst>
                <a:ext uri="{FF2B5EF4-FFF2-40B4-BE49-F238E27FC236}">
                  <a16:creationId xmlns:a16="http://schemas.microsoft.com/office/drawing/2014/main" id="{E9B0BC0E-FD05-566B-7232-994C53136326}"/>
                </a:ext>
              </a:extLst>
            </p:cNvPr>
            <p:cNvCxnSpPr>
              <a:cxnSpLocks/>
            </p:cNvCxnSpPr>
            <p:nvPr/>
          </p:nvCxnSpPr>
          <p:spPr>
            <a:xfrm>
              <a:off x="4252129" y="2534265"/>
              <a:ext cx="7182895" cy="0"/>
            </a:xfrm>
            <a:prstGeom prst="line">
              <a:avLst/>
            </a:prstGeom>
            <a:ln w="19050"/>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782112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346F0-F1B5-4CE1-F07D-BBA9A5894051}"/>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8C655703-BF14-801F-5143-7ADE3616C370}"/>
              </a:ext>
            </a:extLst>
          </p:cNvPr>
          <p:cNvSpPr txBox="1"/>
          <p:nvPr/>
        </p:nvSpPr>
        <p:spPr>
          <a:xfrm>
            <a:off x="171770" y="916024"/>
            <a:ext cx="5758308" cy="707886"/>
          </a:xfrm>
          <a:prstGeom prst="rect">
            <a:avLst/>
          </a:prstGeom>
          <a:noFill/>
        </p:spPr>
        <p:txBody>
          <a:bodyPr wrap="none" rtlCol="0">
            <a:spAutoFit/>
          </a:bodyPr>
          <a:lstStyle/>
          <a:p>
            <a:r>
              <a:rPr lang="fr-FR" sz="4000" noProof="0" dirty="0">
                <a:latin typeface="Eras Demi ITC" panose="020B0805030504020804" pitchFamily="34" charset="0"/>
              </a:rPr>
              <a:t>Plan de la présentation</a:t>
            </a:r>
          </a:p>
        </p:txBody>
      </p:sp>
      <p:grpSp>
        <p:nvGrpSpPr>
          <p:cNvPr id="17" name="Groupe 16">
            <a:extLst>
              <a:ext uri="{FF2B5EF4-FFF2-40B4-BE49-F238E27FC236}">
                <a16:creationId xmlns:a16="http://schemas.microsoft.com/office/drawing/2014/main" id="{86DCB13D-B8CB-CC5D-4F28-3D5BFEDE488A}"/>
              </a:ext>
            </a:extLst>
          </p:cNvPr>
          <p:cNvGrpSpPr/>
          <p:nvPr/>
        </p:nvGrpSpPr>
        <p:grpSpPr>
          <a:xfrm>
            <a:off x="803098" y="2342826"/>
            <a:ext cx="11388901" cy="3749178"/>
            <a:chOff x="518893" y="2507925"/>
            <a:chExt cx="11388901" cy="4510698"/>
          </a:xfrm>
        </p:grpSpPr>
        <p:sp>
          <p:nvSpPr>
            <p:cNvPr id="3" name="ZoneTexte 2">
              <a:extLst>
                <a:ext uri="{FF2B5EF4-FFF2-40B4-BE49-F238E27FC236}">
                  <a16:creationId xmlns:a16="http://schemas.microsoft.com/office/drawing/2014/main" id="{C6B6A1D4-D551-6FD5-6DF1-83413D0C2D6B}"/>
                </a:ext>
              </a:extLst>
            </p:cNvPr>
            <p:cNvSpPr txBox="1"/>
            <p:nvPr/>
          </p:nvSpPr>
          <p:spPr>
            <a:xfrm>
              <a:off x="674169" y="2507925"/>
              <a:ext cx="11233625" cy="4459847"/>
            </a:xfrm>
            <a:prstGeom prst="rect">
              <a:avLst/>
            </a:prstGeom>
            <a:noFill/>
          </p:spPr>
          <p:txBody>
            <a:bodyPr wrap="square">
              <a:spAutoFit/>
            </a:bodyPr>
            <a:lstStyle/>
            <a:p>
              <a:pPr marL="571500" indent="-571500">
                <a:lnSpc>
                  <a:spcPct val="150000"/>
                </a:lnSpc>
                <a:buAutoNum type="romanUcPeriod"/>
              </a:pPr>
              <a:r>
                <a:rPr lang="fr-FR" sz="3200" noProof="0" dirty="0">
                  <a:latin typeface="Eras Light ITC" panose="020B0402030504020804" pitchFamily="34" charset="0"/>
                </a:rPr>
                <a:t>Contexte métier</a:t>
              </a:r>
            </a:p>
            <a:p>
              <a:pPr marL="571500" indent="-571500">
                <a:lnSpc>
                  <a:spcPct val="150000"/>
                </a:lnSpc>
                <a:buFontTx/>
                <a:buAutoNum type="romanUcPeriod"/>
              </a:pPr>
              <a:r>
                <a:rPr lang="fr-FR" sz="3200" dirty="0">
                  <a:latin typeface="Eras Light ITC" panose="020B0402030504020804" pitchFamily="34" charset="0"/>
                </a:rPr>
                <a:t>Structure du dépôt</a:t>
              </a:r>
            </a:p>
            <a:p>
              <a:pPr marL="571500" indent="-571500">
                <a:lnSpc>
                  <a:spcPct val="150000"/>
                </a:lnSpc>
                <a:buFontTx/>
                <a:buAutoNum type="romanUcPeriod"/>
              </a:pPr>
              <a:r>
                <a:rPr lang="fr-FR" sz="3200" dirty="0">
                  <a:latin typeface="Eras Light ITC" panose="020B0402030504020804" pitchFamily="34" charset="0"/>
                </a:rPr>
                <a:t>Démonstration du fonctionnement du pipeline de CI/CD </a:t>
              </a:r>
              <a:br>
                <a:rPr lang="fr-FR" sz="3200" dirty="0">
                  <a:latin typeface="Eras Light ITC" panose="020B0402030504020804" pitchFamily="34" charset="0"/>
                </a:rPr>
              </a:br>
              <a:r>
                <a:rPr lang="fr-FR" sz="3200" dirty="0">
                  <a:latin typeface="Eras Light ITC" panose="020B0402030504020804" pitchFamily="34" charset="0"/>
                </a:rPr>
                <a:t>et de l’API déployée</a:t>
              </a:r>
            </a:p>
            <a:p>
              <a:pPr marL="571500" indent="-571500">
                <a:lnSpc>
                  <a:spcPct val="150000"/>
                </a:lnSpc>
                <a:buFontTx/>
                <a:buAutoNum type="romanUcPeriod"/>
              </a:pPr>
              <a:r>
                <a:rPr lang="fr-FR" sz="3200" dirty="0">
                  <a:latin typeface="Eras Light ITC" panose="020B0402030504020804" pitchFamily="34" charset="0"/>
                </a:rPr>
                <a:t>Résultats du monitoring et optimisation</a:t>
              </a:r>
            </a:p>
          </p:txBody>
        </p:sp>
        <p:grpSp>
          <p:nvGrpSpPr>
            <p:cNvPr id="6" name="Groupe 5">
              <a:extLst>
                <a:ext uri="{FF2B5EF4-FFF2-40B4-BE49-F238E27FC236}">
                  <a16:creationId xmlns:a16="http://schemas.microsoft.com/office/drawing/2014/main" id="{D57693ED-FC97-604C-54B1-73CD674F2D20}"/>
                </a:ext>
              </a:extLst>
            </p:cNvPr>
            <p:cNvGrpSpPr/>
            <p:nvPr/>
          </p:nvGrpSpPr>
          <p:grpSpPr>
            <a:xfrm>
              <a:off x="518893" y="2767915"/>
              <a:ext cx="7182895" cy="4250708"/>
              <a:chOff x="4252129" y="1444848"/>
              <a:chExt cx="7182895" cy="1381564"/>
            </a:xfrm>
          </p:grpSpPr>
          <p:cxnSp>
            <p:nvCxnSpPr>
              <p:cNvPr id="7" name="Connecteur droit 6">
                <a:extLst>
                  <a:ext uri="{FF2B5EF4-FFF2-40B4-BE49-F238E27FC236}">
                    <a16:creationId xmlns:a16="http://schemas.microsoft.com/office/drawing/2014/main" id="{D09DB2F8-F85B-298D-6676-60C39C3E4F9C}"/>
                  </a:ext>
                </a:extLst>
              </p:cNvPr>
              <p:cNvCxnSpPr>
                <a:cxnSpLocks/>
              </p:cNvCxnSpPr>
              <p:nvPr/>
            </p:nvCxnSpPr>
            <p:spPr>
              <a:xfrm>
                <a:off x="4252129" y="1444848"/>
                <a:ext cx="0" cy="138156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B1B023AC-2E4E-C3CB-C537-2EF36F52D2D4}"/>
                  </a:ext>
                </a:extLst>
              </p:cNvPr>
              <p:cNvCxnSpPr>
                <a:cxnSpLocks/>
              </p:cNvCxnSpPr>
              <p:nvPr/>
            </p:nvCxnSpPr>
            <p:spPr>
              <a:xfrm>
                <a:off x="4252129" y="2826412"/>
                <a:ext cx="7182895" cy="0"/>
              </a:xfrm>
              <a:prstGeom prst="line">
                <a:avLst/>
              </a:prstGeom>
              <a:ln w="19050"/>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933145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678B7-F5D3-F92C-F6DF-1AE6B3F3B8E4}"/>
            </a:ext>
          </a:extLst>
        </p:cNvPr>
        <p:cNvGrpSpPr/>
        <p:nvPr/>
      </p:nvGrpSpPr>
      <p:grpSpPr>
        <a:xfrm>
          <a:off x="0" y="0"/>
          <a:ext cx="0" cy="0"/>
          <a:chOff x="0" y="0"/>
          <a:chExt cx="0" cy="0"/>
        </a:xfrm>
      </p:grpSpPr>
      <p:sp>
        <p:nvSpPr>
          <p:cNvPr id="4" name="ZoneTexte 3">
            <a:extLst>
              <a:ext uri="{FF2B5EF4-FFF2-40B4-BE49-F238E27FC236}">
                <a16:creationId xmlns:a16="http://schemas.microsoft.com/office/drawing/2014/main" id="{E8B1AC99-2FDA-48DB-07A5-9F9C93E55E73}"/>
              </a:ext>
            </a:extLst>
          </p:cNvPr>
          <p:cNvSpPr txBox="1"/>
          <p:nvPr/>
        </p:nvSpPr>
        <p:spPr>
          <a:xfrm>
            <a:off x="381600" y="632143"/>
            <a:ext cx="4503156" cy="707886"/>
          </a:xfrm>
          <a:prstGeom prst="rect">
            <a:avLst/>
          </a:prstGeom>
          <a:noFill/>
        </p:spPr>
        <p:txBody>
          <a:bodyPr wrap="none" rtlCol="0">
            <a:spAutoFit/>
          </a:bodyPr>
          <a:lstStyle/>
          <a:p>
            <a:r>
              <a:rPr lang="fr-FR" sz="4000" dirty="0">
                <a:latin typeface="Eras Demi ITC" panose="020B0805030504020804" pitchFamily="34" charset="0"/>
              </a:rPr>
              <a:t>I</a:t>
            </a:r>
            <a:r>
              <a:rPr lang="fr-FR" sz="4000" noProof="0" dirty="0">
                <a:latin typeface="Eras Demi ITC" panose="020B0805030504020804" pitchFamily="34" charset="0"/>
              </a:rPr>
              <a:t>. Contexte métier</a:t>
            </a:r>
          </a:p>
        </p:txBody>
      </p:sp>
      <p:sp>
        <p:nvSpPr>
          <p:cNvPr id="10" name="ZoneTexte 9">
            <a:extLst>
              <a:ext uri="{FF2B5EF4-FFF2-40B4-BE49-F238E27FC236}">
                <a16:creationId xmlns:a16="http://schemas.microsoft.com/office/drawing/2014/main" id="{BB1EC7EF-2AF5-9099-B33E-4E658D380657}"/>
              </a:ext>
            </a:extLst>
          </p:cNvPr>
          <p:cNvSpPr txBox="1"/>
          <p:nvPr/>
        </p:nvSpPr>
        <p:spPr>
          <a:xfrm>
            <a:off x="167718" y="2076886"/>
            <a:ext cx="2014650" cy="584775"/>
          </a:xfrm>
          <a:prstGeom prst="rect">
            <a:avLst/>
          </a:prstGeom>
          <a:noFill/>
          <a:ln>
            <a:noFill/>
          </a:ln>
        </p:spPr>
        <p:txBody>
          <a:bodyPr wrap="square" rtlCol="0">
            <a:spAutoFit/>
          </a:bodyPr>
          <a:lstStyle/>
          <a:p>
            <a:r>
              <a:rPr lang="fr-FR" sz="3200" b="1" noProof="0" dirty="0">
                <a:ea typeface="Microsoft JhengHei UI" panose="020B0604030504040204" pitchFamily="34" charset="-120"/>
              </a:rPr>
              <a:t>Mission :</a:t>
            </a:r>
            <a:endParaRPr lang="fr-FR" sz="3200" i="1" noProof="0" dirty="0">
              <a:ea typeface="Microsoft JhengHei UI Light" panose="020B0304030504040204" pitchFamily="34" charset="-120"/>
            </a:endParaRPr>
          </a:p>
        </p:txBody>
      </p:sp>
      <p:sp>
        <p:nvSpPr>
          <p:cNvPr id="11" name="ZoneTexte 10">
            <a:extLst>
              <a:ext uri="{FF2B5EF4-FFF2-40B4-BE49-F238E27FC236}">
                <a16:creationId xmlns:a16="http://schemas.microsoft.com/office/drawing/2014/main" id="{A06D7BB9-EBCA-2C92-E48E-B1CB8588E5DE}"/>
              </a:ext>
            </a:extLst>
          </p:cNvPr>
          <p:cNvSpPr txBox="1"/>
          <p:nvPr/>
        </p:nvSpPr>
        <p:spPr>
          <a:xfrm>
            <a:off x="2212589" y="2107586"/>
            <a:ext cx="9979411" cy="1077218"/>
          </a:xfrm>
          <a:prstGeom prst="rect">
            <a:avLst/>
          </a:prstGeom>
          <a:noFill/>
          <a:ln>
            <a:noFill/>
          </a:ln>
        </p:spPr>
        <p:txBody>
          <a:bodyPr wrap="square" rtlCol="0">
            <a:spAutoFit/>
          </a:bodyPr>
          <a:lstStyle/>
          <a:p>
            <a:r>
              <a:rPr lang="en-US" sz="3200" dirty="0"/>
              <a:t>Simulation de la mise </a:t>
            </a:r>
            <a:r>
              <a:rPr lang="en-US" sz="3200" dirty="0" err="1"/>
              <a:t>en</a:t>
            </a:r>
            <a:r>
              <a:rPr lang="en-US" sz="3200" dirty="0"/>
              <a:t> production d'un </a:t>
            </a:r>
            <a:r>
              <a:rPr lang="en-US" sz="3200" dirty="0" err="1"/>
              <a:t>modèle</a:t>
            </a:r>
            <a:r>
              <a:rPr lang="en-US" sz="3200" dirty="0"/>
              <a:t> de scoring client </a:t>
            </a:r>
            <a:r>
              <a:rPr lang="en-US" sz="3200" dirty="0" err="1"/>
              <a:t>basé</a:t>
            </a:r>
            <a:r>
              <a:rPr lang="en-US" sz="3200" dirty="0"/>
              <a:t> sur des données </a:t>
            </a:r>
            <a:r>
              <a:rPr lang="en-US" sz="3200" dirty="0" err="1"/>
              <a:t>banquaires</a:t>
            </a:r>
            <a:r>
              <a:rPr lang="en-US" sz="3200" dirty="0"/>
              <a:t>.</a:t>
            </a:r>
            <a:endParaRPr lang="fr-FR" sz="3200" noProof="0" dirty="0">
              <a:latin typeface="Eras Light ITC" panose="020B0402030504020804" pitchFamily="34" charset="0"/>
              <a:ea typeface="Microsoft JhengHei UI Light" panose="020B0304030504040204" pitchFamily="34" charset="-120"/>
            </a:endParaRPr>
          </a:p>
        </p:txBody>
      </p:sp>
      <p:sp>
        <p:nvSpPr>
          <p:cNvPr id="14" name="ZoneTexte 13">
            <a:extLst>
              <a:ext uri="{FF2B5EF4-FFF2-40B4-BE49-F238E27FC236}">
                <a16:creationId xmlns:a16="http://schemas.microsoft.com/office/drawing/2014/main" id="{2AEFB32B-5903-71A3-4905-6423E2EBF815}"/>
              </a:ext>
            </a:extLst>
          </p:cNvPr>
          <p:cNvSpPr txBox="1"/>
          <p:nvPr/>
        </p:nvSpPr>
        <p:spPr>
          <a:xfrm>
            <a:off x="167718" y="3282450"/>
            <a:ext cx="2112186" cy="584775"/>
          </a:xfrm>
          <a:prstGeom prst="rect">
            <a:avLst/>
          </a:prstGeom>
          <a:noFill/>
          <a:ln>
            <a:noFill/>
          </a:ln>
        </p:spPr>
        <p:txBody>
          <a:bodyPr wrap="square" rtlCol="0">
            <a:spAutoFit/>
          </a:bodyPr>
          <a:lstStyle/>
          <a:p>
            <a:r>
              <a:rPr lang="fr-FR" sz="3200" b="1" noProof="0" dirty="0">
                <a:ea typeface="Microsoft JhengHei UI" panose="020B0604030504040204" pitchFamily="34" charset="-120"/>
              </a:rPr>
              <a:t>Modèle :</a:t>
            </a:r>
            <a:endParaRPr lang="fr-FR" sz="3200" i="1" noProof="0" dirty="0">
              <a:ea typeface="Microsoft JhengHei UI Light" panose="020B0304030504040204" pitchFamily="34" charset="-120"/>
            </a:endParaRPr>
          </a:p>
        </p:txBody>
      </p:sp>
      <p:sp>
        <p:nvSpPr>
          <p:cNvPr id="16" name="ZoneTexte 15">
            <a:extLst>
              <a:ext uri="{FF2B5EF4-FFF2-40B4-BE49-F238E27FC236}">
                <a16:creationId xmlns:a16="http://schemas.microsoft.com/office/drawing/2014/main" id="{8AF51C47-6D73-DD8B-26BB-3192322B2FF0}"/>
              </a:ext>
            </a:extLst>
          </p:cNvPr>
          <p:cNvSpPr txBox="1"/>
          <p:nvPr/>
        </p:nvSpPr>
        <p:spPr>
          <a:xfrm>
            <a:off x="2212589" y="3328853"/>
            <a:ext cx="11149472" cy="1569660"/>
          </a:xfrm>
          <a:prstGeom prst="rect">
            <a:avLst/>
          </a:prstGeom>
          <a:noFill/>
          <a:ln>
            <a:noFill/>
          </a:ln>
        </p:spPr>
        <p:txBody>
          <a:bodyPr wrap="square" rtlCol="0">
            <a:spAutoFit/>
          </a:bodyPr>
          <a:lstStyle/>
          <a:p>
            <a:r>
              <a:rPr lang="fr-FR" sz="3200" noProof="0" dirty="0">
                <a:latin typeface="Eras Light ITC" panose="020B0402030504020804" pitchFamily="34" charset="0"/>
                <a:ea typeface="Microsoft JhengHei Light" panose="020B0304030504040204" pitchFamily="34" charset="-120"/>
              </a:rPr>
              <a:t>Prédiction de la probabilité de recouvrement d’un prêt </a:t>
            </a:r>
            <a:br>
              <a:rPr lang="fr-FR" sz="3200" noProof="0" dirty="0">
                <a:latin typeface="Eras Light ITC" panose="020B0402030504020804" pitchFamily="34" charset="0"/>
                <a:ea typeface="Microsoft JhengHei Light" panose="020B0304030504040204" pitchFamily="34" charset="-120"/>
              </a:rPr>
            </a:br>
            <a:r>
              <a:rPr lang="fr-FR" sz="3200" noProof="0" dirty="0">
                <a:latin typeface="Eras Light ITC" panose="020B0402030504020804" pitchFamily="34" charset="0"/>
                <a:ea typeface="Microsoft JhengHei Light" panose="020B0304030504040204" pitchFamily="34" charset="-120"/>
              </a:rPr>
              <a:t>en se basant l’historique bancaire et des données </a:t>
            </a:r>
            <a:br>
              <a:rPr lang="fr-FR" sz="3200" noProof="0" dirty="0">
                <a:latin typeface="Eras Light ITC" panose="020B0402030504020804" pitchFamily="34" charset="0"/>
                <a:ea typeface="Microsoft JhengHei Light" panose="020B0304030504040204" pitchFamily="34" charset="-120"/>
              </a:rPr>
            </a:br>
            <a:r>
              <a:rPr lang="fr-FR" sz="3200" noProof="0" dirty="0">
                <a:latin typeface="Eras Light ITC" panose="020B0402030504020804" pitchFamily="34" charset="0"/>
                <a:ea typeface="Microsoft JhengHei Light" panose="020B0304030504040204" pitchFamily="34" charset="-120"/>
              </a:rPr>
              <a:t>personnelles.</a:t>
            </a:r>
            <a:endParaRPr lang="fr-FR" sz="3200" noProof="0" dirty="0">
              <a:latin typeface="Eras Light ITC" panose="020B0402030504020804" pitchFamily="34" charset="0"/>
              <a:ea typeface="Microsoft JhengHei UI Light" panose="020B0304030504040204" pitchFamily="34" charset="-120"/>
            </a:endParaRPr>
          </a:p>
        </p:txBody>
      </p:sp>
      <p:sp>
        <p:nvSpPr>
          <p:cNvPr id="6" name="ZoneTexte 5">
            <a:extLst>
              <a:ext uri="{FF2B5EF4-FFF2-40B4-BE49-F238E27FC236}">
                <a16:creationId xmlns:a16="http://schemas.microsoft.com/office/drawing/2014/main" id="{02A70FEC-3880-76D7-F6F4-65FB0220AEC9}"/>
              </a:ext>
            </a:extLst>
          </p:cNvPr>
          <p:cNvSpPr txBox="1"/>
          <p:nvPr/>
        </p:nvSpPr>
        <p:spPr>
          <a:xfrm>
            <a:off x="164000" y="4984869"/>
            <a:ext cx="2233511" cy="584775"/>
          </a:xfrm>
          <a:prstGeom prst="rect">
            <a:avLst/>
          </a:prstGeom>
          <a:noFill/>
          <a:ln>
            <a:noFill/>
          </a:ln>
        </p:spPr>
        <p:txBody>
          <a:bodyPr wrap="square" rtlCol="0">
            <a:spAutoFit/>
          </a:bodyPr>
          <a:lstStyle/>
          <a:p>
            <a:r>
              <a:rPr lang="fr-FR" sz="3200" b="1" noProof="0" dirty="0">
                <a:ea typeface="Microsoft JhengHei UI" panose="020B0604030504040204" pitchFamily="34" charset="-120"/>
              </a:rPr>
              <a:t>Objectifs :</a:t>
            </a:r>
            <a:endParaRPr lang="fr-FR" sz="3200" i="1" noProof="0" dirty="0">
              <a:ea typeface="Microsoft JhengHei UI Light" panose="020B0304030504040204" pitchFamily="34" charset="-120"/>
            </a:endParaRPr>
          </a:p>
        </p:txBody>
      </p:sp>
      <p:sp>
        <p:nvSpPr>
          <p:cNvPr id="8" name="ZoneTexte 7">
            <a:extLst>
              <a:ext uri="{FF2B5EF4-FFF2-40B4-BE49-F238E27FC236}">
                <a16:creationId xmlns:a16="http://schemas.microsoft.com/office/drawing/2014/main" id="{ADF549B2-5124-90F2-D601-A086455872E8}"/>
              </a:ext>
            </a:extLst>
          </p:cNvPr>
          <p:cNvSpPr txBox="1"/>
          <p:nvPr/>
        </p:nvSpPr>
        <p:spPr>
          <a:xfrm>
            <a:off x="2186570" y="5031272"/>
            <a:ext cx="9343791" cy="1077218"/>
          </a:xfrm>
          <a:prstGeom prst="rect">
            <a:avLst/>
          </a:prstGeom>
          <a:noFill/>
          <a:ln>
            <a:noFill/>
          </a:ln>
        </p:spPr>
        <p:txBody>
          <a:bodyPr wrap="square" rtlCol="0">
            <a:spAutoFit/>
          </a:bodyPr>
          <a:lstStyle/>
          <a:p>
            <a:r>
              <a:rPr lang="fr-FR" sz="3200" dirty="0">
                <a:latin typeface="Eras Light ITC" panose="020B0402030504020804" pitchFamily="34" charset="0"/>
                <a:ea typeface="Microsoft JhengHei Light" panose="020B0304030504040204" pitchFamily="34" charset="-120"/>
              </a:rPr>
              <a:t>	- Déploiement d’une API conteneurisée</a:t>
            </a:r>
          </a:p>
          <a:p>
            <a:r>
              <a:rPr lang="fr-FR" sz="3200" dirty="0">
                <a:latin typeface="Eras Light ITC" panose="020B0402030504020804" pitchFamily="34" charset="0"/>
                <a:ea typeface="Microsoft JhengHei Light" panose="020B0304030504040204" pitchFamily="34" charset="-120"/>
              </a:rPr>
              <a:t>	- Dashboard de monitoring	</a:t>
            </a:r>
            <a:endParaRPr lang="fr-FR" sz="3200" noProof="0" dirty="0">
              <a:latin typeface="Eras Light ITC" panose="020B0402030504020804" pitchFamily="34" charset="0"/>
              <a:ea typeface="Microsoft JhengHei UI Light" panose="020B0304030504040204" pitchFamily="34" charset="-120"/>
            </a:endParaRPr>
          </a:p>
        </p:txBody>
      </p:sp>
    </p:spTree>
    <p:extLst>
      <p:ext uri="{BB962C8B-B14F-4D97-AF65-F5344CB8AC3E}">
        <p14:creationId xmlns:p14="http://schemas.microsoft.com/office/powerpoint/2010/main" val="507554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270000"/>
                <a:satMod val="200000"/>
                <a:lumMod val="128000"/>
              </a:schemeClr>
            </a:gs>
            <a:gs pos="50000">
              <a:schemeClr val="bg2">
                <a:shade val="100000"/>
                <a:hueMod val="100000"/>
                <a:satMod val="110000"/>
                <a:lumMod val="130000"/>
              </a:schemeClr>
            </a:gs>
            <a:gs pos="100000">
              <a:schemeClr val="bg2">
                <a:shade val="78000"/>
                <a:hueMod val="44000"/>
                <a:satMod val="200000"/>
                <a:lumMod val="69000"/>
              </a:schemeClr>
            </a:gs>
          </a:gsLst>
          <a:lin ang="2520000" scaled="0"/>
        </a:gradFill>
        <a:effectLst/>
      </p:bgPr>
    </p:bg>
    <p:spTree>
      <p:nvGrpSpPr>
        <p:cNvPr id="1" name="">
          <a:extLst>
            <a:ext uri="{FF2B5EF4-FFF2-40B4-BE49-F238E27FC236}">
              <a16:creationId xmlns:a16="http://schemas.microsoft.com/office/drawing/2014/main" id="{F45BE370-017B-9C7A-CCBD-8C3AE0BDC15F}"/>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F4979F40-3A44-4CCB-9EB7-F8318BCE57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4" name="Picture 33">
            <a:extLst>
              <a:ext uri="{FF2B5EF4-FFF2-40B4-BE49-F238E27FC236}">
                <a16:creationId xmlns:a16="http://schemas.microsoft.com/office/drawing/2014/main" id="{15291D39-6B03-4BB5-BFC6-CBF11E90BFD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36" name="Rectangle 35">
            <a:extLst>
              <a:ext uri="{FF2B5EF4-FFF2-40B4-BE49-F238E27FC236}">
                <a16:creationId xmlns:a16="http://schemas.microsoft.com/office/drawing/2014/main" id="{AFD071FA-0514-4371-9568-86216A1F46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5211DDA4-E7B5-4325-A844-B7F59B084B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40" name="Picture 39">
            <a:extLst>
              <a:ext uri="{FF2B5EF4-FFF2-40B4-BE49-F238E27FC236}">
                <a16:creationId xmlns:a16="http://schemas.microsoft.com/office/drawing/2014/main" id="{0D58E222-6309-4F79-AC20-9D3C69CD9B1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5" name="ZoneTexte 4">
            <a:extLst>
              <a:ext uri="{FF2B5EF4-FFF2-40B4-BE49-F238E27FC236}">
                <a16:creationId xmlns:a16="http://schemas.microsoft.com/office/drawing/2014/main" id="{5454DF5A-1FFC-7C98-CC76-B419D683E33F}"/>
              </a:ext>
            </a:extLst>
          </p:cNvPr>
          <p:cNvSpPr txBox="1"/>
          <p:nvPr/>
        </p:nvSpPr>
        <p:spPr>
          <a:xfrm>
            <a:off x="681205" y="1340029"/>
            <a:ext cx="3215945" cy="461665"/>
          </a:xfrm>
          <a:prstGeom prst="rect">
            <a:avLst/>
          </a:prstGeom>
          <a:noFill/>
        </p:spPr>
        <p:txBody>
          <a:bodyPr wrap="none" rtlCol="0">
            <a:spAutoFit/>
          </a:bodyPr>
          <a:lstStyle/>
          <a:p>
            <a:pPr lvl="1"/>
            <a:r>
              <a:rPr lang="fr-FR" sz="2400" dirty="0">
                <a:latin typeface="Eras Demi ITC" panose="020B0805030504020804" pitchFamily="34" charset="0"/>
              </a:rPr>
              <a:t>2</a:t>
            </a:r>
            <a:r>
              <a:rPr lang="fr-FR" sz="2400" noProof="0" dirty="0">
                <a:latin typeface="Eras Demi ITC" panose="020B0805030504020804" pitchFamily="34" charset="0"/>
              </a:rPr>
              <a:t>.1 –</a:t>
            </a:r>
            <a:r>
              <a:rPr lang="fr-FR" sz="2400" b="1" noProof="0" dirty="0">
                <a:latin typeface="Eras Light ITC" panose="020B0402030504020804" pitchFamily="34" charset="0"/>
              </a:rPr>
              <a:t> </a:t>
            </a:r>
            <a:r>
              <a:rPr lang="fr-FR" sz="2400" noProof="0" dirty="0">
                <a:latin typeface="Eras Light ITC" panose="020B0402030504020804" pitchFamily="34" charset="0"/>
              </a:rPr>
              <a:t>Arborescence</a:t>
            </a:r>
          </a:p>
        </p:txBody>
      </p:sp>
      <p:sp>
        <p:nvSpPr>
          <p:cNvPr id="10" name="ZoneTexte 9">
            <a:extLst>
              <a:ext uri="{FF2B5EF4-FFF2-40B4-BE49-F238E27FC236}">
                <a16:creationId xmlns:a16="http://schemas.microsoft.com/office/drawing/2014/main" id="{20AC79AE-8802-D061-9114-6C6A46DA3C46}"/>
              </a:ext>
            </a:extLst>
          </p:cNvPr>
          <p:cNvSpPr txBox="1"/>
          <p:nvPr/>
        </p:nvSpPr>
        <p:spPr>
          <a:xfrm>
            <a:off x="47962" y="632143"/>
            <a:ext cx="5065810" cy="584775"/>
          </a:xfrm>
          <a:prstGeom prst="rect">
            <a:avLst/>
          </a:prstGeom>
          <a:noFill/>
        </p:spPr>
        <p:txBody>
          <a:bodyPr wrap="none" rtlCol="0">
            <a:spAutoFit/>
          </a:bodyPr>
          <a:lstStyle/>
          <a:p>
            <a:r>
              <a:rPr lang="fr-FR" sz="3200" dirty="0">
                <a:latin typeface="Eras Demi ITC" panose="020B0805030504020804" pitchFamily="34" charset="0"/>
              </a:rPr>
              <a:t>II</a:t>
            </a:r>
            <a:r>
              <a:rPr lang="fr-FR" sz="3200" noProof="0" dirty="0">
                <a:latin typeface="Eras Demi ITC" panose="020B0805030504020804" pitchFamily="34" charset="0"/>
              </a:rPr>
              <a:t>. Organisation du projet</a:t>
            </a:r>
          </a:p>
        </p:txBody>
      </p:sp>
      <p:pic>
        <p:nvPicPr>
          <p:cNvPr id="12" name="Image 11">
            <a:extLst>
              <a:ext uri="{FF2B5EF4-FFF2-40B4-BE49-F238E27FC236}">
                <a16:creationId xmlns:a16="http://schemas.microsoft.com/office/drawing/2014/main" id="{5D500773-D542-B61C-6F26-477C5F0CDD39}"/>
              </a:ext>
            </a:extLst>
          </p:cNvPr>
          <p:cNvPicPr>
            <a:picLocks noChangeAspect="1"/>
          </p:cNvPicPr>
          <p:nvPr/>
        </p:nvPicPr>
        <p:blipFill>
          <a:blip r:embed="rId5"/>
          <a:stretch>
            <a:fillRect/>
          </a:stretch>
        </p:blipFill>
        <p:spPr>
          <a:xfrm>
            <a:off x="1675761" y="2170028"/>
            <a:ext cx="8840477" cy="4609431"/>
          </a:xfrm>
          <a:prstGeom prst="rect">
            <a:avLst/>
          </a:prstGeom>
        </p:spPr>
      </p:pic>
    </p:spTree>
    <p:extLst>
      <p:ext uri="{BB962C8B-B14F-4D97-AF65-F5344CB8AC3E}">
        <p14:creationId xmlns:p14="http://schemas.microsoft.com/office/powerpoint/2010/main" val="22877986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35724-676F-7877-5F60-DBA4B110A06F}"/>
            </a:ext>
          </a:extLst>
        </p:cNvPr>
        <p:cNvGrpSpPr/>
        <p:nvPr/>
      </p:nvGrpSpPr>
      <p:grpSpPr>
        <a:xfrm>
          <a:off x="0" y="0"/>
          <a:ext cx="0" cy="0"/>
          <a:chOff x="0" y="0"/>
          <a:chExt cx="0" cy="0"/>
        </a:xfrm>
      </p:grpSpPr>
      <p:sp>
        <p:nvSpPr>
          <p:cNvPr id="4" name="ZoneTexte 3">
            <a:extLst>
              <a:ext uri="{FF2B5EF4-FFF2-40B4-BE49-F238E27FC236}">
                <a16:creationId xmlns:a16="http://schemas.microsoft.com/office/drawing/2014/main" id="{F26041EE-715C-B0DE-6D4E-E2ADAA5F4C67}"/>
              </a:ext>
            </a:extLst>
          </p:cNvPr>
          <p:cNvSpPr txBox="1"/>
          <p:nvPr/>
        </p:nvSpPr>
        <p:spPr>
          <a:xfrm>
            <a:off x="1014843" y="1340029"/>
            <a:ext cx="3579826" cy="461665"/>
          </a:xfrm>
          <a:prstGeom prst="rect">
            <a:avLst/>
          </a:prstGeom>
          <a:noFill/>
        </p:spPr>
        <p:txBody>
          <a:bodyPr wrap="none" rtlCol="0">
            <a:spAutoFit/>
          </a:bodyPr>
          <a:lstStyle/>
          <a:p>
            <a:pPr lvl="1"/>
            <a:r>
              <a:rPr lang="fr-FR" sz="2400" dirty="0">
                <a:latin typeface="Eras Demi ITC" panose="020B0805030504020804" pitchFamily="34" charset="0"/>
              </a:rPr>
              <a:t>2</a:t>
            </a:r>
            <a:r>
              <a:rPr lang="fr-FR" sz="2400" noProof="0" dirty="0">
                <a:latin typeface="Eras Demi ITC" panose="020B0805030504020804" pitchFamily="34" charset="0"/>
              </a:rPr>
              <a:t>.2 –</a:t>
            </a:r>
            <a:r>
              <a:rPr lang="fr-FR" sz="2400" b="1" noProof="0" dirty="0">
                <a:latin typeface="Eras Light ITC" panose="020B0402030504020804" pitchFamily="34" charset="0"/>
              </a:rPr>
              <a:t> </a:t>
            </a:r>
            <a:r>
              <a:rPr lang="fr-FR" sz="2400" noProof="0" dirty="0">
                <a:latin typeface="Eras Light ITC" panose="020B0402030504020804" pitchFamily="34" charset="0"/>
              </a:rPr>
              <a:t>Flux de travail git</a:t>
            </a:r>
          </a:p>
        </p:txBody>
      </p:sp>
      <p:sp>
        <p:nvSpPr>
          <p:cNvPr id="5" name="ZoneTexte 4">
            <a:extLst>
              <a:ext uri="{FF2B5EF4-FFF2-40B4-BE49-F238E27FC236}">
                <a16:creationId xmlns:a16="http://schemas.microsoft.com/office/drawing/2014/main" id="{987F7662-94B0-730C-1EF1-C25A1A0D0CA6}"/>
              </a:ext>
            </a:extLst>
          </p:cNvPr>
          <p:cNvSpPr txBox="1"/>
          <p:nvPr/>
        </p:nvSpPr>
        <p:spPr>
          <a:xfrm>
            <a:off x="381600" y="632143"/>
            <a:ext cx="6288901" cy="707886"/>
          </a:xfrm>
          <a:prstGeom prst="rect">
            <a:avLst/>
          </a:prstGeom>
          <a:noFill/>
        </p:spPr>
        <p:txBody>
          <a:bodyPr wrap="none" rtlCol="0">
            <a:spAutoFit/>
          </a:bodyPr>
          <a:lstStyle/>
          <a:p>
            <a:r>
              <a:rPr lang="fr-FR" sz="4000" dirty="0">
                <a:latin typeface="Eras Demi ITC" panose="020B0805030504020804" pitchFamily="34" charset="0"/>
              </a:rPr>
              <a:t>II</a:t>
            </a:r>
            <a:r>
              <a:rPr lang="fr-FR" sz="4000" noProof="0" dirty="0">
                <a:latin typeface="Eras Demi ITC" panose="020B0805030504020804" pitchFamily="34" charset="0"/>
              </a:rPr>
              <a:t>. Organisation du projet</a:t>
            </a:r>
          </a:p>
        </p:txBody>
      </p:sp>
      <p:grpSp>
        <p:nvGrpSpPr>
          <p:cNvPr id="12" name="Groupe 11">
            <a:extLst>
              <a:ext uri="{FF2B5EF4-FFF2-40B4-BE49-F238E27FC236}">
                <a16:creationId xmlns:a16="http://schemas.microsoft.com/office/drawing/2014/main" id="{A6580A44-D26A-FC60-F554-8A26F5C83A3D}"/>
              </a:ext>
            </a:extLst>
          </p:cNvPr>
          <p:cNvGrpSpPr/>
          <p:nvPr/>
        </p:nvGrpSpPr>
        <p:grpSpPr>
          <a:xfrm>
            <a:off x="0" y="2336800"/>
            <a:ext cx="12192000" cy="1977126"/>
            <a:chOff x="0" y="3190240"/>
            <a:chExt cx="12192000" cy="1977126"/>
          </a:xfrm>
        </p:grpSpPr>
        <p:pic>
          <p:nvPicPr>
            <p:cNvPr id="26" name="Image 25" descr="Une image contenant capture d’écran, ligne, Tracé, diagramme&#10;&#10;Le contenu généré par l’IA peut être incorrect.">
              <a:extLst>
                <a:ext uri="{FF2B5EF4-FFF2-40B4-BE49-F238E27FC236}">
                  <a16:creationId xmlns:a16="http://schemas.microsoft.com/office/drawing/2014/main" id="{BD5B962D-75CC-5BAD-674B-CFF1D0B129AF}"/>
                </a:ext>
              </a:extLst>
            </p:cNvPr>
            <p:cNvPicPr>
              <a:picLocks noChangeAspect="1"/>
            </p:cNvPicPr>
            <p:nvPr/>
          </p:nvPicPr>
          <p:blipFill>
            <a:blip r:embed="rId3"/>
            <a:stretch>
              <a:fillRect/>
            </a:stretch>
          </p:blipFill>
          <p:spPr>
            <a:xfrm>
              <a:off x="0" y="3190240"/>
              <a:ext cx="12192000" cy="1977126"/>
            </a:xfrm>
            <a:prstGeom prst="rect">
              <a:avLst/>
            </a:prstGeom>
            <a:solidFill>
              <a:srgbClr val="1C1B22"/>
            </a:solidFill>
          </p:spPr>
        </p:pic>
        <p:sp>
          <p:nvSpPr>
            <p:cNvPr id="2" name="ZoneTexte 1">
              <a:extLst>
                <a:ext uri="{FF2B5EF4-FFF2-40B4-BE49-F238E27FC236}">
                  <a16:creationId xmlns:a16="http://schemas.microsoft.com/office/drawing/2014/main" id="{4D7BF73F-F010-09AF-2972-9E5CF5816081}"/>
                </a:ext>
              </a:extLst>
            </p:cNvPr>
            <p:cNvSpPr txBox="1"/>
            <p:nvPr/>
          </p:nvSpPr>
          <p:spPr>
            <a:xfrm>
              <a:off x="3050801" y="3208528"/>
              <a:ext cx="625171" cy="161583"/>
            </a:xfrm>
            <a:prstGeom prst="rect">
              <a:avLst/>
            </a:prstGeom>
            <a:solidFill>
              <a:srgbClr val="1C1B22"/>
            </a:solidFill>
          </p:spPr>
          <p:txBody>
            <a:bodyPr wrap="none" lIns="0" tIns="0" rIns="0" bIns="0" rtlCol="0">
              <a:spAutoFit/>
            </a:bodyPr>
            <a:lstStyle/>
            <a:p>
              <a:r>
                <a:rPr lang="fr-FR" sz="1050" dirty="0"/>
                <a:t>Tag: V.1.0</a:t>
              </a:r>
              <a:endParaRPr lang="en-US" sz="1050" dirty="0"/>
            </a:p>
          </p:txBody>
        </p:sp>
        <p:sp>
          <p:nvSpPr>
            <p:cNvPr id="6" name="ZoneTexte 5">
              <a:extLst>
                <a:ext uri="{FF2B5EF4-FFF2-40B4-BE49-F238E27FC236}">
                  <a16:creationId xmlns:a16="http://schemas.microsoft.com/office/drawing/2014/main" id="{AA26E457-E4B2-DB05-663C-ACBD2F74E0F8}"/>
                </a:ext>
              </a:extLst>
            </p:cNvPr>
            <p:cNvSpPr txBox="1"/>
            <p:nvPr/>
          </p:nvSpPr>
          <p:spPr>
            <a:xfrm>
              <a:off x="8336033" y="3208528"/>
              <a:ext cx="625171" cy="161583"/>
            </a:xfrm>
            <a:prstGeom prst="rect">
              <a:avLst/>
            </a:prstGeom>
            <a:solidFill>
              <a:srgbClr val="1C1B22"/>
            </a:solidFill>
          </p:spPr>
          <p:txBody>
            <a:bodyPr wrap="none" lIns="0" tIns="0" rIns="0" bIns="0" rtlCol="0">
              <a:spAutoFit/>
            </a:bodyPr>
            <a:lstStyle/>
            <a:p>
              <a:r>
                <a:rPr lang="fr-FR" sz="1050" dirty="0"/>
                <a:t>Tag: V.1.1</a:t>
              </a:r>
              <a:endParaRPr lang="en-US" sz="1050" dirty="0"/>
            </a:p>
          </p:txBody>
        </p:sp>
        <p:sp>
          <p:nvSpPr>
            <p:cNvPr id="8" name="ZoneTexte 7">
              <a:extLst>
                <a:ext uri="{FF2B5EF4-FFF2-40B4-BE49-F238E27FC236}">
                  <a16:creationId xmlns:a16="http://schemas.microsoft.com/office/drawing/2014/main" id="{CFEF9CFD-A98B-6FF4-B1F2-DF3D9F36C43E}"/>
                </a:ext>
              </a:extLst>
            </p:cNvPr>
            <p:cNvSpPr txBox="1"/>
            <p:nvPr/>
          </p:nvSpPr>
          <p:spPr>
            <a:xfrm>
              <a:off x="10579361" y="3207551"/>
              <a:ext cx="625171" cy="161583"/>
            </a:xfrm>
            <a:prstGeom prst="rect">
              <a:avLst/>
            </a:prstGeom>
            <a:solidFill>
              <a:srgbClr val="1C1B22"/>
            </a:solidFill>
          </p:spPr>
          <p:txBody>
            <a:bodyPr wrap="none" lIns="0" tIns="0" rIns="0" bIns="0" rtlCol="0">
              <a:spAutoFit/>
            </a:bodyPr>
            <a:lstStyle/>
            <a:p>
              <a:r>
                <a:rPr lang="fr-FR" sz="1050" dirty="0"/>
                <a:t>Tag: V.1.2</a:t>
              </a:r>
              <a:endParaRPr lang="en-US" sz="1050" dirty="0"/>
            </a:p>
          </p:txBody>
        </p:sp>
        <p:sp>
          <p:nvSpPr>
            <p:cNvPr id="10" name="ZoneTexte 9">
              <a:extLst>
                <a:ext uri="{FF2B5EF4-FFF2-40B4-BE49-F238E27FC236}">
                  <a16:creationId xmlns:a16="http://schemas.microsoft.com/office/drawing/2014/main" id="{68670FC0-9241-0805-361D-411996DE6FB0}"/>
                </a:ext>
              </a:extLst>
            </p:cNvPr>
            <p:cNvSpPr txBox="1"/>
            <p:nvPr/>
          </p:nvSpPr>
          <p:spPr>
            <a:xfrm>
              <a:off x="1748260" y="4865983"/>
              <a:ext cx="1179810" cy="276999"/>
            </a:xfrm>
            <a:prstGeom prst="rect">
              <a:avLst/>
            </a:prstGeom>
            <a:solidFill>
              <a:srgbClr val="1C1B22"/>
            </a:solidFill>
          </p:spPr>
          <p:txBody>
            <a:bodyPr wrap="none" lIns="0" tIns="0" rIns="0" bIns="0" rtlCol="0">
              <a:spAutoFit/>
            </a:bodyPr>
            <a:lstStyle/>
            <a:p>
              <a:r>
                <a:rPr lang="fr-FR" sz="900" dirty="0"/>
                <a:t>Développement d’une </a:t>
              </a:r>
              <a:br>
                <a:rPr lang="fr-FR" sz="900" dirty="0"/>
              </a:br>
              <a:r>
                <a:rPr lang="fr-FR" sz="900" dirty="0"/>
                <a:t>première version d’API</a:t>
              </a:r>
              <a:endParaRPr lang="en-US" sz="900" dirty="0"/>
            </a:p>
          </p:txBody>
        </p:sp>
        <p:sp>
          <p:nvSpPr>
            <p:cNvPr id="11" name="ZoneTexte 10">
              <a:extLst>
                <a:ext uri="{FF2B5EF4-FFF2-40B4-BE49-F238E27FC236}">
                  <a16:creationId xmlns:a16="http://schemas.microsoft.com/office/drawing/2014/main" id="{E7A5FA1D-F013-E8CC-F1E2-91D92837BEC1}"/>
                </a:ext>
              </a:extLst>
            </p:cNvPr>
            <p:cNvSpPr txBox="1"/>
            <p:nvPr/>
          </p:nvSpPr>
          <p:spPr>
            <a:xfrm>
              <a:off x="322387" y="3429000"/>
              <a:ext cx="282129" cy="153888"/>
            </a:xfrm>
            <a:prstGeom prst="rect">
              <a:avLst/>
            </a:prstGeom>
            <a:solidFill>
              <a:srgbClr val="1C1B22"/>
            </a:solidFill>
          </p:spPr>
          <p:txBody>
            <a:bodyPr wrap="none" lIns="0" tIns="0" rIns="0" bIns="0" rtlCol="0">
              <a:spAutoFit/>
            </a:bodyPr>
            <a:lstStyle/>
            <a:p>
              <a:r>
                <a:rPr lang="fr-FR" sz="1000" dirty="0">
                  <a:latin typeface="Consolas" panose="020B0609020204030204" pitchFamily="49" charset="0"/>
                </a:rPr>
                <a:t>prod</a:t>
              </a:r>
              <a:endParaRPr lang="en-US" sz="1000" dirty="0">
                <a:latin typeface="Consolas" panose="020B0609020204030204" pitchFamily="49" charset="0"/>
              </a:endParaRPr>
            </a:p>
          </p:txBody>
        </p:sp>
      </p:grpSp>
      <p:cxnSp>
        <p:nvCxnSpPr>
          <p:cNvPr id="14" name="Connecteur droit 13">
            <a:extLst>
              <a:ext uri="{FF2B5EF4-FFF2-40B4-BE49-F238E27FC236}">
                <a16:creationId xmlns:a16="http://schemas.microsoft.com/office/drawing/2014/main" id="{7D66114D-EDBA-B2F6-547E-BAC897F7D43F}"/>
              </a:ext>
            </a:extLst>
          </p:cNvPr>
          <p:cNvCxnSpPr/>
          <p:nvPr/>
        </p:nvCxnSpPr>
        <p:spPr>
          <a:xfrm>
            <a:off x="1634490" y="3238500"/>
            <a:ext cx="186309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Ellipse 14">
            <a:extLst>
              <a:ext uri="{FF2B5EF4-FFF2-40B4-BE49-F238E27FC236}">
                <a16:creationId xmlns:a16="http://schemas.microsoft.com/office/drawing/2014/main" id="{C3B86FD5-57D5-9B04-2A62-075688D9E793}"/>
              </a:ext>
            </a:extLst>
          </p:cNvPr>
          <p:cNvSpPr/>
          <p:nvPr/>
        </p:nvSpPr>
        <p:spPr>
          <a:xfrm>
            <a:off x="1524000" y="3141347"/>
            <a:ext cx="198120" cy="194305"/>
          </a:xfrm>
          <a:prstGeom prst="ellipse">
            <a:avLst/>
          </a:prstGeom>
          <a:solidFill>
            <a:srgbClr val="67500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Ellipse 16">
            <a:extLst>
              <a:ext uri="{FF2B5EF4-FFF2-40B4-BE49-F238E27FC236}">
                <a16:creationId xmlns:a16="http://schemas.microsoft.com/office/drawing/2014/main" id="{47A11F50-5878-A133-B231-907CA30F2C8A}"/>
              </a:ext>
            </a:extLst>
          </p:cNvPr>
          <p:cNvSpPr/>
          <p:nvPr/>
        </p:nvSpPr>
        <p:spPr>
          <a:xfrm>
            <a:off x="3006090" y="3141347"/>
            <a:ext cx="198120" cy="194305"/>
          </a:xfrm>
          <a:prstGeom prst="ellipse">
            <a:avLst/>
          </a:prstGeom>
          <a:solidFill>
            <a:srgbClr val="67500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ZoneTexte 18">
            <a:extLst>
              <a:ext uri="{FF2B5EF4-FFF2-40B4-BE49-F238E27FC236}">
                <a16:creationId xmlns:a16="http://schemas.microsoft.com/office/drawing/2014/main" id="{8C658319-33D3-1612-BE65-80A3BC7813F8}"/>
              </a:ext>
            </a:extLst>
          </p:cNvPr>
          <p:cNvSpPr txBox="1"/>
          <p:nvPr/>
        </p:nvSpPr>
        <p:spPr>
          <a:xfrm>
            <a:off x="273454" y="4493211"/>
            <a:ext cx="11796626" cy="400110"/>
          </a:xfrm>
          <a:prstGeom prst="rect">
            <a:avLst/>
          </a:prstGeom>
          <a:noFill/>
          <a:ln>
            <a:noFill/>
          </a:ln>
        </p:spPr>
        <p:txBody>
          <a:bodyPr wrap="square" rtlCol="0">
            <a:spAutoFit/>
          </a:bodyPr>
          <a:lstStyle/>
          <a:p>
            <a:r>
              <a:rPr lang="fr-FR" sz="2000" b="1" noProof="0" dirty="0">
                <a:ea typeface="Microsoft JhengHei UI" panose="020B0604030504040204" pitchFamily="34" charset="-120"/>
              </a:rPr>
              <a:t>Branches de fonctionnalité:</a:t>
            </a:r>
            <a:r>
              <a:rPr lang="fr-FR" sz="2000" b="1" dirty="0">
                <a:ea typeface="Microsoft JhengHei UI" panose="020B0604030504040204" pitchFamily="34" charset="-120"/>
              </a:rPr>
              <a:t> </a:t>
            </a:r>
            <a:r>
              <a:rPr lang="fr-FR" sz="2000" b="1" dirty="0">
                <a:latin typeface="Eras Light ITC" panose="020B0402030504020804" pitchFamily="34" charset="0"/>
                <a:ea typeface="Microsoft JhengHei UI" panose="020B0604030504040204" pitchFamily="34" charset="-120"/>
              </a:rPr>
              <a:t>api, </a:t>
            </a:r>
            <a:r>
              <a:rPr lang="fr-FR" sz="2000" b="1" dirty="0" err="1">
                <a:latin typeface="Eras Light ITC" panose="020B0402030504020804" pitchFamily="34" charset="0"/>
                <a:ea typeface="Microsoft JhengHei UI" panose="020B0604030504040204" pitchFamily="34" charset="-120"/>
              </a:rPr>
              <a:t>db</a:t>
            </a:r>
            <a:r>
              <a:rPr lang="fr-FR" sz="2000" b="1" dirty="0">
                <a:latin typeface="Eras Light ITC" panose="020B0402030504020804" pitchFamily="34" charset="0"/>
                <a:ea typeface="Microsoft JhengHei UI" panose="020B0604030504040204" pitchFamily="34" charset="-120"/>
              </a:rPr>
              <a:t>, cd, ci, </a:t>
            </a:r>
            <a:r>
              <a:rPr lang="fr-FR" sz="2000" b="1" dirty="0" err="1">
                <a:latin typeface="Eras Light ITC" panose="020B0402030504020804" pitchFamily="34" charset="0"/>
                <a:ea typeface="Microsoft JhengHei UI" panose="020B0604030504040204" pitchFamily="34" charset="-120"/>
              </a:rPr>
              <a:t>db</a:t>
            </a:r>
            <a:r>
              <a:rPr lang="fr-FR" sz="2000" b="1" dirty="0">
                <a:latin typeface="Eras Light ITC" panose="020B0402030504020804" pitchFamily="34" charset="0"/>
                <a:ea typeface="Microsoft JhengHei UI" panose="020B0604030504040204" pitchFamily="34" charset="-120"/>
              </a:rPr>
              <a:t>-to-api, </a:t>
            </a:r>
            <a:r>
              <a:rPr lang="fr-FR" sz="2000" b="1" dirty="0" err="1">
                <a:latin typeface="Eras Light ITC" panose="020B0402030504020804" pitchFamily="34" charset="0"/>
                <a:ea typeface="Microsoft JhengHei UI" panose="020B0604030504040204" pitchFamily="34" charset="-120"/>
              </a:rPr>
              <a:t>optimize</a:t>
            </a:r>
            <a:r>
              <a:rPr lang="fr-FR" sz="2000" b="1" dirty="0">
                <a:latin typeface="Eras Light ITC" panose="020B0402030504020804" pitchFamily="34" charset="0"/>
                <a:ea typeface="Microsoft JhengHei UI" panose="020B0604030504040204" pitchFamily="34" charset="-120"/>
              </a:rPr>
              <a:t>-pipeline, </a:t>
            </a:r>
            <a:r>
              <a:rPr lang="fr-FR" sz="2000" b="1" dirty="0" err="1">
                <a:latin typeface="Eras Light ITC" panose="020B0402030504020804" pitchFamily="34" charset="0"/>
                <a:ea typeface="Microsoft JhengHei UI" panose="020B0604030504040204" pitchFamily="34" charset="-120"/>
              </a:rPr>
              <a:t>streamlit</a:t>
            </a:r>
            <a:r>
              <a:rPr lang="fr-FR" sz="2000" b="1" dirty="0">
                <a:latin typeface="Eras Light ITC" panose="020B0402030504020804" pitchFamily="34" charset="0"/>
                <a:ea typeface="Microsoft JhengHei UI" panose="020B0604030504040204" pitchFamily="34" charset="-120"/>
              </a:rPr>
              <a:t>-monitoring-interface</a:t>
            </a:r>
            <a:endParaRPr lang="fr-FR" sz="2000" i="1" noProof="0" dirty="0">
              <a:latin typeface="Eras Light ITC" panose="020B0402030504020804" pitchFamily="34" charset="0"/>
              <a:ea typeface="Microsoft JhengHei UI Light" panose="020B0304030504040204" pitchFamily="34" charset="-120"/>
            </a:endParaRPr>
          </a:p>
        </p:txBody>
      </p:sp>
    </p:spTree>
    <p:extLst>
      <p:ext uri="{BB962C8B-B14F-4D97-AF65-F5344CB8AC3E}">
        <p14:creationId xmlns:p14="http://schemas.microsoft.com/office/powerpoint/2010/main" val="26190647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9773B-9526-F703-E06E-9BC5A97379EC}"/>
            </a:ext>
          </a:extLst>
        </p:cNvPr>
        <p:cNvGrpSpPr/>
        <p:nvPr/>
      </p:nvGrpSpPr>
      <p:grpSpPr>
        <a:xfrm>
          <a:off x="0" y="0"/>
          <a:ext cx="0" cy="0"/>
          <a:chOff x="0" y="0"/>
          <a:chExt cx="0" cy="0"/>
        </a:xfrm>
      </p:grpSpPr>
      <p:sp>
        <p:nvSpPr>
          <p:cNvPr id="5" name="ZoneTexte 4">
            <a:extLst>
              <a:ext uri="{FF2B5EF4-FFF2-40B4-BE49-F238E27FC236}">
                <a16:creationId xmlns:a16="http://schemas.microsoft.com/office/drawing/2014/main" id="{AC67082E-7E3E-8F30-71AD-684552A18077}"/>
              </a:ext>
            </a:extLst>
          </p:cNvPr>
          <p:cNvSpPr txBox="1"/>
          <p:nvPr/>
        </p:nvSpPr>
        <p:spPr>
          <a:xfrm>
            <a:off x="381600" y="632143"/>
            <a:ext cx="10012466" cy="707886"/>
          </a:xfrm>
          <a:prstGeom prst="rect">
            <a:avLst/>
          </a:prstGeom>
          <a:noFill/>
        </p:spPr>
        <p:txBody>
          <a:bodyPr wrap="square" rtlCol="0">
            <a:spAutoFit/>
          </a:bodyPr>
          <a:lstStyle/>
          <a:p>
            <a:r>
              <a:rPr lang="fr-FR" sz="4000" dirty="0">
                <a:latin typeface="Eras Demi ITC" panose="020B0805030504020804" pitchFamily="34" charset="0"/>
              </a:rPr>
              <a:t>III</a:t>
            </a:r>
            <a:r>
              <a:rPr lang="fr-FR" sz="4000" noProof="0" dirty="0">
                <a:latin typeface="Eras Demi ITC" panose="020B0805030504020804" pitchFamily="34" charset="0"/>
              </a:rPr>
              <a:t>. Démonstration CI/CD et API déployée</a:t>
            </a:r>
          </a:p>
        </p:txBody>
      </p:sp>
      <p:sp>
        <p:nvSpPr>
          <p:cNvPr id="6" name="ZoneTexte 5">
            <a:extLst>
              <a:ext uri="{FF2B5EF4-FFF2-40B4-BE49-F238E27FC236}">
                <a16:creationId xmlns:a16="http://schemas.microsoft.com/office/drawing/2014/main" id="{0C3A026E-B7C0-2BDE-C4D0-C173FF27830D}"/>
              </a:ext>
            </a:extLst>
          </p:cNvPr>
          <p:cNvSpPr txBox="1"/>
          <p:nvPr/>
        </p:nvSpPr>
        <p:spPr>
          <a:xfrm>
            <a:off x="1574800" y="2759628"/>
            <a:ext cx="9672320" cy="523220"/>
          </a:xfrm>
          <a:prstGeom prst="rect">
            <a:avLst/>
          </a:prstGeom>
          <a:noFill/>
        </p:spPr>
        <p:txBody>
          <a:bodyPr wrap="square">
            <a:spAutoFit/>
          </a:bodyPr>
          <a:lstStyle/>
          <a:p>
            <a:r>
              <a:rPr lang="en-US" sz="2800" dirty="0"/>
              <a:t>https://huggingface.co/spaces/JPoitreau/OC-projet-8</a:t>
            </a:r>
          </a:p>
        </p:txBody>
      </p:sp>
      <p:sp>
        <p:nvSpPr>
          <p:cNvPr id="8" name="ZoneTexte 7">
            <a:extLst>
              <a:ext uri="{FF2B5EF4-FFF2-40B4-BE49-F238E27FC236}">
                <a16:creationId xmlns:a16="http://schemas.microsoft.com/office/drawing/2014/main" id="{A21F18F2-9C80-B6D8-7144-53585E6A4E42}"/>
              </a:ext>
            </a:extLst>
          </p:cNvPr>
          <p:cNvSpPr txBox="1"/>
          <p:nvPr/>
        </p:nvSpPr>
        <p:spPr>
          <a:xfrm>
            <a:off x="1574800" y="4259619"/>
            <a:ext cx="8940800" cy="523220"/>
          </a:xfrm>
          <a:prstGeom prst="rect">
            <a:avLst/>
          </a:prstGeom>
          <a:noFill/>
        </p:spPr>
        <p:txBody>
          <a:bodyPr wrap="square">
            <a:spAutoFit/>
          </a:bodyPr>
          <a:lstStyle/>
          <a:p>
            <a:r>
              <a:rPr lang="en-US" sz="2800" dirty="0"/>
              <a:t>https://github.com/JPoitreau/OC-Projet-8/tree/dev</a:t>
            </a:r>
          </a:p>
        </p:txBody>
      </p:sp>
    </p:spTree>
    <p:extLst>
      <p:ext uri="{BB962C8B-B14F-4D97-AF65-F5344CB8AC3E}">
        <p14:creationId xmlns:p14="http://schemas.microsoft.com/office/powerpoint/2010/main" val="3082911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6EBAF-AE33-3222-E17B-B278C438F83B}"/>
            </a:ext>
          </a:extLst>
        </p:cNvPr>
        <p:cNvGrpSpPr/>
        <p:nvPr/>
      </p:nvGrpSpPr>
      <p:grpSpPr>
        <a:xfrm>
          <a:off x="0" y="0"/>
          <a:ext cx="0" cy="0"/>
          <a:chOff x="0" y="0"/>
          <a:chExt cx="0" cy="0"/>
        </a:xfrm>
      </p:grpSpPr>
      <p:sp>
        <p:nvSpPr>
          <p:cNvPr id="5" name="ZoneTexte 4">
            <a:extLst>
              <a:ext uri="{FF2B5EF4-FFF2-40B4-BE49-F238E27FC236}">
                <a16:creationId xmlns:a16="http://schemas.microsoft.com/office/drawing/2014/main" id="{74B4771C-D936-F30F-66D1-44593BD43F89}"/>
              </a:ext>
            </a:extLst>
          </p:cNvPr>
          <p:cNvSpPr txBox="1"/>
          <p:nvPr/>
        </p:nvSpPr>
        <p:spPr>
          <a:xfrm>
            <a:off x="381600" y="632143"/>
            <a:ext cx="10012466" cy="1323439"/>
          </a:xfrm>
          <a:prstGeom prst="rect">
            <a:avLst/>
          </a:prstGeom>
          <a:noFill/>
        </p:spPr>
        <p:txBody>
          <a:bodyPr wrap="square" rtlCol="0">
            <a:spAutoFit/>
          </a:bodyPr>
          <a:lstStyle/>
          <a:p>
            <a:r>
              <a:rPr lang="fr-FR" sz="4000" dirty="0">
                <a:latin typeface="Eras Demi ITC" panose="020B0805030504020804" pitchFamily="34" charset="0"/>
              </a:rPr>
              <a:t>III</a:t>
            </a:r>
            <a:r>
              <a:rPr lang="fr-FR" sz="4000" noProof="0" dirty="0">
                <a:latin typeface="Eras Demi ITC" panose="020B0805030504020804" pitchFamily="34" charset="0"/>
              </a:rPr>
              <a:t>. Résultats du monitoring et optimisation</a:t>
            </a:r>
          </a:p>
        </p:txBody>
      </p:sp>
      <p:sp>
        <p:nvSpPr>
          <p:cNvPr id="3" name="ZoneTexte 2">
            <a:extLst>
              <a:ext uri="{FF2B5EF4-FFF2-40B4-BE49-F238E27FC236}">
                <a16:creationId xmlns:a16="http://schemas.microsoft.com/office/drawing/2014/main" id="{9F21C6A7-7EB7-8876-6B22-00951EC1D657}"/>
              </a:ext>
            </a:extLst>
          </p:cNvPr>
          <p:cNvSpPr txBox="1"/>
          <p:nvPr/>
        </p:nvSpPr>
        <p:spPr>
          <a:xfrm>
            <a:off x="3652598" y="3429000"/>
            <a:ext cx="5135802" cy="584775"/>
          </a:xfrm>
          <a:prstGeom prst="rect">
            <a:avLst/>
          </a:prstGeom>
          <a:noFill/>
          <a:ln>
            <a:noFill/>
          </a:ln>
        </p:spPr>
        <p:txBody>
          <a:bodyPr wrap="square" rtlCol="0">
            <a:spAutoFit/>
          </a:bodyPr>
          <a:lstStyle/>
          <a:p>
            <a:r>
              <a:rPr lang="fr-FR" sz="3200" b="1" noProof="0" dirty="0">
                <a:ea typeface="Microsoft JhengHei UI" panose="020B0604030504040204" pitchFamily="34" charset="-120"/>
              </a:rPr>
              <a:t>Dashboard </a:t>
            </a:r>
            <a:r>
              <a:rPr lang="fr-FR" sz="3200" b="1" noProof="0" dirty="0" err="1">
                <a:ea typeface="Microsoft JhengHei UI" panose="020B0604030504040204" pitchFamily="34" charset="-120"/>
              </a:rPr>
              <a:t>streamlit</a:t>
            </a:r>
            <a:endParaRPr lang="fr-FR" sz="3200" i="1" noProof="0" dirty="0">
              <a:ea typeface="Microsoft JhengHei UI Light" panose="020B0304030504040204" pitchFamily="34" charset="-120"/>
            </a:endParaRPr>
          </a:p>
        </p:txBody>
      </p:sp>
    </p:spTree>
    <p:extLst>
      <p:ext uri="{BB962C8B-B14F-4D97-AF65-F5344CB8AC3E}">
        <p14:creationId xmlns:p14="http://schemas.microsoft.com/office/powerpoint/2010/main" val="14878101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C9237-6C85-6D46-16B2-CAD6765594C4}"/>
            </a:ext>
          </a:extLst>
        </p:cNvPr>
        <p:cNvGrpSpPr/>
        <p:nvPr/>
      </p:nvGrpSpPr>
      <p:grpSpPr>
        <a:xfrm>
          <a:off x="0" y="0"/>
          <a:ext cx="0" cy="0"/>
          <a:chOff x="0" y="0"/>
          <a:chExt cx="0" cy="0"/>
        </a:xfrm>
      </p:grpSpPr>
      <p:sp>
        <p:nvSpPr>
          <p:cNvPr id="5" name="ZoneTexte 4">
            <a:extLst>
              <a:ext uri="{FF2B5EF4-FFF2-40B4-BE49-F238E27FC236}">
                <a16:creationId xmlns:a16="http://schemas.microsoft.com/office/drawing/2014/main" id="{76A56AEA-B1E1-F0B3-F478-D04B7B8FA394}"/>
              </a:ext>
            </a:extLst>
          </p:cNvPr>
          <p:cNvSpPr txBox="1"/>
          <p:nvPr/>
        </p:nvSpPr>
        <p:spPr>
          <a:xfrm>
            <a:off x="381600" y="632143"/>
            <a:ext cx="10012466" cy="1323439"/>
          </a:xfrm>
          <a:prstGeom prst="rect">
            <a:avLst/>
          </a:prstGeom>
          <a:noFill/>
        </p:spPr>
        <p:txBody>
          <a:bodyPr wrap="square" rtlCol="0">
            <a:spAutoFit/>
          </a:bodyPr>
          <a:lstStyle/>
          <a:p>
            <a:r>
              <a:rPr lang="fr-FR" sz="4000" dirty="0">
                <a:latin typeface="Eras Demi ITC" panose="020B0805030504020804" pitchFamily="34" charset="0"/>
              </a:rPr>
              <a:t>III</a:t>
            </a:r>
            <a:r>
              <a:rPr lang="fr-FR" sz="4000" noProof="0" dirty="0">
                <a:latin typeface="Eras Demi ITC" panose="020B0805030504020804" pitchFamily="34" charset="0"/>
              </a:rPr>
              <a:t>. Résultats du monitoring et optimisation</a:t>
            </a:r>
          </a:p>
        </p:txBody>
      </p:sp>
      <p:sp>
        <p:nvSpPr>
          <p:cNvPr id="4" name="ZoneTexte 3">
            <a:extLst>
              <a:ext uri="{FF2B5EF4-FFF2-40B4-BE49-F238E27FC236}">
                <a16:creationId xmlns:a16="http://schemas.microsoft.com/office/drawing/2014/main" id="{38B3416D-B6B6-001E-C3B7-4F9029989ADD}"/>
              </a:ext>
            </a:extLst>
          </p:cNvPr>
          <p:cNvSpPr txBox="1"/>
          <p:nvPr/>
        </p:nvSpPr>
        <p:spPr>
          <a:xfrm>
            <a:off x="167718" y="2076886"/>
            <a:ext cx="5796202" cy="584775"/>
          </a:xfrm>
          <a:prstGeom prst="rect">
            <a:avLst/>
          </a:prstGeom>
          <a:noFill/>
          <a:ln>
            <a:noFill/>
          </a:ln>
        </p:spPr>
        <p:txBody>
          <a:bodyPr wrap="square" rtlCol="0">
            <a:spAutoFit/>
          </a:bodyPr>
          <a:lstStyle/>
          <a:p>
            <a:r>
              <a:rPr lang="fr-FR" sz="3200" b="1" noProof="0" dirty="0">
                <a:ea typeface="Microsoft JhengHei UI" panose="020B0604030504040204" pitchFamily="34" charset="-120"/>
              </a:rPr>
              <a:t>Optimisation du modèle :</a:t>
            </a:r>
            <a:endParaRPr lang="fr-FR" sz="3200" i="1" noProof="0" dirty="0">
              <a:ea typeface="Microsoft JhengHei UI Light" panose="020B0304030504040204" pitchFamily="34" charset="-120"/>
            </a:endParaRPr>
          </a:p>
        </p:txBody>
      </p:sp>
      <p:sp>
        <p:nvSpPr>
          <p:cNvPr id="7" name="ZoneTexte 6">
            <a:extLst>
              <a:ext uri="{FF2B5EF4-FFF2-40B4-BE49-F238E27FC236}">
                <a16:creationId xmlns:a16="http://schemas.microsoft.com/office/drawing/2014/main" id="{623545B2-6B17-768A-BEC6-8FF21BFA5E18}"/>
              </a:ext>
            </a:extLst>
          </p:cNvPr>
          <p:cNvSpPr txBox="1"/>
          <p:nvPr/>
        </p:nvSpPr>
        <p:spPr>
          <a:xfrm>
            <a:off x="251709" y="2490577"/>
            <a:ext cx="4911306" cy="584775"/>
          </a:xfrm>
          <a:prstGeom prst="rect">
            <a:avLst/>
          </a:prstGeom>
          <a:noFill/>
          <a:ln>
            <a:noFill/>
          </a:ln>
        </p:spPr>
        <p:txBody>
          <a:bodyPr wrap="square" rtlCol="0">
            <a:spAutoFit/>
          </a:bodyPr>
          <a:lstStyle/>
          <a:p>
            <a:r>
              <a:rPr lang="fr-FR" sz="3200" dirty="0" err="1">
                <a:latin typeface="Eras Light ITC" panose="020B0402030504020804" pitchFamily="34" charset="0"/>
                <a:ea typeface="Microsoft JhengHei Light" panose="020B0304030504040204" pitchFamily="34" charset="-120"/>
              </a:rPr>
              <a:t>cProfile</a:t>
            </a:r>
            <a:r>
              <a:rPr lang="fr-FR" sz="3200" dirty="0">
                <a:latin typeface="Eras Light ITC" panose="020B0402030504020804" pitchFamily="34" charset="0"/>
                <a:ea typeface="Microsoft JhengHei Light" panose="020B0304030504040204" pitchFamily="34" charset="-120"/>
              </a:rPr>
              <a:t> et o</a:t>
            </a:r>
            <a:r>
              <a:rPr lang="fr-FR" sz="3200" noProof="0" dirty="0" err="1">
                <a:latin typeface="Eras Light ITC" panose="020B0402030504020804" pitchFamily="34" charset="0"/>
                <a:ea typeface="Microsoft JhengHei Light" panose="020B0304030504040204" pitchFamily="34" charset="-120"/>
              </a:rPr>
              <a:t>nnx</a:t>
            </a:r>
            <a:r>
              <a:rPr lang="fr-FR" sz="3200" noProof="0" dirty="0">
                <a:latin typeface="Eras Light ITC" panose="020B0402030504020804" pitchFamily="34" charset="0"/>
                <a:ea typeface="Microsoft JhengHei Light" panose="020B0304030504040204" pitchFamily="34" charset="-120"/>
              </a:rPr>
              <a:t> runtime</a:t>
            </a:r>
            <a:endParaRPr lang="fr-FR" sz="3200" noProof="0" dirty="0">
              <a:latin typeface="Eras Light ITC" panose="020B0402030504020804" pitchFamily="34" charset="0"/>
              <a:ea typeface="Microsoft JhengHei UI Light" panose="020B0304030504040204" pitchFamily="34" charset="-120"/>
            </a:endParaRPr>
          </a:p>
        </p:txBody>
      </p:sp>
      <p:sp>
        <p:nvSpPr>
          <p:cNvPr id="13" name="ZoneTexte 12">
            <a:extLst>
              <a:ext uri="{FF2B5EF4-FFF2-40B4-BE49-F238E27FC236}">
                <a16:creationId xmlns:a16="http://schemas.microsoft.com/office/drawing/2014/main" id="{98748F0D-56D8-6C4E-FB30-1A0D1E9A0384}"/>
              </a:ext>
            </a:extLst>
          </p:cNvPr>
          <p:cNvSpPr txBox="1"/>
          <p:nvPr/>
        </p:nvSpPr>
        <p:spPr>
          <a:xfrm>
            <a:off x="251709" y="3327586"/>
            <a:ext cx="5301598" cy="1077218"/>
          </a:xfrm>
          <a:prstGeom prst="rect">
            <a:avLst/>
          </a:prstGeom>
          <a:noFill/>
          <a:ln>
            <a:noFill/>
          </a:ln>
        </p:spPr>
        <p:txBody>
          <a:bodyPr wrap="square" rtlCol="0">
            <a:spAutoFit/>
          </a:bodyPr>
          <a:lstStyle/>
          <a:p>
            <a:r>
              <a:rPr lang="fr-FR" sz="3200" noProof="0" dirty="0">
                <a:latin typeface="Eras Light ITC" panose="020B0402030504020804" pitchFamily="34" charset="0"/>
                <a:ea typeface="Microsoft JhengHei Light" panose="020B0304030504040204" pitchFamily="34" charset="-120"/>
              </a:rPr>
              <a:t>Dur</a:t>
            </a:r>
            <a:r>
              <a:rPr lang="fr-FR" sz="3200" dirty="0" err="1">
                <a:latin typeface="Eras Light ITC" panose="020B0402030504020804" pitchFamily="34" charset="0"/>
                <a:ea typeface="Microsoft JhengHei Light" panose="020B0304030504040204" pitchFamily="34" charset="-120"/>
              </a:rPr>
              <a:t>ée</a:t>
            </a:r>
            <a:r>
              <a:rPr lang="fr-FR" sz="3200" dirty="0">
                <a:latin typeface="Eras Light ITC" panose="020B0402030504020804" pitchFamily="34" charset="0"/>
                <a:ea typeface="Microsoft JhengHei Light" panose="020B0304030504040204" pitchFamily="34" charset="-120"/>
              </a:rPr>
              <a:t> moyenne du pipeline : 31ms (Inférence = 71%)</a:t>
            </a:r>
            <a:endParaRPr lang="fr-FR" sz="3200" noProof="0" dirty="0">
              <a:latin typeface="Eras Light ITC" panose="020B0402030504020804" pitchFamily="34" charset="0"/>
              <a:ea typeface="Microsoft JhengHei UI Light" panose="020B0304030504040204" pitchFamily="34" charset="-120"/>
            </a:endParaRPr>
          </a:p>
        </p:txBody>
      </p:sp>
    </p:spTree>
    <p:extLst>
      <p:ext uri="{BB962C8B-B14F-4D97-AF65-F5344CB8AC3E}">
        <p14:creationId xmlns:p14="http://schemas.microsoft.com/office/powerpoint/2010/main" val="9692965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49C27-CEE7-B1FC-08CB-E986C3C15918}"/>
            </a:ext>
          </a:extLst>
        </p:cNvPr>
        <p:cNvGrpSpPr/>
        <p:nvPr/>
      </p:nvGrpSpPr>
      <p:grpSpPr>
        <a:xfrm>
          <a:off x="0" y="0"/>
          <a:ext cx="0" cy="0"/>
          <a:chOff x="0" y="0"/>
          <a:chExt cx="0" cy="0"/>
        </a:xfrm>
      </p:grpSpPr>
      <p:sp>
        <p:nvSpPr>
          <p:cNvPr id="5" name="ZoneTexte 4">
            <a:extLst>
              <a:ext uri="{FF2B5EF4-FFF2-40B4-BE49-F238E27FC236}">
                <a16:creationId xmlns:a16="http://schemas.microsoft.com/office/drawing/2014/main" id="{22F87969-F3B0-FD80-3705-67C81F733544}"/>
              </a:ext>
            </a:extLst>
          </p:cNvPr>
          <p:cNvSpPr txBox="1"/>
          <p:nvPr/>
        </p:nvSpPr>
        <p:spPr>
          <a:xfrm>
            <a:off x="381600" y="632143"/>
            <a:ext cx="10012466" cy="1323439"/>
          </a:xfrm>
          <a:prstGeom prst="rect">
            <a:avLst/>
          </a:prstGeom>
          <a:noFill/>
        </p:spPr>
        <p:txBody>
          <a:bodyPr wrap="square" rtlCol="0">
            <a:spAutoFit/>
          </a:bodyPr>
          <a:lstStyle/>
          <a:p>
            <a:r>
              <a:rPr lang="fr-FR" sz="4000" dirty="0">
                <a:latin typeface="Eras Demi ITC" panose="020B0805030504020804" pitchFamily="34" charset="0"/>
              </a:rPr>
              <a:t>III</a:t>
            </a:r>
            <a:r>
              <a:rPr lang="fr-FR" sz="4000" noProof="0" dirty="0">
                <a:latin typeface="Eras Demi ITC" panose="020B0805030504020804" pitchFamily="34" charset="0"/>
              </a:rPr>
              <a:t>. Résultats du monitoring et optimisation</a:t>
            </a:r>
          </a:p>
        </p:txBody>
      </p:sp>
      <p:sp>
        <p:nvSpPr>
          <p:cNvPr id="4" name="ZoneTexte 3">
            <a:extLst>
              <a:ext uri="{FF2B5EF4-FFF2-40B4-BE49-F238E27FC236}">
                <a16:creationId xmlns:a16="http://schemas.microsoft.com/office/drawing/2014/main" id="{D71AAED4-AF28-9D47-A41A-0ADECF4D0551}"/>
              </a:ext>
            </a:extLst>
          </p:cNvPr>
          <p:cNvSpPr txBox="1"/>
          <p:nvPr/>
        </p:nvSpPr>
        <p:spPr>
          <a:xfrm>
            <a:off x="167718" y="2076886"/>
            <a:ext cx="5796202" cy="584775"/>
          </a:xfrm>
          <a:prstGeom prst="rect">
            <a:avLst/>
          </a:prstGeom>
          <a:noFill/>
          <a:ln>
            <a:noFill/>
          </a:ln>
        </p:spPr>
        <p:txBody>
          <a:bodyPr wrap="square" rtlCol="0">
            <a:spAutoFit/>
          </a:bodyPr>
          <a:lstStyle/>
          <a:p>
            <a:r>
              <a:rPr lang="fr-FR" sz="3200" b="1" noProof="0" dirty="0">
                <a:ea typeface="Microsoft JhengHei UI" panose="020B0604030504040204" pitchFamily="34" charset="-120"/>
              </a:rPr>
              <a:t>Optimisation du modèle :</a:t>
            </a:r>
            <a:endParaRPr lang="fr-FR" sz="3200" i="1" noProof="0" dirty="0">
              <a:ea typeface="Microsoft JhengHei UI Light" panose="020B0304030504040204" pitchFamily="34" charset="-120"/>
            </a:endParaRPr>
          </a:p>
        </p:txBody>
      </p:sp>
      <p:sp>
        <p:nvSpPr>
          <p:cNvPr id="7" name="ZoneTexte 6">
            <a:extLst>
              <a:ext uri="{FF2B5EF4-FFF2-40B4-BE49-F238E27FC236}">
                <a16:creationId xmlns:a16="http://schemas.microsoft.com/office/drawing/2014/main" id="{390D90A3-2E34-7CF3-7374-35C62EB697DC}"/>
              </a:ext>
            </a:extLst>
          </p:cNvPr>
          <p:cNvSpPr txBox="1"/>
          <p:nvPr/>
        </p:nvSpPr>
        <p:spPr>
          <a:xfrm>
            <a:off x="251709" y="2490577"/>
            <a:ext cx="4911306" cy="584775"/>
          </a:xfrm>
          <a:prstGeom prst="rect">
            <a:avLst/>
          </a:prstGeom>
          <a:noFill/>
          <a:ln>
            <a:noFill/>
          </a:ln>
        </p:spPr>
        <p:txBody>
          <a:bodyPr wrap="square" rtlCol="0">
            <a:spAutoFit/>
          </a:bodyPr>
          <a:lstStyle/>
          <a:p>
            <a:r>
              <a:rPr lang="fr-FR" sz="3200" dirty="0" err="1">
                <a:latin typeface="Eras Light ITC" panose="020B0402030504020804" pitchFamily="34" charset="0"/>
                <a:ea typeface="Microsoft JhengHei Light" panose="020B0304030504040204" pitchFamily="34" charset="-120"/>
              </a:rPr>
              <a:t>cProfile</a:t>
            </a:r>
            <a:r>
              <a:rPr lang="fr-FR" sz="3200" dirty="0">
                <a:latin typeface="Eras Light ITC" panose="020B0402030504020804" pitchFamily="34" charset="0"/>
                <a:ea typeface="Microsoft JhengHei Light" panose="020B0304030504040204" pitchFamily="34" charset="-120"/>
              </a:rPr>
              <a:t> et o</a:t>
            </a:r>
            <a:r>
              <a:rPr lang="fr-FR" sz="3200" noProof="0" dirty="0" err="1">
                <a:latin typeface="Eras Light ITC" panose="020B0402030504020804" pitchFamily="34" charset="0"/>
                <a:ea typeface="Microsoft JhengHei Light" panose="020B0304030504040204" pitchFamily="34" charset="-120"/>
              </a:rPr>
              <a:t>nnx</a:t>
            </a:r>
            <a:r>
              <a:rPr lang="fr-FR" sz="3200" noProof="0" dirty="0">
                <a:latin typeface="Eras Light ITC" panose="020B0402030504020804" pitchFamily="34" charset="0"/>
                <a:ea typeface="Microsoft JhengHei Light" panose="020B0304030504040204" pitchFamily="34" charset="-120"/>
              </a:rPr>
              <a:t> runtime</a:t>
            </a:r>
            <a:endParaRPr lang="fr-FR" sz="3200" noProof="0" dirty="0">
              <a:latin typeface="Eras Light ITC" panose="020B0402030504020804" pitchFamily="34" charset="0"/>
              <a:ea typeface="Microsoft JhengHei UI Light" panose="020B0304030504040204" pitchFamily="34" charset="-120"/>
            </a:endParaRPr>
          </a:p>
        </p:txBody>
      </p:sp>
      <p:pic>
        <p:nvPicPr>
          <p:cNvPr id="11" name="Image 10">
            <a:extLst>
              <a:ext uri="{FF2B5EF4-FFF2-40B4-BE49-F238E27FC236}">
                <a16:creationId xmlns:a16="http://schemas.microsoft.com/office/drawing/2014/main" id="{7350D8FA-E376-4F41-2F73-FF8D81A23F3E}"/>
              </a:ext>
            </a:extLst>
          </p:cNvPr>
          <p:cNvPicPr>
            <a:picLocks noChangeAspect="1"/>
          </p:cNvPicPr>
          <p:nvPr/>
        </p:nvPicPr>
        <p:blipFill>
          <a:blip r:embed="rId3">
            <a:extLst>
              <a:ext uri="{28A0092B-C50C-407E-A947-70E740481C1C}">
                <a14:useLocalDpi xmlns:a14="http://schemas.microsoft.com/office/drawing/2010/main" val="0"/>
              </a:ext>
            </a:extLst>
          </a:blip>
          <a:srcRect l="30176" r="27750" b="68498"/>
          <a:stretch>
            <a:fillRect/>
          </a:stretch>
        </p:blipFill>
        <p:spPr>
          <a:xfrm>
            <a:off x="5729527" y="1499753"/>
            <a:ext cx="6210764" cy="5236327"/>
          </a:xfrm>
          <a:prstGeom prst="rect">
            <a:avLst/>
          </a:prstGeom>
        </p:spPr>
      </p:pic>
      <p:sp>
        <p:nvSpPr>
          <p:cNvPr id="13" name="ZoneTexte 12">
            <a:extLst>
              <a:ext uri="{FF2B5EF4-FFF2-40B4-BE49-F238E27FC236}">
                <a16:creationId xmlns:a16="http://schemas.microsoft.com/office/drawing/2014/main" id="{8A837EFC-4D4B-87AC-80B1-02A4A8E96D5B}"/>
              </a:ext>
            </a:extLst>
          </p:cNvPr>
          <p:cNvSpPr txBox="1"/>
          <p:nvPr/>
        </p:nvSpPr>
        <p:spPr>
          <a:xfrm>
            <a:off x="251709" y="3327586"/>
            <a:ext cx="5301598" cy="1077218"/>
          </a:xfrm>
          <a:prstGeom prst="rect">
            <a:avLst/>
          </a:prstGeom>
          <a:noFill/>
          <a:ln>
            <a:noFill/>
          </a:ln>
        </p:spPr>
        <p:txBody>
          <a:bodyPr wrap="square" rtlCol="0">
            <a:spAutoFit/>
          </a:bodyPr>
          <a:lstStyle/>
          <a:p>
            <a:r>
              <a:rPr lang="fr-FR" sz="3200" noProof="0" dirty="0">
                <a:latin typeface="Eras Light ITC" panose="020B0402030504020804" pitchFamily="34" charset="0"/>
                <a:ea typeface="Microsoft JhengHei Light" panose="020B0304030504040204" pitchFamily="34" charset="-120"/>
              </a:rPr>
              <a:t>Dur</a:t>
            </a:r>
            <a:r>
              <a:rPr lang="fr-FR" sz="3200" dirty="0" err="1">
                <a:latin typeface="Eras Light ITC" panose="020B0402030504020804" pitchFamily="34" charset="0"/>
                <a:ea typeface="Microsoft JhengHei Light" panose="020B0304030504040204" pitchFamily="34" charset="-120"/>
              </a:rPr>
              <a:t>ée</a:t>
            </a:r>
            <a:r>
              <a:rPr lang="fr-FR" sz="3200" dirty="0">
                <a:latin typeface="Eras Light ITC" panose="020B0402030504020804" pitchFamily="34" charset="0"/>
                <a:ea typeface="Microsoft JhengHei Light" panose="020B0304030504040204" pitchFamily="34" charset="-120"/>
              </a:rPr>
              <a:t> moyenne du pipeline : 31ms (Inférence = 71%)</a:t>
            </a:r>
            <a:endParaRPr lang="fr-FR" sz="3200" noProof="0" dirty="0">
              <a:latin typeface="Eras Light ITC" panose="020B0402030504020804" pitchFamily="34" charset="0"/>
              <a:ea typeface="Microsoft JhengHei UI Light" panose="020B0304030504040204" pitchFamily="34" charset="-120"/>
            </a:endParaRPr>
          </a:p>
        </p:txBody>
      </p:sp>
      <p:sp>
        <p:nvSpPr>
          <p:cNvPr id="6" name="Rectangle 5">
            <a:extLst>
              <a:ext uri="{FF2B5EF4-FFF2-40B4-BE49-F238E27FC236}">
                <a16:creationId xmlns:a16="http://schemas.microsoft.com/office/drawing/2014/main" id="{4E6C1FF8-9486-1EFD-0405-642B3194A064}"/>
              </a:ext>
            </a:extLst>
          </p:cNvPr>
          <p:cNvSpPr/>
          <p:nvPr/>
        </p:nvSpPr>
        <p:spPr>
          <a:xfrm>
            <a:off x="251709" y="4805680"/>
            <a:ext cx="4911306" cy="1077218"/>
          </a:xfrm>
          <a:prstGeom prst="rect">
            <a:avLst/>
          </a:prstGeom>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3" name="Straight Arrow Connector 2">
            <a:extLst>
              <a:ext uri="{FF2B5EF4-FFF2-40B4-BE49-F238E27FC236}">
                <a16:creationId xmlns:a16="http://schemas.microsoft.com/office/drawing/2014/main" id="{7969D181-9F5F-C34D-5421-0DC22635D4C9}"/>
              </a:ext>
            </a:extLst>
          </p:cNvPr>
          <p:cNvCxnSpPr>
            <a:cxnSpLocks/>
          </p:cNvCxnSpPr>
          <p:nvPr/>
        </p:nvCxnSpPr>
        <p:spPr>
          <a:xfrm>
            <a:off x="462880" y="5100320"/>
            <a:ext cx="624240"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9" name="ZoneTexte 12">
            <a:extLst>
              <a:ext uri="{FF2B5EF4-FFF2-40B4-BE49-F238E27FC236}">
                <a16:creationId xmlns:a16="http://schemas.microsoft.com/office/drawing/2014/main" id="{3B86516C-D9E0-081D-8DFB-B2ECB61904BE}"/>
              </a:ext>
            </a:extLst>
          </p:cNvPr>
          <p:cNvSpPr txBox="1"/>
          <p:nvPr/>
        </p:nvSpPr>
        <p:spPr>
          <a:xfrm>
            <a:off x="1263340" y="4896991"/>
            <a:ext cx="3899675" cy="830997"/>
          </a:xfrm>
          <a:prstGeom prst="rect">
            <a:avLst/>
          </a:prstGeom>
          <a:noFill/>
          <a:ln>
            <a:noFill/>
          </a:ln>
        </p:spPr>
        <p:txBody>
          <a:bodyPr wrap="square" rtlCol="0">
            <a:spAutoFit/>
          </a:bodyPr>
          <a:lstStyle/>
          <a:p>
            <a:r>
              <a:rPr lang="fr-FR" sz="2400" b="1" noProof="0" dirty="0">
                <a:latin typeface="Eras Light ITC" panose="020B0402030504020804" pitchFamily="34" charset="0"/>
                <a:ea typeface="Microsoft JhengHei Light" panose="020B0304030504040204" pitchFamily="34" charset="-120"/>
              </a:rPr>
              <a:t>Goulot d’étranglement :</a:t>
            </a:r>
          </a:p>
          <a:p>
            <a:r>
              <a:rPr lang="fr-FR" sz="2400" b="1" dirty="0" err="1">
                <a:latin typeface="Eras Light ITC" panose="020B0402030504020804" pitchFamily="34" charset="0"/>
                <a:ea typeface="Microsoft JhengHei Light" panose="020B0304030504040204" pitchFamily="34" charset="-120"/>
              </a:rPr>
              <a:t>Sklearn</a:t>
            </a:r>
            <a:r>
              <a:rPr lang="fr-FR" sz="2400" b="1" dirty="0">
                <a:latin typeface="Eras Light ITC" panose="020B0402030504020804" pitchFamily="34" charset="0"/>
                <a:ea typeface="Microsoft JhengHei Light" panose="020B0304030504040204" pitchFamily="34" charset="-120"/>
              </a:rPr>
              <a:t>        fonction </a:t>
            </a:r>
            <a:r>
              <a:rPr lang="fr-FR" sz="2400" b="1" dirty="0" err="1">
                <a:latin typeface="Eras Light ITC" panose="020B0402030504020804" pitchFamily="34" charset="0"/>
                <a:ea typeface="Microsoft JhengHei Light" panose="020B0304030504040204" pitchFamily="34" charset="-120"/>
              </a:rPr>
              <a:t>predict</a:t>
            </a:r>
            <a:endParaRPr lang="fr-FR" sz="2400" b="1" noProof="0" dirty="0">
              <a:latin typeface="Eras Light ITC" panose="020B0402030504020804" pitchFamily="34" charset="0"/>
              <a:ea typeface="Microsoft JhengHei UI Light" panose="020B0304030504040204" pitchFamily="34" charset="-120"/>
            </a:endParaRPr>
          </a:p>
        </p:txBody>
      </p:sp>
      <p:cxnSp>
        <p:nvCxnSpPr>
          <p:cNvPr id="10" name="Straight Arrow Connector 9">
            <a:extLst>
              <a:ext uri="{FF2B5EF4-FFF2-40B4-BE49-F238E27FC236}">
                <a16:creationId xmlns:a16="http://schemas.microsoft.com/office/drawing/2014/main" id="{2FD128D9-A2B3-5171-F470-DA891210B821}"/>
              </a:ext>
            </a:extLst>
          </p:cNvPr>
          <p:cNvCxnSpPr>
            <a:cxnSpLocks/>
          </p:cNvCxnSpPr>
          <p:nvPr/>
        </p:nvCxnSpPr>
        <p:spPr>
          <a:xfrm>
            <a:off x="2398082" y="5506720"/>
            <a:ext cx="360080"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BD4B49C7-2D25-1428-2A46-63838E6F8242}"/>
              </a:ext>
            </a:extLst>
          </p:cNvPr>
          <p:cNvSpPr/>
          <p:nvPr/>
        </p:nvSpPr>
        <p:spPr>
          <a:xfrm>
            <a:off x="5729527" y="2684227"/>
            <a:ext cx="1310640" cy="1512113"/>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11328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61774-17B2-316B-B5E3-C8ECC654D36E}"/>
            </a:ext>
          </a:extLst>
        </p:cNvPr>
        <p:cNvGrpSpPr/>
        <p:nvPr/>
      </p:nvGrpSpPr>
      <p:grpSpPr>
        <a:xfrm>
          <a:off x="0" y="0"/>
          <a:ext cx="0" cy="0"/>
          <a:chOff x="0" y="0"/>
          <a:chExt cx="0" cy="0"/>
        </a:xfrm>
      </p:grpSpPr>
      <p:sp>
        <p:nvSpPr>
          <p:cNvPr id="5" name="ZoneTexte 4">
            <a:extLst>
              <a:ext uri="{FF2B5EF4-FFF2-40B4-BE49-F238E27FC236}">
                <a16:creationId xmlns:a16="http://schemas.microsoft.com/office/drawing/2014/main" id="{3894094E-56AD-D7E0-BF48-63B4518BF1FC}"/>
              </a:ext>
            </a:extLst>
          </p:cNvPr>
          <p:cNvSpPr txBox="1"/>
          <p:nvPr/>
        </p:nvSpPr>
        <p:spPr>
          <a:xfrm>
            <a:off x="381600" y="632143"/>
            <a:ext cx="10012466" cy="1323439"/>
          </a:xfrm>
          <a:prstGeom prst="rect">
            <a:avLst/>
          </a:prstGeom>
          <a:noFill/>
        </p:spPr>
        <p:txBody>
          <a:bodyPr wrap="square" rtlCol="0">
            <a:spAutoFit/>
          </a:bodyPr>
          <a:lstStyle/>
          <a:p>
            <a:r>
              <a:rPr lang="fr-FR" sz="4000" dirty="0">
                <a:latin typeface="Eras Demi ITC" panose="020B0805030504020804" pitchFamily="34" charset="0"/>
              </a:rPr>
              <a:t>III</a:t>
            </a:r>
            <a:r>
              <a:rPr lang="fr-FR" sz="4000" noProof="0" dirty="0">
                <a:latin typeface="Eras Demi ITC" panose="020B0805030504020804" pitchFamily="34" charset="0"/>
              </a:rPr>
              <a:t>. Résultats du monitoring et optimisation</a:t>
            </a:r>
          </a:p>
        </p:txBody>
      </p:sp>
      <p:pic>
        <p:nvPicPr>
          <p:cNvPr id="3" name="Image 2">
            <a:extLst>
              <a:ext uri="{FF2B5EF4-FFF2-40B4-BE49-F238E27FC236}">
                <a16:creationId xmlns:a16="http://schemas.microsoft.com/office/drawing/2014/main" id="{4779BAFB-8C55-6147-EDE8-D3C1F8FF0C89}"/>
              </a:ext>
            </a:extLst>
          </p:cNvPr>
          <p:cNvPicPr>
            <a:picLocks noChangeAspect="1"/>
          </p:cNvPicPr>
          <p:nvPr/>
        </p:nvPicPr>
        <p:blipFill>
          <a:blip r:embed="rId3">
            <a:extLst>
              <a:ext uri="{28A0092B-C50C-407E-A947-70E740481C1C}">
                <a14:useLocalDpi xmlns:a14="http://schemas.microsoft.com/office/drawing/2010/main" val="0"/>
              </a:ext>
            </a:extLst>
          </a:blip>
          <a:srcRect l="21309" t="47" r="33259" b="59326"/>
          <a:stretch>
            <a:fillRect/>
          </a:stretch>
        </p:blipFill>
        <p:spPr>
          <a:xfrm>
            <a:off x="5553307" y="2165176"/>
            <a:ext cx="6393268" cy="4255944"/>
          </a:xfrm>
          <a:prstGeom prst="rect">
            <a:avLst/>
          </a:prstGeom>
        </p:spPr>
      </p:pic>
      <p:sp>
        <p:nvSpPr>
          <p:cNvPr id="8" name="ZoneTexte 7">
            <a:extLst>
              <a:ext uri="{FF2B5EF4-FFF2-40B4-BE49-F238E27FC236}">
                <a16:creationId xmlns:a16="http://schemas.microsoft.com/office/drawing/2014/main" id="{B94ACE82-35E3-E7B1-A889-4608302337A5}"/>
              </a:ext>
            </a:extLst>
          </p:cNvPr>
          <p:cNvSpPr txBox="1"/>
          <p:nvPr/>
        </p:nvSpPr>
        <p:spPr>
          <a:xfrm>
            <a:off x="167718" y="2076886"/>
            <a:ext cx="5796202" cy="584775"/>
          </a:xfrm>
          <a:prstGeom prst="rect">
            <a:avLst/>
          </a:prstGeom>
          <a:noFill/>
          <a:ln>
            <a:noFill/>
          </a:ln>
        </p:spPr>
        <p:txBody>
          <a:bodyPr wrap="square" rtlCol="0">
            <a:spAutoFit/>
          </a:bodyPr>
          <a:lstStyle/>
          <a:p>
            <a:r>
              <a:rPr lang="fr-FR" sz="3200" b="1" noProof="0" dirty="0">
                <a:ea typeface="Microsoft JhengHei UI" panose="020B0604030504040204" pitchFamily="34" charset="-120"/>
              </a:rPr>
              <a:t>Optimisation du modèle :</a:t>
            </a:r>
            <a:endParaRPr lang="fr-FR" sz="3200" i="1" noProof="0" dirty="0">
              <a:ea typeface="Microsoft JhengHei UI Light" panose="020B0304030504040204" pitchFamily="34" charset="-120"/>
            </a:endParaRPr>
          </a:p>
        </p:txBody>
      </p:sp>
      <p:sp>
        <p:nvSpPr>
          <p:cNvPr id="15" name="ZoneTexte 14">
            <a:extLst>
              <a:ext uri="{FF2B5EF4-FFF2-40B4-BE49-F238E27FC236}">
                <a16:creationId xmlns:a16="http://schemas.microsoft.com/office/drawing/2014/main" id="{31995DC8-B439-6522-91A7-8AD4E4F1C465}"/>
              </a:ext>
            </a:extLst>
          </p:cNvPr>
          <p:cNvSpPr txBox="1"/>
          <p:nvPr/>
        </p:nvSpPr>
        <p:spPr>
          <a:xfrm>
            <a:off x="251709" y="2490577"/>
            <a:ext cx="4911306" cy="584775"/>
          </a:xfrm>
          <a:prstGeom prst="rect">
            <a:avLst/>
          </a:prstGeom>
          <a:noFill/>
          <a:ln>
            <a:noFill/>
          </a:ln>
        </p:spPr>
        <p:txBody>
          <a:bodyPr wrap="square" rtlCol="0">
            <a:spAutoFit/>
          </a:bodyPr>
          <a:lstStyle/>
          <a:p>
            <a:r>
              <a:rPr lang="fr-FR" sz="3200" dirty="0" err="1">
                <a:latin typeface="Eras Light ITC" panose="020B0402030504020804" pitchFamily="34" charset="0"/>
                <a:ea typeface="Microsoft JhengHei Light" panose="020B0304030504040204" pitchFamily="34" charset="-120"/>
              </a:rPr>
              <a:t>cProfile</a:t>
            </a:r>
            <a:r>
              <a:rPr lang="fr-FR" sz="3200" dirty="0">
                <a:latin typeface="Eras Light ITC" panose="020B0402030504020804" pitchFamily="34" charset="0"/>
                <a:ea typeface="Microsoft JhengHei Light" panose="020B0304030504040204" pitchFamily="34" charset="-120"/>
              </a:rPr>
              <a:t> et o</a:t>
            </a:r>
            <a:r>
              <a:rPr lang="fr-FR" sz="3200" noProof="0" dirty="0" err="1">
                <a:latin typeface="Eras Light ITC" panose="020B0402030504020804" pitchFamily="34" charset="0"/>
                <a:ea typeface="Microsoft JhengHei Light" panose="020B0304030504040204" pitchFamily="34" charset="-120"/>
              </a:rPr>
              <a:t>nnx</a:t>
            </a:r>
            <a:r>
              <a:rPr lang="fr-FR" sz="3200" noProof="0" dirty="0">
                <a:latin typeface="Eras Light ITC" panose="020B0402030504020804" pitchFamily="34" charset="0"/>
                <a:ea typeface="Microsoft JhengHei Light" panose="020B0304030504040204" pitchFamily="34" charset="-120"/>
              </a:rPr>
              <a:t> runtime</a:t>
            </a:r>
            <a:endParaRPr lang="fr-FR" sz="3200" noProof="0" dirty="0">
              <a:latin typeface="Eras Light ITC" panose="020B0402030504020804" pitchFamily="34" charset="0"/>
              <a:ea typeface="Microsoft JhengHei UI Light" panose="020B0304030504040204" pitchFamily="34" charset="-120"/>
            </a:endParaRPr>
          </a:p>
        </p:txBody>
      </p:sp>
      <p:sp>
        <p:nvSpPr>
          <p:cNvPr id="17" name="ZoneTexte 16">
            <a:extLst>
              <a:ext uri="{FF2B5EF4-FFF2-40B4-BE49-F238E27FC236}">
                <a16:creationId xmlns:a16="http://schemas.microsoft.com/office/drawing/2014/main" id="{D451A7FD-3D56-75D0-BCA2-7CF2DAE1AC43}"/>
              </a:ext>
            </a:extLst>
          </p:cNvPr>
          <p:cNvSpPr txBox="1"/>
          <p:nvPr/>
        </p:nvSpPr>
        <p:spPr>
          <a:xfrm>
            <a:off x="251709" y="3327586"/>
            <a:ext cx="5301598" cy="1077218"/>
          </a:xfrm>
          <a:prstGeom prst="rect">
            <a:avLst/>
          </a:prstGeom>
          <a:noFill/>
          <a:ln>
            <a:noFill/>
          </a:ln>
        </p:spPr>
        <p:txBody>
          <a:bodyPr wrap="square" rtlCol="0">
            <a:spAutoFit/>
          </a:bodyPr>
          <a:lstStyle/>
          <a:p>
            <a:r>
              <a:rPr lang="fr-FR" sz="3200" noProof="0" dirty="0">
                <a:latin typeface="Eras Light ITC" panose="020B0402030504020804" pitchFamily="34" charset="0"/>
                <a:ea typeface="Microsoft JhengHei Light" panose="020B0304030504040204" pitchFamily="34" charset="-120"/>
              </a:rPr>
              <a:t>Dur</a:t>
            </a:r>
            <a:r>
              <a:rPr lang="fr-FR" sz="3200" dirty="0" err="1">
                <a:latin typeface="Eras Light ITC" panose="020B0402030504020804" pitchFamily="34" charset="0"/>
                <a:ea typeface="Microsoft JhengHei Light" panose="020B0304030504040204" pitchFamily="34" charset="-120"/>
              </a:rPr>
              <a:t>ée</a:t>
            </a:r>
            <a:r>
              <a:rPr lang="fr-FR" sz="3200" dirty="0">
                <a:latin typeface="Eras Light ITC" panose="020B0402030504020804" pitchFamily="34" charset="0"/>
                <a:ea typeface="Microsoft JhengHei Light" panose="020B0304030504040204" pitchFamily="34" charset="-120"/>
              </a:rPr>
              <a:t> moyenne du pipeline : 18ms (Inférence = 66%)</a:t>
            </a:r>
            <a:endParaRPr lang="fr-FR" sz="3200" noProof="0" dirty="0">
              <a:latin typeface="Eras Light ITC" panose="020B0402030504020804" pitchFamily="34" charset="0"/>
              <a:ea typeface="Microsoft JhengHei UI Light" panose="020B0304030504040204" pitchFamily="34" charset="-120"/>
            </a:endParaRPr>
          </a:p>
        </p:txBody>
      </p:sp>
      <p:sp>
        <p:nvSpPr>
          <p:cNvPr id="2" name="Rectangle 1">
            <a:extLst>
              <a:ext uri="{FF2B5EF4-FFF2-40B4-BE49-F238E27FC236}">
                <a16:creationId xmlns:a16="http://schemas.microsoft.com/office/drawing/2014/main" id="{A78C720F-D9C4-D524-5B7E-2B3C77C2F393}"/>
              </a:ext>
            </a:extLst>
          </p:cNvPr>
          <p:cNvSpPr/>
          <p:nvPr/>
        </p:nvSpPr>
        <p:spPr>
          <a:xfrm>
            <a:off x="251709" y="4805680"/>
            <a:ext cx="4911306" cy="1077218"/>
          </a:xfrm>
          <a:prstGeom prst="rect">
            <a:avLst/>
          </a:prstGeom>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4" name="Straight Arrow Connector 3">
            <a:extLst>
              <a:ext uri="{FF2B5EF4-FFF2-40B4-BE49-F238E27FC236}">
                <a16:creationId xmlns:a16="http://schemas.microsoft.com/office/drawing/2014/main" id="{90FD56F8-7CB9-C210-E32E-734AD7BC82FF}"/>
              </a:ext>
            </a:extLst>
          </p:cNvPr>
          <p:cNvCxnSpPr>
            <a:cxnSpLocks/>
          </p:cNvCxnSpPr>
          <p:nvPr/>
        </p:nvCxnSpPr>
        <p:spPr>
          <a:xfrm>
            <a:off x="462880" y="5100320"/>
            <a:ext cx="624240" cy="0"/>
          </a:xfrm>
          <a:prstGeom prst="straightConnector1">
            <a:avLst/>
          </a:prstGeom>
          <a:ln w="3810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6" name="ZoneTexte 12">
            <a:extLst>
              <a:ext uri="{FF2B5EF4-FFF2-40B4-BE49-F238E27FC236}">
                <a16:creationId xmlns:a16="http://schemas.microsoft.com/office/drawing/2014/main" id="{976ADC03-2BC2-DCE7-30A4-68335B28A399}"/>
              </a:ext>
            </a:extLst>
          </p:cNvPr>
          <p:cNvSpPr txBox="1"/>
          <p:nvPr/>
        </p:nvSpPr>
        <p:spPr>
          <a:xfrm>
            <a:off x="1263340" y="4896991"/>
            <a:ext cx="3899675" cy="830997"/>
          </a:xfrm>
          <a:prstGeom prst="rect">
            <a:avLst/>
          </a:prstGeom>
          <a:noFill/>
          <a:ln>
            <a:noFill/>
          </a:ln>
        </p:spPr>
        <p:txBody>
          <a:bodyPr wrap="square" rtlCol="0">
            <a:spAutoFit/>
          </a:bodyPr>
          <a:lstStyle/>
          <a:p>
            <a:r>
              <a:rPr lang="fr-FR" sz="2400" b="1" dirty="0">
                <a:latin typeface="Eras Light ITC" panose="020B0402030504020804" pitchFamily="34" charset="0"/>
                <a:ea typeface="Microsoft JhengHei Light" panose="020B0304030504040204" pitchFamily="34" charset="-120"/>
              </a:rPr>
              <a:t>Temps de traitement moyen divisé par 2.</a:t>
            </a:r>
            <a:endParaRPr lang="fr-FR" sz="2400" b="1" noProof="0" dirty="0">
              <a:latin typeface="Eras Light ITC" panose="020B0402030504020804" pitchFamily="34" charset="0"/>
              <a:ea typeface="Microsoft JhengHei UI Light" panose="020B0304030504040204" pitchFamily="34" charset="-120"/>
            </a:endParaRPr>
          </a:p>
        </p:txBody>
      </p:sp>
    </p:spTree>
    <p:extLst>
      <p:ext uri="{BB962C8B-B14F-4D97-AF65-F5344CB8AC3E}">
        <p14:creationId xmlns:p14="http://schemas.microsoft.com/office/powerpoint/2010/main" val="31761129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4BBA8-251F-CE49-558E-F48B846E23C5}"/>
            </a:ext>
          </a:extLst>
        </p:cNvPr>
        <p:cNvGrpSpPr/>
        <p:nvPr/>
      </p:nvGrpSpPr>
      <p:grpSpPr>
        <a:xfrm>
          <a:off x="0" y="0"/>
          <a:ext cx="0" cy="0"/>
          <a:chOff x="0" y="0"/>
          <a:chExt cx="0" cy="0"/>
        </a:xfrm>
      </p:grpSpPr>
      <p:sp>
        <p:nvSpPr>
          <p:cNvPr id="13" name="ZoneTexte 12">
            <a:extLst>
              <a:ext uri="{FF2B5EF4-FFF2-40B4-BE49-F238E27FC236}">
                <a16:creationId xmlns:a16="http://schemas.microsoft.com/office/drawing/2014/main" id="{3D9F2927-4B71-6B2E-07FE-E96FC54EE9C4}"/>
              </a:ext>
            </a:extLst>
          </p:cNvPr>
          <p:cNvSpPr txBox="1"/>
          <p:nvPr/>
        </p:nvSpPr>
        <p:spPr>
          <a:xfrm>
            <a:off x="381600" y="909243"/>
            <a:ext cx="2877711" cy="707886"/>
          </a:xfrm>
          <a:prstGeom prst="rect">
            <a:avLst/>
          </a:prstGeom>
          <a:noFill/>
        </p:spPr>
        <p:txBody>
          <a:bodyPr wrap="none" rtlCol="0">
            <a:spAutoFit/>
          </a:bodyPr>
          <a:lstStyle/>
          <a:p>
            <a:r>
              <a:rPr lang="fr-FR" sz="4000" noProof="0" dirty="0">
                <a:latin typeface="Eras Demi ITC" panose="020B0805030504020804" pitchFamily="34" charset="0"/>
              </a:rPr>
              <a:t>Conclusion</a:t>
            </a:r>
          </a:p>
        </p:txBody>
      </p:sp>
      <p:sp>
        <p:nvSpPr>
          <p:cNvPr id="3" name="ZoneTexte 2">
            <a:extLst>
              <a:ext uri="{FF2B5EF4-FFF2-40B4-BE49-F238E27FC236}">
                <a16:creationId xmlns:a16="http://schemas.microsoft.com/office/drawing/2014/main" id="{DCC69F91-2F2F-04E8-EE38-1F1317AD6ED1}"/>
              </a:ext>
            </a:extLst>
          </p:cNvPr>
          <p:cNvSpPr txBox="1"/>
          <p:nvPr/>
        </p:nvSpPr>
        <p:spPr>
          <a:xfrm>
            <a:off x="381600" y="2268350"/>
            <a:ext cx="10546510" cy="1384995"/>
          </a:xfrm>
          <a:prstGeom prst="rect">
            <a:avLst/>
          </a:prstGeom>
          <a:noFill/>
          <a:ln>
            <a:noFill/>
          </a:ln>
        </p:spPr>
        <p:txBody>
          <a:bodyPr wrap="square" rtlCol="0">
            <a:spAutoFit/>
          </a:bodyPr>
          <a:lstStyle/>
          <a:p>
            <a:pPr marL="457200" indent="-457200">
              <a:buFont typeface="Arial" panose="020B0604020202020204" pitchFamily="34" charset="0"/>
              <a:buChar char="•"/>
            </a:pPr>
            <a:r>
              <a:rPr lang="fr-FR" sz="2800" noProof="0" dirty="0">
                <a:latin typeface="Eras Light ITC" panose="020B0402030504020804" pitchFamily="34" charset="0"/>
                <a:ea typeface="Microsoft JhengHei UI" panose="020B0604030504040204" pitchFamily="34" charset="-120"/>
              </a:rPr>
              <a:t>Mise en place d’une API </a:t>
            </a:r>
            <a:r>
              <a:rPr lang="fr-FR" sz="2800" noProof="0" dirty="0" err="1">
                <a:latin typeface="Eras Light ITC" panose="020B0402030504020804" pitchFamily="34" charset="0"/>
                <a:ea typeface="Microsoft JhengHei UI" panose="020B0604030504040204" pitchFamily="34" charset="-120"/>
              </a:rPr>
              <a:t>gradio</a:t>
            </a:r>
            <a:r>
              <a:rPr lang="fr-FR" sz="2800" noProof="0" dirty="0">
                <a:latin typeface="Eras Light ITC" panose="020B0402030504020804" pitchFamily="34" charset="0"/>
                <a:ea typeface="Microsoft JhengHei UI" panose="020B0604030504040204" pitchFamily="34" charset="-120"/>
              </a:rPr>
              <a:t> fonctionnelle permettant d’obtenir une prédiction du modèle de </a:t>
            </a:r>
            <a:r>
              <a:rPr lang="fr-FR" sz="2800" noProof="0" dirty="0" err="1">
                <a:latin typeface="Eras Light ITC" panose="020B0402030504020804" pitchFamily="34" charset="0"/>
                <a:ea typeface="Microsoft JhengHei UI" panose="020B0604030504040204" pitchFamily="34" charset="-120"/>
              </a:rPr>
              <a:t>scoring</a:t>
            </a:r>
            <a:r>
              <a:rPr lang="fr-FR" sz="2800" noProof="0" dirty="0">
                <a:latin typeface="Eras Light ITC" panose="020B0402030504020804" pitchFamily="34" charset="0"/>
                <a:ea typeface="Microsoft JhengHei UI" panose="020B0604030504040204" pitchFamily="34" charset="-120"/>
              </a:rPr>
              <a:t> à partir de nouvelles valeurs des variables les plus explicatives du </a:t>
            </a:r>
            <a:r>
              <a:rPr lang="fr-FR" sz="2800" noProof="0" dirty="0" err="1">
                <a:latin typeface="Eras Light ITC" panose="020B0402030504020804" pitchFamily="34" charset="0"/>
                <a:ea typeface="Microsoft JhengHei UI" panose="020B0604030504040204" pitchFamily="34" charset="-120"/>
              </a:rPr>
              <a:t>scoring</a:t>
            </a:r>
            <a:endParaRPr lang="fr-FR" sz="2800" i="1" noProof="0" dirty="0">
              <a:latin typeface="Eras Light ITC" panose="020B0402030504020804" pitchFamily="34" charset="0"/>
              <a:ea typeface="Microsoft JhengHei UI Light" panose="020B0304030504040204" pitchFamily="34" charset="-120"/>
            </a:endParaRPr>
          </a:p>
        </p:txBody>
      </p:sp>
      <p:sp>
        <p:nvSpPr>
          <p:cNvPr id="8" name="ZoneTexte 7">
            <a:extLst>
              <a:ext uri="{FF2B5EF4-FFF2-40B4-BE49-F238E27FC236}">
                <a16:creationId xmlns:a16="http://schemas.microsoft.com/office/drawing/2014/main" id="{699CCBD5-B931-CB00-AD1E-F32D35A3D0F1}"/>
              </a:ext>
            </a:extLst>
          </p:cNvPr>
          <p:cNvSpPr txBox="1"/>
          <p:nvPr/>
        </p:nvSpPr>
        <p:spPr>
          <a:xfrm>
            <a:off x="371440" y="3765625"/>
            <a:ext cx="10546510" cy="1384995"/>
          </a:xfrm>
          <a:prstGeom prst="rect">
            <a:avLst/>
          </a:prstGeom>
          <a:noFill/>
          <a:ln>
            <a:noFill/>
          </a:ln>
        </p:spPr>
        <p:txBody>
          <a:bodyPr wrap="square" rtlCol="0">
            <a:spAutoFit/>
          </a:bodyPr>
          <a:lstStyle/>
          <a:p>
            <a:pPr marL="457200" indent="-457200">
              <a:buFont typeface="Arial" panose="020B0604020202020204" pitchFamily="34" charset="0"/>
              <a:buChar char="•"/>
            </a:pPr>
            <a:r>
              <a:rPr lang="fr-FR" sz="2800" noProof="0" dirty="0">
                <a:latin typeface="Eras Light ITC" panose="020B0402030504020804" pitchFamily="34" charset="0"/>
                <a:ea typeface="Microsoft JhengHei Light" panose="020B0304030504040204" pitchFamily="34" charset="-120"/>
              </a:rPr>
              <a:t>Mise en place d’un pipeline automatique de CI/CD permettant le contrôle de la qualité et du fonctionnement du code ainsi que sont déploiement continue sur </a:t>
            </a:r>
            <a:r>
              <a:rPr lang="fr-FR" sz="2800" noProof="0" dirty="0" err="1">
                <a:latin typeface="Eras Light ITC" panose="020B0402030504020804" pitchFamily="34" charset="0"/>
                <a:ea typeface="Microsoft JhengHei Light" panose="020B0304030504040204" pitchFamily="34" charset="-120"/>
              </a:rPr>
              <a:t>HuggingFace</a:t>
            </a:r>
            <a:r>
              <a:rPr lang="fr-FR" sz="2800" noProof="0" dirty="0">
                <a:latin typeface="Eras Light ITC" panose="020B0402030504020804" pitchFamily="34" charset="0"/>
                <a:ea typeface="Microsoft JhengHei Light" panose="020B0304030504040204" pitchFamily="34" charset="-120"/>
              </a:rPr>
              <a:t> </a:t>
            </a:r>
            <a:r>
              <a:rPr lang="fr-FR" sz="2800" noProof="0" dirty="0" err="1">
                <a:latin typeface="Eras Light ITC" panose="020B0402030504020804" pitchFamily="34" charset="0"/>
                <a:ea typeface="Microsoft JhengHei Light" panose="020B0304030504040204" pitchFamily="34" charset="-120"/>
              </a:rPr>
              <a:t>Spaces</a:t>
            </a:r>
            <a:r>
              <a:rPr lang="fr-FR" sz="2800" noProof="0" dirty="0">
                <a:latin typeface="Eras Light ITC" panose="020B0402030504020804" pitchFamily="34" charset="0"/>
                <a:ea typeface="Microsoft JhengHei Light" panose="020B0304030504040204" pitchFamily="34" charset="-120"/>
              </a:rPr>
              <a:t>.	</a:t>
            </a:r>
            <a:r>
              <a:rPr lang="fr-FR" sz="2800" i="1" noProof="0" dirty="0">
                <a:latin typeface="Eras Light ITC" panose="020B0402030504020804" pitchFamily="34" charset="0"/>
                <a:ea typeface="Microsoft JhengHei Light" panose="020B0304030504040204" pitchFamily="34" charset="-120"/>
              </a:rPr>
              <a:t>	</a:t>
            </a:r>
            <a:endParaRPr lang="fr-FR" sz="2800" i="1" noProof="0" dirty="0">
              <a:latin typeface="Eras Light ITC" panose="020B0402030504020804" pitchFamily="34" charset="0"/>
              <a:ea typeface="Microsoft JhengHei UI Light" panose="020B0304030504040204" pitchFamily="34" charset="-120"/>
            </a:endParaRPr>
          </a:p>
        </p:txBody>
      </p:sp>
      <p:sp>
        <p:nvSpPr>
          <p:cNvPr id="2" name="ZoneTexte 1">
            <a:extLst>
              <a:ext uri="{FF2B5EF4-FFF2-40B4-BE49-F238E27FC236}">
                <a16:creationId xmlns:a16="http://schemas.microsoft.com/office/drawing/2014/main" id="{151E8463-C254-666E-67D7-EC59FAA829B4}"/>
              </a:ext>
            </a:extLst>
          </p:cNvPr>
          <p:cNvSpPr txBox="1"/>
          <p:nvPr/>
        </p:nvSpPr>
        <p:spPr>
          <a:xfrm>
            <a:off x="320855" y="6032824"/>
            <a:ext cx="10668000" cy="523220"/>
          </a:xfrm>
          <a:prstGeom prst="rect">
            <a:avLst/>
          </a:prstGeom>
          <a:noFill/>
        </p:spPr>
        <p:txBody>
          <a:bodyPr wrap="square">
            <a:spAutoFit/>
          </a:bodyPr>
          <a:lstStyle/>
          <a:p>
            <a:pPr marL="457200" indent="-457200">
              <a:buFont typeface="Arial" panose="020B0604020202020204" pitchFamily="34" charset="0"/>
              <a:buChar char="•"/>
            </a:pPr>
            <a:r>
              <a:rPr lang="fr-FR" sz="2800" noProof="0" dirty="0">
                <a:latin typeface="Eras Light ITC" panose="020B0402030504020804" pitchFamily="34" charset="0"/>
                <a:ea typeface="Microsoft JhengHei UI" panose="020B0604030504040204" pitchFamily="34" charset="-120"/>
              </a:rPr>
              <a:t>Documentation complète du projet.</a:t>
            </a:r>
          </a:p>
        </p:txBody>
      </p:sp>
      <p:sp>
        <p:nvSpPr>
          <p:cNvPr id="6" name="ZoneTexte 7">
            <a:extLst>
              <a:ext uri="{FF2B5EF4-FFF2-40B4-BE49-F238E27FC236}">
                <a16:creationId xmlns:a16="http://schemas.microsoft.com/office/drawing/2014/main" id="{BBCFF9EA-1D53-528D-15D9-153B334FB7B8}"/>
              </a:ext>
            </a:extLst>
          </p:cNvPr>
          <p:cNvSpPr txBox="1"/>
          <p:nvPr/>
        </p:nvSpPr>
        <p:spPr>
          <a:xfrm>
            <a:off x="361280" y="5295519"/>
            <a:ext cx="10546510" cy="523220"/>
          </a:xfrm>
          <a:prstGeom prst="rect">
            <a:avLst/>
          </a:prstGeom>
          <a:noFill/>
          <a:ln>
            <a:noFill/>
          </a:ln>
        </p:spPr>
        <p:txBody>
          <a:bodyPr wrap="square" rtlCol="0">
            <a:spAutoFit/>
          </a:bodyPr>
          <a:lstStyle/>
          <a:p>
            <a:pPr marL="457200" indent="-457200">
              <a:buFont typeface="Arial" panose="020B0604020202020204" pitchFamily="34" charset="0"/>
              <a:buChar char="•"/>
            </a:pPr>
            <a:r>
              <a:rPr lang="fr-FR" sz="2800" noProof="0" dirty="0">
                <a:latin typeface="Eras Light ITC" panose="020B0402030504020804" pitchFamily="34" charset="0"/>
                <a:ea typeface="Microsoft JhengHei Light" panose="020B0304030504040204" pitchFamily="34" charset="-120"/>
              </a:rPr>
              <a:t>Optimisation du pipeline	</a:t>
            </a:r>
            <a:r>
              <a:rPr lang="fr-FR" sz="2800" i="1" noProof="0" dirty="0">
                <a:latin typeface="Eras Light ITC" panose="020B0402030504020804" pitchFamily="34" charset="0"/>
                <a:ea typeface="Microsoft JhengHei Light" panose="020B0304030504040204" pitchFamily="34" charset="-120"/>
              </a:rPr>
              <a:t>	</a:t>
            </a:r>
            <a:endParaRPr lang="fr-FR" sz="2800" i="1" noProof="0" dirty="0">
              <a:latin typeface="Eras Light ITC" panose="020B0402030504020804" pitchFamily="34" charset="0"/>
              <a:ea typeface="Microsoft JhengHei UI Light" panose="020B0304030504040204" pitchFamily="34" charset="-120"/>
            </a:endParaRPr>
          </a:p>
        </p:txBody>
      </p:sp>
    </p:spTree>
    <p:extLst>
      <p:ext uri="{BB962C8B-B14F-4D97-AF65-F5344CB8AC3E}">
        <p14:creationId xmlns:p14="http://schemas.microsoft.com/office/powerpoint/2010/main" val="3868084890"/>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9D360E"/>
      </a:dk2>
      <a:lt2>
        <a:srgbClr val="E7E6E6"/>
      </a:lt2>
      <a:accent1>
        <a:srgbClr val="F09415"/>
      </a:accent1>
      <a:accent2>
        <a:srgbClr val="C1B56B"/>
      </a:accent2>
      <a:accent3>
        <a:srgbClr val="4BAF73"/>
      </a:accent3>
      <a:accent4>
        <a:srgbClr val="5AA6C0"/>
      </a:accent4>
      <a:accent5>
        <a:srgbClr val="D17DF9"/>
      </a:accent5>
      <a:accent6>
        <a:srgbClr val="FA7E5C"/>
      </a:accent6>
      <a:hlink>
        <a:srgbClr val="FFAE3E"/>
      </a:hlink>
      <a:folHlink>
        <a:srgbClr val="FCC77E"/>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270000"/>
                <a:satMod val="200000"/>
                <a:lumMod val="128000"/>
              </a:schemeClr>
            </a:gs>
            <a:gs pos="50000">
              <a:schemeClr val="phClr">
                <a:shade val="100000"/>
                <a:hueMod val="100000"/>
                <a:satMod val="110000"/>
                <a:lumMod val="130000"/>
              </a:schemeClr>
            </a:gs>
            <a:gs pos="100000">
              <a:schemeClr val="phClr">
                <a:shade val="78000"/>
                <a:hueMod val="44000"/>
                <a:satMod val="20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0CBE056-4EF4-4D92-969E-947779DA7AA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TM04033917[[fn=Berlin]]</Template>
  <TotalTime>2957</TotalTime>
  <Words>1075</Words>
  <Application>Microsoft Office PowerPoint</Application>
  <PresentationFormat>Widescreen</PresentationFormat>
  <Paragraphs>71</Paragraphs>
  <Slides>11</Slides>
  <Notes>11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11</vt:i4>
      </vt:variant>
    </vt:vector>
  </HeadingPairs>
  <TitlesOfParts>
    <vt:vector size="21" baseType="lpstr">
      <vt:lpstr>Microsoft JhengHei UI</vt:lpstr>
      <vt:lpstr>Microsoft JhengHei UI Light</vt:lpstr>
      <vt:lpstr>Aptos</vt:lpstr>
      <vt:lpstr>Arial</vt:lpstr>
      <vt:lpstr>Consolas</vt:lpstr>
      <vt:lpstr>Eras Bold ITC</vt:lpstr>
      <vt:lpstr>Eras Demi ITC</vt:lpstr>
      <vt:lpstr>Eras Light ITC</vt:lpstr>
      <vt:lpstr>Trebuchet MS</vt:lpstr>
      <vt:lpstr>Berlin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Julien Lucien Marcel Poitreau</dc:creator>
  <cp:lastModifiedBy>General Akanthas</cp:lastModifiedBy>
  <cp:revision>31</cp:revision>
  <dcterms:created xsi:type="dcterms:W3CDTF">2025-11-22T11:13:09Z</dcterms:created>
  <dcterms:modified xsi:type="dcterms:W3CDTF">2026-08-22T08:13:32Z</dcterms:modified>
</cp:coreProperties>
</file>