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notesMasterIdLst>
    <p:notesMasterId r:id="rId12"/>
  </p:notesMasterIdLst>
  <p:handoutMasterIdLst>
    <p:handoutMasterId r:id="rId13"/>
  </p:handoutMasterIdLst>
  <p:sldIdLst>
    <p:sldId id="256" r:id="rId2"/>
    <p:sldId id="287" r:id="rId3"/>
    <p:sldId id="332" r:id="rId4"/>
    <p:sldId id="278" r:id="rId5"/>
    <p:sldId id="277" r:id="rId6"/>
    <p:sldId id="329" r:id="rId7"/>
    <p:sldId id="333" r:id="rId8"/>
    <p:sldId id="334" r:id="rId9"/>
    <p:sldId id="335" r:id="rId10"/>
    <p:sldId id="312"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75000"/>
    <a:srgbClr val="1C1B22"/>
    <a:srgbClr val="4F8BBE"/>
    <a:srgbClr val="6588A5"/>
    <a:srgbClr val="CE9178"/>
    <a:srgbClr val="262626"/>
    <a:srgbClr val="9D2D0F"/>
    <a:srgbClr val="FFFFFF"/>
    <a:srgbClr val="4C72B0"/>
    <a:srgbClr val="DD845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8258" autoAdjust="0"/>
  </p:normalViewPr>
  <p:slideViewPr>
    <p:cSldViewPr snapToGrid="0">
      <p:cViewPr>
        <p:scale>
          <a:sx n="66" d="100"/>
          <a:sy n="66" d="100"/>
        </p:scale>
        <p:origin x="1253" y="125"/>
      </p:cViewPr>
      <p:guideLst/>
    </p:cSldViewPr>
  </p:slideViewPr>
  <p:notesTextViewPr>
    <p:cViewPr>
      <p:scale>
        <a:sx n="1" d="1"/>
        <a:sy n="1" d="1"/>
      </p:scale>
      <p:origin x="0" y="0"/>
    </p:cViewPr>
  </p:notesTextViewPr>
  <p:notesViewPr>
    <p:cSldViewPr snapToGrid="0">
      <p:cViewPr varScale="1">
        <p:scale>
          <a:sx n="61" d="100"/>
          <a:sy n="61" d="100"/>
        </p:scale>
        <p:origin x="2117" y="43"/>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handoutMaster" Target="handoutMasters/handout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F3733C9E-AFC9-2203-69AD-E794060CF9F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Espace réservé de la date 2">
            <a:extLst>
              <a:ext uri="{FF2B5EF4-FFF2-40B4-BE49-F238E27FC236}">
                <a16:creationId xmlns:a16="http://schemas.microsoft.com/office/drawing/2014/main" id="{01A12ABE-837A-D1C3-AD69-BA6A28307C0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5DDB058-A044-4043-A3A3-7BACA5B3A04F}" type="datetimeFigureOut">
              <a:rPr lang="en-US" smtClean="0"/>
              <a:t>8/14/2026</a:t>
            </a:fld>
            <a:endParaRPr lang="en-US"/>
          </a:p>
        </p:txBody>
      </p:sp>
      <p:sp>
        <p:nvSpPr>
          <p:cNvPr id="4" name="Espace réservé du pied de page 3">
            <a:extLst>
              <a:ext uri="{FF2B5EF4-FFF2-40B4-BE49-F238E27FC236}">
                <a16:creationId xmlns:a16="http://schemas.microsoft.com/office/drawing/2014/main" id="{300D5124-CA9E-0699-6A17-C136EDC632B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Espace réservé du numéro de diapositive 4">
            <a:extLst>
              <a:ext uri="{FF2B5EF4-FFF2-40B4-BE49-F238E27FC236}">
                <a16:creationId xmlns:a16="http://schemas.microsoft.com/office/drawing/2014/main" id="{30E6FDFE-755F-0C64-6E9A-48D78C2737F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C4BEB73-50BC-478F-9973-E68CD0A30E97}" type="slidenum">
              <a:rPr lang="en-US" smtClean="0"/>
              <a:t>‹N°›</a:t>
            </a:fld>
            <a:endParaRPr lang="en-US"/>
          </a:p>
        </p:txBody>
      </p:sp>
    </p:spTree>
    <p:extLst>
      <p:ext uri="{BB962C8B-B14F-4D97-AF65-F5344CB8AC3E}">
        <p14:creationId xmlns:p14="http://schemas.microsoft.com/office/powerpoint/2010/main" val="354094900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1CF6E6-CAE2-4C00-8C24-5E0E8B2FFA08}" type="datetimeFigureOut">
              <a:rPr lang="en-US" smtClean="0"/>
              <a:t>8/14/2026</a:t>
            </a:fld>
            <a:endParaRPr lang="en-US"/>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3F3624B-3861-4937-8F64-3EF5A72077AD}" type="slidenum">
              <a:rPr lang="en-US" smtClean="0"/>
              <a:t>‹N°›</a:t>
            </a:fld>
            <a:endParaRPr lang="en-US"/>
          </a:p>
        </p:txBody>
      </p:sp>
    </p:spTree>
    <p:extLst>
      <p:ext uri="{BB962C8B-B14F-4D97-AF65-F5344CB8AC3E}">
        <p14:creationId xmlns:p14="http://schemas.microsoft.com/office/powerpoint/2010/main" val="39332284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US" dirty="0"/>
          </a:p>
        </p:txBody>
      </p:sp>
      <p:sp>
        <p:nvSpPr>
          <p:cNvPr id="4" name="Espace réservé du numéro de diapositive 3"/>
          <p:cNvSpPr>
            <a:spLocks noGrp="1"/>
          </p:cNvSpPr>
          <p:nvPr>
            <p:ph type="sldNum" sz="quarter" idx="5"/>
          </p:nvPr>
        </p:nvSpPr>
        <p:spPr/>
        <p:txBody>
          <a:bodyPr/>
          <a:lstStyle/>
          <a:p>
            <a:fld id="{A3F3624B-3861-4937-8F64-3EF5A72077AD}" type="slidenum">
              <a:rPr lang="en-US" smtClean="0"/>
              <a:t>1</a:t>
            </a:fld>
            <a:endParaRPr lang="en-US"/>
          </a:p>
        </p:txBody>
      </p:sp>
    </p:spTree>
    <p:extLst>
      <p:ext uri="{BB962C8B-B14F-4D97-AF65-F5344CB8AC3E}">
        <p14:creationId xmlns:p14="http://schemas.microsoft.com/office/powerpoint/2010/main" val="33523497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Je vais vous présenter les différentes étapes de la mise en place de ce projet en commençant par l’organisation sur </a:t>
            </a:r>
            <a:r>
              <a:rPr lang="fr-FR" dirty="0" err="1"/>
              <a:t>github</a:t>
            </a:r>
            <a:r>
              <a:rPr lang="fr-FR" dirty="0"/>
              <a:t> et mon flux de travail avec git. Je passerai ensuite à une démonstration du fonctionnement de l’API lancée sur serveur local, puis je présenterai mon pipeline de CI/CD et le déploiement sur </a:t>
            </a:r>
            <a:r>
              <a:rPr lang="fr-FR" dirty="0" err="1"/>
              <a:t>HuggingFace</a:t>
            </a:r>
            <a:r>
              <a:rPr lang="fr-FR" dirty="0"/>
              <a:t> </a:t>
            </a:r>
            <a:r>
              <a:rPr lang="fr-FR" dirty="0" err="1"/>
              <a:t>spaces</a:t>
            </a:r>
            <a:r>
              <a:rPr lang="fr-FR" dirty="0"/>
              <a:t> et je finirai par décrire la mise en place de la base de donnée PostgreSQL.</a:t>
            </a:r>
            <a:endParaRPr lang="en-US" dirty="0"/>
          </a:p>
        </p:txBody>
      </p:sp>
      <p:sp>
        <p:nvSpPr>
          <p:cNvPr id="4" name="Espace réservé du numéro de diapositive 3"/>
          <p:cNvSpPr>
            <a:spLocks noGrp="1"/>
          </p:cNvSpPr>
          <p:nvPr>
            <p:ph type="sldNum" sz="quarter" idx="5"/>
          </p:nvPr>
        </p:nvSpPr>
        <p:spPr/>
        <p:txBody>
          <a:bodyPr/>
          <a:lstStyle/>
          <a:p>
            <a:fld id="{A3F3624B-3861-4937-8F64-3EF5A72077AD}" type="slidenum">
              <a:rPr lang="en-US" smtClean="0"/>
              <a:t>2</a:t>
            </a:fld>
            <a:endParaRPr lang="en-US"/>
          </a:p>
        </p:txBody>
      </p:sp>
    </p:spTree>
    <p:extLst>
      <p:ext uri="{BB962C8B-B14F-4D97-AF65-F5344CB8AC3E}">
        <p14:creationId xmlns:p14="http://schemas.microsoft.com/office/powerpoint/2010/main" val="2502626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98F945-F4B6-C98E-1C52-6623B4364CE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F922442-2AAF-1D8C-264B-5B721C1076C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35F1BA5-95D5-A4B3-4BC1-120DBD1217BF}"/>
              </a:ext>
            </a:extLst>
          </p:cNvPr>
          <p:cNvSpPr>
            <a:spLocks noGrp="1"/>
          </p:cNvSpPr>
          <p:nvPr>
            <p:ph type="body" idx="1"/>
          </p:nvPr>
        </p:nvSpPr>
        <p:spPr/>
        <p:txBody>
          <a:bodyPr/>
          <a:lstStyle/>
          <a:p>
            <a:endParaRPr lang="en-US" dirty="0"/>
          </a:p>
        </p:txBody>
      </p:sp>
      <p:sp>
        <p:nvSpPr>
          <p:cNvPr id="4" name="Espace réservé du numéro de diapositive 3">
            <a:extLst>
              <a:ext uri="{FF2B5EF4-FFF2-40B4-BE49-F238E27FC236}">
                <a16:creationId xmlns:a16="http://schemas.microsoft.com/office/drawing/2014/main" id="{56D39E1A-C695-BA42-A8CF-A6D69F4FF483}"/>
              </a:ext>
            </a:extLst>
          </p:cNvPr>
          <p:cNvSpPr>
            <a:spLocks noGrp="1"/>
          </p:cNvSpPr>
          <p:nvPr>
            <p:ph type="sldNum" sz="quarter" idx="5"/>
          </p:nvPr>
        </p:nvSpPr>
        <p:spPr/>
        <p:txBody>
          <a:bodyPr/>
          <a:lstStyle/>
          <a:p>
            <a:fld id="{A3F3624B-3861-4937-8F64-3EF5A72077AD}" type="slidenum">
              <a:rPr lang="en-US" smtClean="0"/>
              <a:t>3</a:t>
            </a:fld>
            <a:endParaRPr lang="en-US"/>
          </a:p>
        </p:txBody>
      </p:sp>
    </p:spTree>
    <p:extLst>
      <p:ext uri="{BB962C8B-B14F-4D97-AF65-F5344CB8AC3E}">
        <p14:creationId xmlns:p14="http://schemas.microsoft.com/office/powerpoint/2010/main" val="16823631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Donc dans un premier temps voilà ici l’arborescence de mon projet. Le dossier source contient l’API finale, le model au format pickle, les scripts de création de la base de données et les scripts de tests fonctionnels. Il s’agit du projet finalisé dans sa version locale, donc branchée à la base de données. J’ai ensuite un dossier data qui contient </a:t>
            </a:r>
            <a:endParaRPr lang="en-US" dirty="0"/>
          </a:p>
        </p:txBody>
      </p:sp>
      <p:sp>
        <p:nvSpPr>
          <p:cNvPr id="4" name="Espace réservé du numéro de diapositive 3"/>
          <p:cNvSpPr>
            <a:spLocks noGrp="1"/>
          </p:cNvSpPr>
          <p:nvPr>
            <p:ph type="sldNum" sz="quarter" idx="5"/>
          </p:nvPr>
        </p:nvSpPr>
        <p:spPr/>
        <p:txBody>
          <a:bodyPr/>
          <a:lstStyle/>
          <a:p>
            <a:fld id="{A3F3624B-3861-4937-8F64-3EF5A72077AD}" type="slidenum">
              <a:rPr lang="en-US" smtClean="0"/>
              <a:t>4</a:t>
            </a:fld>
            <a:endParaRPr lang="en-US"/>
          </a:p>
        </p:txBody>
      </p:sp>
    </p:spTree>
    <p:extLst>
      <p:ext uri="{BB962C8B-B14F-4D97-AF65-F5344CB8AC3E}">
        <p14:creationId xmlns:p14="http://schemas.microsoft.com/office/powerpoint/2010/main" val="39186275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A3F3624B-3861-4937-8F64-3EF5A72077AD}" type="slidenum">
              <a:rPr lang="en-US" smtClean="0"/>
              <a:t>5</a:t>
            </a:fld>
            <a:endParaRPr lang="en-US"/>
          </a:p>
        </p:txBody>
      </p:sp>
    </p:spTree>
    <p:extLst>
      <p:ext uri="{BB962C8B-B14F-4D97-AF65-F5344CB8AC3E}">
        <p14:creationId xmlns:p14="http://schemas.microsoft.com/office/powerpoint/2010/main" val="3018180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282EC-A145-E460-3B34-24AB2E50FC8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10D59D5-C7F4-BFA6-404A-F686812855E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EA8D3E9-2FAB-88A6-CD29-D78E2CCB2ED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kern="1200" dirty="0">
                <a:solidFill>
                  <a:schemeClr val="tx1"/>
                </a:solidFill>
                <a:effectLst/>
                <a:latin typeface="+mn-lt"/>
                <a:ea typeface="+mn-ea"/>
                <a:cs typeface="+mn-cs"/>
              </a:rPr>
              <a:t>Déploiement sur </a:t>
            </a:r>
            <a:r>
              <a:rPr lang="fr-FR" sz="1200" kern="1200" dirty="0" err="1">
                <a:solidFill>
                  <a:schemeClr val="tx1"/>
                </a:solidFill>
                <a:effectLst/>
                <a:latin typeface="+mn-lt"/>
                <a:ea typeface="+mn-ea"/>
                <a:cs typeface="+mn-cs"/>
              </a:rPr>
              <a:t>huggingface</a:t>
            </a:r>
            <a:r>
              <a:rPr lang="fr-FR" sz="1200" kern="1200" dirty="0">
                <a:solidFill>
                  <a:schemeClr val="tx1"/>
                </a:solidFill>
                <a:effectLst/>
                <a:latin typeface="+mn-lt"/>
                <a:ea typeface="+mn-ea"/>
                <a:cs typeface="+mn-cs"/>
              </a:rPr>
              <a:t> </a:t>
            </a:r>
            <a:r>
              <a:rPr lang="fr-FR" sz="1200" kern="1200" dirty="0" err="1">
                <a:solidFill>
                  <a:schemeClr val="tx1"/>
                </a:solidFill>
                <a:effectLst/>
                <a:latin typeface="+mn-lt"/>
                <a:ea typeface="+mn-ea"/>
                <a:cs typeface="+mn-cs"/>
              </a:rPr>
              <a:t>spaces</a:t>
            </a:r>
            <a:r>
              <a:rPr lang="fr-FR" sz="1200" kern="1200" dirty="0">
                <a:solidFill>
                  <a:schemeClr val="tx1"/>
                </a:solidFill>
                <a:effectLst/>
                <a:latin typeface="+mn-lt"/>
                <a:ea typeface="+mn-ea"/>
                <a:cs typeface="+mn-cs"/>
              </a:rPr>
              <a:t> =&gt; gestion des secrets et des variables =&gt; pas de BDD =&gt; route déploiement avec utilisation du csv, chemin vers le modèle et le tableau de données gérés comme variables d’environnement dans le repo </a:t>
            </a:r>
            <a:r>
              <a:rPr lang="fr-FR" sz="1200" kern="1200" dirty="0" err="1">
                <a:solidFill>
                  <a:schemeClr val="tx1"/>
                </a:solidFill>
                <a:effectLst/>
                <a:latin typeface="+mn-lt"/>
                <a:ea typeface="+mn-ea"/>
                <a:cs typeface="+mn-cs"/>
              </a:rPr>
              <a:t>space</a:t>
            </a:r>
            <a:endParaRPr lang="en-US" sz="1200" kern="1200" dirty="0">
              <a:solidFill>
                <a:schemeClr val="tx1"/>
              </a:solidFill>
              <a:effectLst/>
              <a:latin typeface="+mn-lt"/>
              <a:ea typeface="+mn-ea"/>
              <a:cs typeface="+mn-cs"/>
            </a:endParaRPr>
          </a:p>
          <a:p>
            <a:endParaRPr lang="en-US" dirty="0"/>
          </a:p>
        </p:txBody>
      </p:sp>
      <p:sp>
        <p:nvSpPr>
          <p:cNvPr id="4" name="Espace réservé du numéro de diapositive 3">
            <a:extLst>
              <a:ext uri="{FF2B5EF4-FFF2-40B4-BE49-F238E27FC236}">
                <a16:creationId xmlns:a16="http://schemas.microsoft.com/office/drawing/2014/main" id="{F06124D5-14AD-6A9F-6E6A-92497FFDF574}"/>
              </a:ext>
            </a:extLst>
          </p:cNvPr>
          <p:cNvSpPr>
            <a:spLocks noGrp="1"/>
          </p:cNvSpPr>
          <p:nvPr>
            <p:ph type="sldNum" sz="quarter" idx="5"/>
          </p:nvPr>
        </p:nvSpPr>
        <p:spPr/>
        <p:txBody>
          <a:bodyPr/>
          <a:lstStyle/>
          <a:p>
            <a:fld id="{A3F3624B-3861-4937-8F64-3EF5A72077AD}" type="slidenum">
              <a:rPr lang="en-US" smtClean="0"/>
              <a:t>6</a:t>
            </a:fld>
            <a:endParaRPr lang="en-US"/>
          </a:p>
        </p:txBody>
      </p:sp>
    </p:spTree>
    <p:extLst>
      <p:ext uri="{BB962C8B-B14F-4D97-AF65-F5344CB8AC3E}">
        <p14:creationId xmlns:p14="http://schemas.microsoft.com/office/powerpoint/2010/main" val="13387682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A6AC4-28D7-EE02-207D-4EA54FDB198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1D88ECE-EF5D-B65F-0209-99BECA0BC85A}"/>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88D418B-7711-BED1-FC77-BD9A592CAF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kern="1200" dirty="0">
                <a:solidFill>
                  <a:schemeClr val="tx1"/>
                </a:solidFill>
                <a:effectLst/>
                <a:latin typeface="+mn-lt"/>
                <a:ea typeface="+mn-ea"/>
                <a:cs typeface="+mn-cs"/>
              </a:rPr>
              <a:t>Déploiement sur </a:t>
            </a:r>
            <a:r>
              <a:rPr lang="fr-FR" sz="1200" kern="1200" dirty="0" err="1">
                <a:solidFill>
                  <a:schemeClr val="tx1"/>
                </a:solidFill>
                <a:effectLst/>
                <a:latin typeface="+mn-lt"/>
                <a:ea typeface="+mn-ea"/>
                <a:cs typeface="+mn-cs"/>
              </a:rPr>
              <a:t>huggingface</a:t>
            </a:r>
            <a:r>
              <a:rPr lang="fr-FR" sz="1200" kern="1200" dirty="0">
                <a:solidFill>
                  <a:schemeClr val="tx1"/>
                </a:solidFill>
                <a:effectLst/>
                <a:latin typeface="+mn-lt"/>
                <a:ea typeface="+mn-ea"/>
                <a:cs typeface="+mn-cs"/>
              </a:rPr>
              <a:t> </a:t>
            </a:r>
            <a:r>
              <a:rPr lang="fr-FR" sz="1200" kern="1200" dirty="0" err="1">
                <a:solidFill>
                  <a:schemeClr val="tx1"/>
                </a:solidFill>
                <a:effectLst/>
                <a:latin typeface="+mn-lt"/>
                <a:ea typeface="+mn-ea"/>
                <a:cs typeface="+mn-cs"/>
              </a:rPr>
              <a:t>spaces</a:t>
            </a:r>
            <a:r>
              <a:rPr lang="fr-FR" sz="1200" kern="1200" dirty="0">
                <a:solidFill>
                  <a:schemeClr val="tx1"/>
                </a:solidFill>
                <a:effectLst/>
                <a:latin typeface="+mn-lt"/>
                <a:ea typeface="+mn-ea"/>
                <a:cs typeface="+mn-cs"/>
              </a:rPr>
              <a:t> =&gt; gestion des secrets et des variables =&gt; pas de BDD =&gt; route déploiement avec utilisation du csv, chemin vers le modèle et le tableau de données gérés comme variables d’environnement dans le repo </a:t>
            </a:r>
            <a:r>
              <a:rPr lang="fr-FR" sz="1200" kern="1200" dirty="0" err="1">
                <a:solidFill>
                  <a:schemeClr val="tx1"/>
                </a:solidFill>
                <a:effectLst/>
                <a:latin typeface="+mn-lt"/>
                <a:ea typeface="+mn-ea"/>
                <a:cs typeface="+mn-cs"/>
              </a:rPr>
              <a:t>space</a:t>
            </a:r>
            <a:endParaRPr lang="en-US" sz="1200" kern="1200" dirty="0">
              <a:solidFill>
                <a:schemeClr val="tx1"/>
              </a:solidFill>
              <a:effectLst/>
              <a:latin typeface="+mn-lt"/>
              <a:ea typeface="+mn-ea"/>
              <a:cs typeface="+mn-cs"/>
            </a:endParaRPr>
          </a:p>
          <a:p>
            <a:endParaRPr lang="en-US" dirty="0"/>
          </a:p>
        </p:txBody>
      </p:sp>
      <p:sp>
        <p:nvSpPr>
          <p:cNvPr id="4" name="Espace réservé du numéro de diapositive 3">
            <a:extLst>
              <a:ext uri="{FF2B5EF4-FFF2-40B4-BE49-F238E27FC236}">
                <a16:creationId xmlns:a16="http://schemas.microsoft.com/office/drawing/2014/main" id="{36E87100-1B64-3630-90B8-EE54CCD6A504}"/>
              </a:ext>
            </a:extLst>
          </p:cNvPr>
          <p:cNvSpPr>
            <a:spLocks noGrp="1"/>
          </p:cNvSpPr>
          <p:nvPr>
            <p:ph type="sldNum" sz="quarter" idx="5"/>
          </p:nvPr>
        </p:nvSpPr>
        <p:spPr/>
        <p:txBody>
          <a:bodyPr/>
          <a:lstStyle/>
          <a:p>
            <a:fld id="{A3F3624B-3861-4937-8F64-3EF5A72077AD}" type="slidenum">
              <a:rPr lang="en-US" smtClean="0"/>
              <a:t>7</a:t>
            </a:fld>
            <a:endParaRPr lang="en-US"/>
          </a:p>
        </p:txBody>
      </p:sp>
    </p:spTree>
    <p:extLst>
      <p:ext uri="{BB962C8B-B14F-4D97-AF65-F5344CB8AC3E}">
        <p14:creationId xmlns:p14="http://schemas.microsoft.com/office/powerpoint/2010/main" val="4000680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3F210-4B84-F453-EB15-857E6313E6F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E1CAE1B-F99F-9D99-2A45-A26A9B9397B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8FEB244-5AB3-01F8-EBFD-0CC6973E6AB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kern="1200" dirty="0">
                <a:solidFill>
                  <a:schemeClr val="tx1"/>
                </a:solidFill>
                <a:effectLst/>
                <a:latin typeface="+mn-lt"/>
                <a:ea typeface="+mn-ea"/>
                <a:cs typeface="+mn-cs"/>
              </a:rPr>
              <a:t>Déploiement sur </a:t>
            </a:r>
            <a:r>
              <a:rPr lang="fr-FR" sz="1200" kern="1200" dirty="0" err="1">
                <a:solidFill>
                  <a:schemeClr val="tx1"/>
                </a:solidFill>
                <a:effectLst/>
                <a:latin typeface="+mn-lt"/>
                <a:ea typeface="+mn-ea"/>
                <a:cs typeface="+mn-cs"/>
              </a:rPr>
              <a:t>huggingface</a:t>
            </a:r>
            <a:r>
              <a:rPr lang="fr-FR" sz="1200" kern="1200" dirty="0">
                <a:solidFill>
                  <a:schemeClr val="tx1"/>
                </a:solidFill>
                <a:effectLst/>
                <a:latin typeface="+mn-lt"/>
                <a:ea typeface="+mn-ea"/>
                <a:cs typeface="+mn-cs"/>
              </a:rPr>
              <a:t> </a:t>
            </a:r>
            <a:r>
              <a:rPr lang="fr-FR" sz="1200" kern="1200" dirty="0" err="1">
                <a:solidFill>
                  <a:schemeClr val="tx1"/>
                </a:solidFill>
                <a:effectLst/>
                <a:latin typeface="+mn-lt"/>
                <a:ea typeface="+mn-ea"/>
                <a:cs typeface="+mn-cs"/>
              </a:rPr>
              <a:t>spaces</a:t>
            </a:r>
            <a:r>
              <a:rPr lang="fr-FR" sz="1200" kern="1200" dirty="0">
                <a:solidFill>
                  <a:schemeClr val="tx1"/>
                </a:solidFill>
                <a:effectLst/>
                <a:latin typeface="+mn-lt"/>
                <a:ea typeface="+mn-ea"/>
                <a:cs typeface="+mn-cs"/>
              </a:rPr>
              <a:t> =&gt; gestion des secrets et des variables =&gt; pas de BDD =&gt; route déploiement avec utilisation du csv, chemin vers le modèle et le tableau de données gérés comme variables d’environnement dans le repo </a:t>
            </a:r>
            <a:r>
              <a:rPr lang="fr-FR" sz="1200" kern="1200" dirty="0" err="1">
                <a:solidFill>
                  <a:schemeClr val="tx1"/>
                </a:solidFill>
                <a:effectLst/>
                <a:latin typeface="+mn-lt"/>
                <a:ea typeface="+mn-ea"/>
                <a:cs typeface="+mn-cs"/>
              </a:rPr>
              <a:t>space</a:t>
            </a:r>
            <a:endParaRPr lang="en-US" sz="1200" kern="1200" dirty="0">
              <a:solidFill>
                <a:schemeClr val="tx1"/>
              </a:solidFill>
              <a:effectLst/>
              <a:latin typeface="+mn-lt"/>
              <a:ea typeface="+mn-ea"/>
              <a:cs typeface="+mn-cs"/>
            </a:endParaRPr>
          </a:p>
          <a:p>
            <a:endParaRPr lang="en-US" dirty="0"/>
          </a:p>
        </p:txBody>
      </p:sp>
      <p:sp>
        <p:nvSpPr>
          <p:cNvPr id="4" name="Espace réservé du numéro de diapositive 3">
            <a:extLst>
              <a:ext uri="{FF2B5EF4-FFF2-40B4-BE49-F238E27FC236}">
                <a16:creationId xmlns:a16="http://schemas.microsoft.com/office/drawing/2014/main" id="{32CB8682-DF9A-CC7B-36D3-AC010FE16B6C}"/>
              </a:ext>
            </a:extLst>
          </p:cNvPr>
          <p:cNvSpPr>
            <a:spLocks noGrp="1"/>
          </p:cNvSpPr>
          <p:nvPr>
            <p:ph type="sldNum" sz="quarter" idx="5"/>
          </p:nvPr>
        </p:nvSpPr>
        <p:spPr/>
        <p:txBody>
          <a:bodyPr/>
          <a:lstStyle/>
          <a:p>
            <a:fld id="{A3F3624B-3861-4937-8F64-3EF5A72077AD}" type="slidenum">
              <a:rPr lang="en-US" smtClean="0"/>
              <a:t>8</a:t>
            </a:fld>
            <a:endParaRPr lang="en-US"/>
          </a:p>
        </p:txBody>
      </p:sp>
    </p:spTree>
    <p:extLst>
      <p:ext uri="{BB962C8B-B14F-4D97-AF65-F5344CB8AC3E}">
        <p14:creationId xmlns:p14="http://schemas.microsoft.com/office/powerpoint/2010/main" val="20108229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2CF2A-5A16-AC72-2171-84BCFD345E8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DE35499-6B5E-DA22-71A5-9ADA33A7F59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6FF6F49-72FE-6080-898E-C01660F2099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kern="1200" dirty="0">
                <a:solidFill>
                  <a:schemeClr val="tx1"/>
                </a:solidFill>
                <a:effectLst/>
                <a:latin typeface="+mn-lt"/>
                <a:ea typeface="+mn-ea"/>
                <a:cs typeface="+mn-cs"/>
              </a:rPr>
              <a:t>Déploiement sur </a:t>
            </a:r>
            <a:r>
              <a:rPr lang="fr-FR" sz="1200" kern="1200" dirty="0" err="1">
                <a:solidFill>
                  <a:schemeClr val="tx1"/>
                </a:solidFill>
                <a:effectLst/>
                <a:latin typeface="+mn-lt"/>
                <a:ea typeface="+mn-ea"/>
                <a:cs typeface="+mn-cs"/>
              </a:rPr>
              <a:t>huggingface</a:t>
            </a:r>
            <a:r>
              <a:rPr lang="fr-FR" sz="1200" kern="1200" dirty="0">
                <a:solidFill>
                  <a:schemeClr val="tx1"/>
                </a:solidFill>
                <a:effectLst/>
                <a:latin typeface="+mn-lt"/>
                <a:ea typeface="+mn-ea"/>
                <a:cs typeface="+mn-cs"/>
              </a:rPr>
              <a:t> </a:t>
            </a:r>
            <a:r>
              <a:rPr lang="fr-FR" sz="1200" kern="1200" dirty="0" err="1">
                <a:solidFill>
                  <a:schemeClr val="tx1"/>
                </a:solidFill>
                <a:effectLst/>
                <a:latin typeface="+mn-lt"/>
                <a:ea typeface="+mn-ea"/>
                <a:cs typeface="+mn-cs"/>
              </a:rPr>
              <a:t>spaces</a:t>
            </a:r>
            <a:r>
              <a:rPr lang="fr-FR" sz="1200" kern="1200" dirty="0">
                <a:solidFill>
                  <a:schemeClr val="tx1"/>
                </a:solidFill>
                <a:effectLst/>
                <a:latin typeface="+mn-lt"/>
                <a:ea typeface="+mn-ea"/>
                <a:cs typeface="+mn-cs"/>
              </a:rPr>
              <a:t> =&gt; gestion des secrets et des variables =&gt; pas de BDD =&gt; route déploiement avec utilisation du csv, chemin vers le modèle et le tableau de données gérés comme variables d’environnement dans le repo </a:t>
            </a:r>
            <a:r>
              <a:rPr lang="fr-FR" sz="1200" kern="1200" dirty="0" err="1">
                <a:solidFill>
                  <a:schemeClr val="tx1"/>
                </a:solidFill>
                <a:effectLst/>
                <a:latin typeface="+mn-lt"/>
                <a:ea typeface="+mn-ea"/>
                <a:cs typeface="+mn-cs"/>
              </a:rPr>
              <a:t>space</a:t>
            </a:r>
            <a:endParaRPr lang="en-US" sz="1200" kern="1200" dirty="0">
              <a:solidFill>
                <a:schemeClr val="tx1"/>
              </a:solidFill>
              <a:effectLst/>
              <a:latin typeface="+mn-lt"/>
              <a:ea typeface="+mn-ea"/>
              <a:cs typeface="+mn-cs"/>
            </a:endParaRPr>
          </a:p>
          <a:p>
            <a:endParaRPr lang="en-US" dirty="0"/>
          </a:p>
        </p:txBody>
      </p:sp>
      <p:sp>
        <p:nvSpPr>
          <p:cNvPr id="4" name="Espace réservé du numéro de diapositive 3">
            <a:extLst>
              <a:ext uri="{FF2B5EF4-FFF2-40B4-BE49-F238E27FC236}">
                <a16:creationId xmlns:a16="http://schemas.microsoft.com/office/drawing/2014/main" id="{F7EC02B4-D0F0-BEFC-E90C-80A495407D28}"/>
              </a:ext>
            </a:extLst>
          </p:cNvPr>
          <p:cNvSpPr>
            <a:spLocks noGrp="1"/>
          </p:cNvSpPr>
          <p:nvPr>
            <p:ph type="sldNum" sz="quarter" idx="5"/>
          </p:nvPr>
        </p:nvSpPr>
        <p:spPr/>
        <p:txBody>
          <a:bodyPr/>
          <a:lstStyle/>
          <a:p>
            <a:fld id="{A3F3624B-3861-4937-8F64-3EF5A72077AD}" type="slidenum">
              <a:rPr lang="en-US" smtClean="0"/>
              <a:t>9</a:t>
            </a:fld>
            <a:endParaRPr lang="en-US"/>
          </a:p>
        </p:txBody>
      </p:sp>
    </p:spTree>
    <p:extLst>
      <p:ext uri="{BB962C8B-B14F-4D97-AF65-F5344CB8AC3E}">
        <p14:creationId xmlns:p14="http://schemas.microsoft.com/office/powerpoint/2010/main" val="9228536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ECD86-C302-375F-541C-210EC53D81C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B3C846F-E495-9C77-AEC8-3D53F24CAB4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D461232-2A74-1D69-8DB1-2BE54B7C62F2}"/>
              </a:ext>
            </a:extLst>
          </p:cNvPr>
          <p:cNvSpPr>
            <a:spLocks noGrp="1"/>
          </p:cNvSpPr>
          <p:nvPr>
            <p:ph type="body" idx="1"/>
          </p:nvPr>
        </p:nvSpPr>
        <p:spPr/>
        <p:txBody>
          <a:bodyPr/>
          <a:lstStyle/>
          <a:p>
            <a:endParaRPr lang="en-US" dirty="0"/>
          </a:p>
        </p:txBody>
      </p:sp>
      <p:sp>
        <p:nvSpPr>
          <p:cNvPr id="4" name="Espace réservé du numéro de diapositive 3">
            <a:extLst>
              <a:ext uri="{FF2B5EF4-FFF2-40B4-BE49-F238E27FC236}">
                <a16:creationId xmlns:a16="http://schemas.microsoft.com/office/drawing/2014/main" id="{D816D14E-DEAD-F47A-9926-E7567C845993}"/>
              </a:ext>
            </a:extLst>
          </p:cNvPr>
          <p:cNvSpPr>
            <a:spLocks noGrp="1"/>
          </p:cNvSpPr>
          <p:nvPr>
            <p:ph type="sldNum" sz="quarter" idx="5"/>
          </p:nvPr>
        </p:nvSpPr>
        <p:spPr/>
        <p:txBody>
          <a:bodyPr/>
          <a:lstStyle/>
          <a:p>
            <a:fld id="{A3F3624B-3861-4937-8F64-3EF5A72077AD}" type="slidenum">
              <a:rPr lang="en-US" smtClean="0"/>
              <a:t>10</a:t>
            </a:fld>
            <a:endParaRPr lang="en-US"/>
          </a:p>
        </p:txBody>
      </p:sp>
    </p:spTree>
    <p:extLst>
      <p:ext uri="{BB962C8B-B14F-4D97-AF65-F5344CB8AC3E}">
        <p14:creationId xmlns:p14="http://schemas.microsoft.com/office/powerpoint/2010/main" val="155852504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0" name="Rectangle 9"/>
          <p:cNvSpPr/>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680322" y="2733709"/>
            <a:ext cx="8144134" cy="1373070"/>
          </a:xfrm>
        </p:spPr>
        <p:txBody>
          <a:bodyPr anchor="b">
            <a:noAutofit/>
          </a:bodyPr>
          <a:lstStyle>
            <a:lvl1pPr algn="r">
              <a:defRPr sz="5400"/>
            </a:lvl1pPr>
          </a:lstStyle>
          <a:p>
            <a:r>
              <a:rPr lang="fr-FR"/>
              <a:t>Modifiez le style du titre</a:t>
            </a:r>
            <a:endParaRPr lang="en-US" dirty="0"/>
          </a:p>
        </p:txBody>
      </p:sp>
      <p:sp>
        <p:nvSpPr>
          <p:cNvPr id="3" name="Subtitle 2"/>
          <p:cNvSpPr>
            <a:spLocks noGrp="1"/>
          </p:cNvSpPr>
          <p:nvPr>
            <p:ph type="subTitle" idx="1"/>
          </p:nvPr>
        </p:nvSpPr>
        <p:spPr>
          <a:xfrm>
            <a:off x="680322" y="4394039"/>
            <a:ext cx="8144134"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D1F3894F-03A6-4760-8AFF-8C8908CB964C}"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255346" y="2750337"/>
            <a:ext cx="1171888" cy="1356442"/>
          </a:xfrm>
        </p:spPr>
        <p:txBody>
          <a:bodyPr/>
          <a:lstStyle/>
          <a:p>
            <a:fld id="{6D22F896-40B5-4ADD-8801-0D06FADFA095}" type="slidenum">
              <a:rPr lang="en-US" dirty="0"/>
              <a:t>‹N°›</a:t>
            </a:fld>
            <a:endParaRPr lang="en-US" dirty="0"/>
          </a:p>
        </p:txBody>
      </p:sp>
    </p:spTree>
    <p:extLst>
      <p:ext uri="{BB962C8B-B14F-4D97-AF65-F5344CB8AC3E}">
        <p14:creationId xmlns:p14="http://schemas.microsoft.com/office/powerpoint/2010/main" val="41324385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D1F3894F-03A6-4760-8AFF-8C8908CB964C}"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‹N°›</a:t>
            </a:fld>
            <a:endParaRPr lang="en-US" dirty="0"/>
          </a:p>
        </p:txBody>
      </p:sp>
    </p:spTree>
    <p:extLst>
      <p:ext uri="{BB962C8B-B14F-4D97-AF65-F5344CB8AC3E}">
        <p14:creationId xmlns:p14="http://schemas.microsoft.com/office/powerpoint/2010/main" val="22045382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5"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3600"/>
            </a:lvl1pPr>
          </a:lstStyle>
          <a:p>
            <a:r>
              <a:rPr lang="fr-FR"/>
              <a:t>Modifiez le style du titre</a:t>
            </a:r>
            <a:endParaRPr lang="en-US" dirty="0"/>
          </a:p>
        </p:txBody>
      </p:sp>
      <p:sp>
        <p:nvSpPr>
          <p:cNvPr id="3" name="Text Placeholder 2"/>
          <p:cNvSpPr>
            <a:spLocks noGrp="1"/>
          </p:cNvSpPr>
          <p:nvPr>
            <p:ph type="body" idx="1"/>
          </p:nvPr>
        </p:nvSpPr>
        <p:spPr>
          <a:xfrm>
            <a:off x="680322" y="4232171"/>
            <a:ext cx="961386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D1F3894F-03A6-4760-8AFF-8C8908CB964C}"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0729455" y="2869895"/>
            <a:ext cx="1154151" cy="1090789"/>
          </a:xfrm>
        </p:spPr>
        <p:txBody>
          <a:bodyPr/>
          <a:lstStyle/>
          <a:p>
            <a:fld id="{DD68962E-EF79-4265-AC71-696A4F49210D}" type="slidenum">
              <a:rPr lang="en-US" smtClean="0"/>
              <a:t>‹N°›</a:t>
            </a:fld>
            <a:endParaRPr lang="en-US" dirty="0"/>
          </a:p>
        </p:txBody>
      </p:sp>
    </p:spTree>
    <p:extLst>
      <p:ext uri="{BB962C8B-B14F-4D97-AF65-F5344CB8AC3E}">
        <p14:creationId xmlns:p14="http://schemas.microsoft.com/office/powerpoint/2010/main" val="36111699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680320" y="2336873"/>
            <a:ext cx="4698358" cy="359931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594123" y="2336873"/>
            <a:ext cx="4700058" cy="359931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D1F3894F-03A6-4760-8AFF-8C8908CB964C}" type="datetimeFigureOut">
              <a:rPr lang="en-US" smtClean="0"/>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D68962E-EF79-4265-AC71-696A4F49210D}" type="slidenum">
              <a:rPr lang="en-US" smtClean="0"/>
              <a:t>‹N°›</a:t>
            </a:fld>
            <a:endParaRPr lang="en-US"/>
          </a:p>
        </p:txBody>
      </p:sp>
      <p:sp>
        <p:nvSpPr>
          <p:cNvPr id="12" name="Freeform 11">
            <a:extLst>
              <a:ext uri="{FF2B5EF4-FFF2-40B4-BE49-F238E27FC236}">
                <a16:creationId xmlns:a16="http://schemas.microsoft.com/office/drawing/2014/main" id="{982B277A-E1C9-DF4B-68C0-55E883243023}"/>
              </a:ext>
            </a:extLst>
          </p:cNvPr>
          <p:cNvSpPr/>
          <p:nvPr userDrawn="1"/>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Tree>
    <p:extLst>
      <p:ext uri="{BB962C8B-B14F-4D97-AF65-F5344CB8AC3E}">
        <p14:creationId xmlns:p14="http://schemas.microsoft.com/office/powerpoint/2010/main" val="5927086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2" name="Rectangle 11"/>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753229"/>
            <a:ext cx="9613863" cy="1080937"/>
          </a:xfrm>
        </p:spPr>
        <p:txBody>
          <a:bodyPr/>
          <a:lstStyle/>
          <a:p>
            <a:r>
              <a:rPr lang="fr-FR"/>
              <a:t>Modifiez le style du titre</a:t>
            </a:r>
            <a:endParaRPr lang="en-US" dirty="0"/>
          </a:p>
        </p:txBody>
      </p:sp>
      <p:sp>
        <p:nvSpPr>
          <p:cNvPr id="3" name="Text Placeholder 2"/>
          <p:cNvSpPr>
            <a:spLocks noGrp="1"/>
          </p:cNvSpPr>
          <p:nvPr>
            <p:ph type="body" idx="1"/>
          </p:nvPr>
        </p:nvSpPr>
        <p:spPr>
          <a:xfrm>
            <a:off x="906350" y="2336873"/>
            <a:ext cx="4472327"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680322" y="3030008"/>
            <a:ext cx="4698355" cy="290617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820154" y="2336873"/>
            <a:ext cx="4474028"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5594123" y="3030008"/>
            <a:ext cx="4700059" cy="290617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D1F3894F-03A6-4760-8AFF-8C8908CB964C}" type="datetimeFigureOut">
              <a:rPr lang="en-US" smtClean="0"/>
              <a:t>8/14/2026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D68962E-EF79-4265-AC71-696A4F49210D}" type="slidenum">
              <a:rPr lang="en-US" smtClean="0"/>
              <a:t>‹N°›</a:t>
            </a:fld>
            <a:endParaRPr lang="en-US"/>
          </a:p>
        </p:txBody>
      </p:sp>
      <p:sp>
        <p:nvSpPr>
          <p:cNvPr id="14" name="Freeform 11">
            <a:extLst>
              <a:ext uri="{FF2B5EF4-FFF2-40B4-BE49-F238E27FC236}">
                <a16:creationId xmlns:a16="http://schemas.microsoft.com/office/drawing/2014/main" id="{4B03C7BF-47AD-8B50-B045-B545FB14FA3F}"/>
              </a:ext>
            </a:extLst>
          </p:cNvPr>
          <p:cNvSpPr/>
          <p:nvPr userDrawn="1"/>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Tree>
    <p:extLst>
      <p:ext uri="{BB962C8B-B14F-4D97-AF65-F5344CB8AC3E}">
        <p14:creationId xmlns:p14="http://schemas.microsoft.com/office/powerpoint/2010/main" val="34656895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8" name="Rectangle 7"/>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D1F3894F-03A6-4760-8AFF-8C8908CB964C}" type="datetimeFigureOut">
              <a:rPr lang="en-US" smtClean="0"/>
              <a:t>8/14/2026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D68962E-EF79-4265-AC71-696A4F49210D}" type="slidenum">
              <a:rPr lang="en-US" smtClean="0"/>
              <a:t>‹N°›</a:t>
            </a:fld>
            <a:endParaRPr lang="en-US"/>
          </a:p>
        </p:txBody>
      </p:sp>
      <p:sp>
        <p:nvSpPr>
          <p:cNvPr id="10" name="Freeform 11">
            <a:extLst>
              <a:ext uri="{FF2B5EF4-FFF2-40B4-BE49-F238E27FC236}">
                <a16:creationId xmlns:a16="http://schemas.microsoft.com/office/drawing/2014/main" id="{C07A5595-4F9E-9DFA-7B8E-BD1E75138E8E}"/>
              </a:ext>
            </a:extLst>
          </p:cNvPr>
          <p:cNvSpPr/>
          <p:nvPr userDrawn="1"/>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Tree>
    <p:extLst>
      <p:ext uri="{BB962C8B-B14F-4D97-AF65-F5344CB8AC3E}">
        <p14:creationId xmlns:p14="http://schemas.microsoft.com/office/powerpoint/2010/main" val="14198417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6"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D1F3894F-03A6-4760-8AFF-8C8908CB964C}" type="datetimeFigureOut">
              <a:rPr lang="en-US" smtClean="0"/>
              <a:t>8/14/2026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D68962E-EF79-4265-AC71-696A4F49210D}" type="slidenum">
              <a:rPr lang="en-US" smtClean="0"/>
              <a:t>‹N°›</a:t>
            </a:fld>
            <a:endParaRPr lang="en-US"/>
          </a:p>
        </p:txBody>
      </p:sp>
      <p:sp>
        <p:nvSpPr>
          <p:cNvPr id="7" name="Freeform 11">
            <a:extLst>
              <a:ext uri="{FF2B5EF4-FFF2-40B4-BE49-F238E27FC236}">
                <a16:creationId xmlns:a16="http://schemas.microsoft.com/office/drawing/2014/main" id="{2A5EC09A-6B7F-F2F7-3A53-60B130660E87}"/>
              </a:ext>
            </a:extLst>
          </p:cNvPr>
          <p:cNvSpPr/>
          <p:nvPr userDrawn="1"/>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Tree>
    <p:extLst>
      <p:ext uri="{BB962C8B-B14F-4D97-AF65-F5344CB8AC3E}">
        <p14:creationId xmlns:p14="http://schemas.microsoft.com/office/powerpoint/2010/main" val="12103222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3600"/>
            </a:lvl1pPr>
          </a:lstStyle>
          <a:p>
            <a:r>
              <a:rPr lang="fr-FR"/>
              <a:t>Modifiez le style du titre</a:t>
            </a:r>
            <a:endParaRPr lang="en-US" dirty="0"/>
          </a:p>
        </p:txBody>
      </p:sp>
      <p:sp>
        <p:nvSpPr>
          <p:cNvPr id="3" name="Content Placeholder 2"/>
          <p:cNvSpPr>
            <a:spLocks noGrp="1"/>
          </p:cNvSpPr>
          <p:nvPr>
            <p:ph idx="1"/>
          </p:nvPr>
        </p:nvSpPr>
        <p:spPr>
          <a:xfrm>
            <a:off x="4685846" y="2336873"/>
            <a:ext cx="5608336" cy="3599313"/>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680322" y="2336872"/>
            <a:ext cx="3790078"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D1F3894F-03A6-4760-8AFF-8C8908CB964C}" type="datetimeFigureOut">
              <a:rPr lang="en-US" smtClean="0"/>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D68962E-EF79-4265-AC71-696A4F49210D}" type="slidenum">
              <a:rPr lang="en-US" smtClean="0"/>
              <a:t>‹N°›</a:t>
            </a:fld>
            <a:endParaRPr lang="en-US"/>
          </a:p>
        </p:txBody>
      </p:sp>
    </p:spTree>
    <p:extLst>
      <p:ext uri="{BB962C8B-B14F-4D97-AF65-F5344CB8AC3E}">
        <p14:creationId xmlns:p14="http://schemas.microsoft.com/office/powerpoint/2010/main" val="29463432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3600"/>
            </a:lvl1pPr>
          </a:lstStyle>
          <a:p>
            <a:r>
              <a:rPr lang="fr-FR"/>
              <a:t>Modifiez le style du titre</a:t>
            </a:r>
            <a:endParaRPr lang="en-US" dirty="0"/>
          </a:p>
        </p:txBody>
      </p:sp>
      <p:sp>
        <p:nvSpPr>
          <p:cNvPr id="3" name="Picture Placeholder 2"/>
          <p:cNvSpPr>
            <a:spLocks noGrp="1" noChangeAspect="1"/>
          </p:cNvSpPr>
          <p:nvPr>
            <p:ph type="pic" idx="1"/>
          </p:nvPr>
        </p:nvSpPr>
        <p:spPr>
          <a:xfrm>
            <a:off x="4868333"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680323" y="2336873"/>
            <a:ext cx="3876256"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D1F3894F-03A6-4760-8AFF-8C8908CB964C}" type="datetimeFigureOut">
              <a:rPr lang="en-US" smtClean="0"/>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D68962E-EF79-4265-AC71-696A4F49210D}" type="slidenum">
              <a:rPr lang="en-US" smtClean="0"/>
              <a:t>‹N°›</a:t>
            </a:fld>
            <a:endParaRPr lang="en-US"/>
          </a:p>
        </p:txBody>
      </p:sp>
    </p:spTree>
    <p:extLst>
      <p:ext uri="{BB962C8B-B14F-4D97-AF65-F5344CB8AC3E}">
        <p14:creationId xmlns:p14="http://schemas.microsoft.com/office/powerpoint/2010/main" val="8119575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 panoramique avec légende">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6"/>
            <a:ext cx="9613859" cy="453051"/>
          </a:xfrm>
        </p:spPr>
        <p:txBody>
          <a:bodyPr anchor="b">
            <a:normAutofit/>
          </a:bodyPr>
          <a:lstStyle>
            <a:lvl1pPr>
              <a:defRPr sz="2400"/>
            </a:lvl1pPr>
          </a:lstStyle>
          <a:p>
            <a:r>
              <a:rPr lang="fr-FR"/>
              <a:t>Modifiez le style du titre</a:t>
            </a:r>
            <a:endParaRPr lang="en-US" dirty="0"/>
          </a:p>
        </p:txBody>
      </p:sp>
      <p:sp>
        <p:nvSpPr>
          <p:cNvPr id="3" name="Picture Placeholder 2"/>
          <p:cNvSpPr>
            <a:spLocks noGrp="1" noChangeAspect="1"/>
          </p:cNvSpPr>
          <p:nvPr>
            <p:ph type="pic" idx="1"/>
          </p:nvPr>
        </p:nvSpPr>
        <p:spPr>
          <a:xfrm>
            <a:off x="680322" y="609597"/>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680319" y="5169583"/>
            <a:ext cx="9613862" cy="62297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D1F3894F-03A6-4760-8AFF-8C8908CB964C}" type="datetimeFigureOut">
              <a:rPr lang="en-US" smtClean="0"/>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11309"/>
            <a:ext cx="1154151" cy="1090789"/>
          </a:xfrm>
        </p:spPr>
        <p:txBody>
          <a:bodyPr/>
          <a:lstStyle/>
          <a:p>
            <a:fld id="{DD68962E-EF79-4265-AC71-696A4F49210D}" type="slidenum">
              <a:rPr lang="en-US" smtClean="0"/>
              <a:t>‹N°›</a:t>
            </a:fld>
            <a:endParaRPr lang="en-US" dirty="0"/>
          </a:p>
        </p:txBody>
      </p:sp>
    </p:spTree>
    <p:extLst>
      <p:ext uri="{BB962C8B-B14F-4D97-AF65-F5344CB8AC3E}">
        <p14:creationId xmlns:p14="http://schemas.microsoft.com/office/powerpoint/2010/main" val="8753634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re et légende">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609597"/>
            <a:ext cx="9613858" cy="3592750"/>
          </a:xfrm>
        </p:spPr>
        <p:txBody>
          <a:bodyPr anchor="ctr"/>
          <a:lstStyle>
            <a:lvl1pPr>
              <a:defRPr sz="3200"/>
            </a:lvl1pPr>
          </a:lstStyle>
          <a:p>
            <a:r>
              <a:rPr lang="fr-FR"/>
              <a:t>Modifiez le style du titre</a:t>
            </a:r>
            <a:endParaRPr lang="en-US" dirty="0"/>
          </a:p>
        </p:txBody>
      </p:sp>
      <p:sp>
        <p:nvSpPr>
          <p:cNvPr id="4"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D1F3894F-03A6-4760-8AFF-8C8908CB964C}" type="datetimeFigureOut">
              <a:rPr lang="en-US" smtClean="0"/>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11615"/>
            <a:ext cx="1154151" cy="1090789"/>
          </a:xfrm>
        </p:spPr>
        <p:txBody>
          <a:bodyPr/>
          <a:lstStyle/>
          <a:p>
            <a:fld id="{DD68962E-EF79-4265-AC71-696A4F49210D}" type="slidenum">
              <a:rPr lang="en-US" smtClean="0"/>
              <a:t>‹N°›</a:t>
            </a:fld>
            <a:endParaRPr lang="en-US" dirty="0"/>
          </a:p>
        </p:txBody>
      </p:sp>
    </p:spTree>
    <p:extLst>
      <p:ext uri="{BB962C8B-B14F-4D97-AF65-F5344CB8AC3E}">
        <p14:creationId xmlns:p14="http://schemas.microsoft.com/office/powerpoint/2010/main" val="16873388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tion avec légende">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4" name="Rectangle 13"/>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3200"/>
            </a:lvl1pPr>
          </a:lstStyle>
          <a:p>
            <a:r>
              <a:rPr lang="fr-FR"/>
              <a:t>Modifiez le style du titre</a:t>
            </a:r>
            <a:endParaRPr lang="en-US" dirty="0"/>
          </a:p>
        </p:txBody>
      </p:sp>
      <p:sp>
        <p:nvSpPr>
          <p:cNvPr id="12" name="Text Placeholder 3"/>
          <p:cNvSpPr>
            <a:spLocks noGrp="1"/>
          </p:cNvSpPr>
          <p:nvPr>
            <p:ph type="body" sz="half" idx="13"/>
          </p:nvPr>
        </p:nvSpPr>
        <p:spPr>
          <a:xfrm>
            <a:off x="1402288" y="3653379"/>
            <a:ext cx="815657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4" name="Text Placeholder 3"/>
          <p:cNvSpPr>
            <a:spLocks noGrp="1"/>
          </p:cNvSpPr>
          <p:nvPr>
            <p:ph type="body" sz="half" idx="2"/>
          </p:nvPr>
        </p:nvSpPr>
        <p:spPr>
          <a:xfrm>
            <a:off x="680322" y="4711615"/>
            <a:ext cx="9613859" cy="1090789"/>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D1F3894F-03A6-4760-8AFF-8C8908CB964C}" type="datetimeFigureOut">
              <a:rPr lang="en-US" smtClean="0"/>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09925"/>
            <a:ext cx="1154151" cy="1090789"/>
          </a:xfrm>
        </p:spPr>
        <p:txBody>
          <a:bodyPr/>
          <a:lstStyle/>
          <a:p>
            <a:fld id="{DD68962E-EF79-4265-AC71-696A4F49210D}" type="slidenum">
              <a:rPr lang="en-US" smtClean="0"/>
              <a:t>‹N°›</a:t>
            </a:fld>
            <a:endParaRPr lang="en-US" dirty="0"/>
          </a:p>
        </p:txBody>
      </p:sp>
      <p:sp>
        <p:nvSpPr>
          <p:cNvPr id="16" name="TextBox 15"/>
          <p:cNvSpPr txBox="1"/>
          <p:nvPr/>
        </p:nvSpPr>
        <p:spPr>
          <a:xfrm>
            <a:off x="583572" y="74811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dirty="0">
                <a:solidFill>
                  <a:schemeClr val="tx1"/>
                </a:solidFill>
                <a:effectLst/>
              </a:rPr>
              <a:t>”</a:t>
            </a:r>
          </a:p>
        </p:txBody>
      </p:sp>
    </p:spTree>
    <p:extLst>
      <p:ext uri="{BB962C8B-B14F-4D97-AF65-F5344CB8AC3E}">
        <p14:creationId xmlns:p14="http://schemas.microsoft.com/office/powerpoint/2010/main" val="40430275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arte nom">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1" name="Rectangle 10"/>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5"/>
            <a:ext cx="9613862" cy="588535"/>
          </a:xfrm>
        </p:spPr>
        <p:txBody>
          <a:bodyPr anchor="b"/>
          <a:lstStyle>
            <a:lvl1pPr>
              <a:defRPr sz="3200"/>
            </a:lvl1pPr>
          </a:lstStyle>
          <a:p>
            <a:r>
              <a:rPr lang="fr-FR"/>
              <a:t>Modifiez le style du titre</a:t>
            </a:r>
            <a:endParaRPr lang="en-US" dirty="0"/>
          </a:p>
        </p:txBody>
      </p:sp>
      <p:sp>
        <p:nvSpPr>
          <p:cNvPr id="4" name="Text Placeholder 3"/>
          <p:cNvSpPr>
            <a:spLocks noGrp="1"/>
          </p:cNvSpPr>
          <p:nvPr>
            <p:ph type="body" sz="half" idx="2"/>
          </p:nvPr>
        </p:nvSpPr>
        <p:spPr>
          <a:xfrm>
            <a:off x="680320" y="5300149"/>
            <a:ext cx="9613862" cy="50225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D1F3894F-03A6-4760-8AFF-8C8908CB964C}" type="datetimeFigureOut">
              <a:rPr lang="en-US" smtClean="0"/>
              <a:t>8/14/2026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10729455" y="4709925"/>
            <a:ext cx="1154151" cy="1090789"/>
          </a:xfrm>
        </p:spPr>
        <p:txBody>
          <a:bodyPr/>
          <a:lstStyle/>
          <a:p>
            <a:fld id="{DD68962E-EF79-4265-AC71-696A4F49210D}" type="slidenum">
              <a:rPr lang="en-US" smtClean="0"/>
              <a:t>‹N°›</a:t>
            </a:fld>
            <a:endParaRPr lang="en-US"/>
          </a:p>
        </p:txBody>
      </p:sp>
    </p:spTree>
    <p:extLst>
      <p:ext uri="{BB962C8B-B14F-4D97-AF65-F5344CB8AC3E}">
        <p14:creationId xmlns:p14="http://schemas.microsoft.com/office/powerpoint/2010/main" val="290301870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s">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6" name="Rectangle 15"/>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2" y="753228"/>
            <a:ext cx="9624960" cy="1080938"/>
          </a:xfrm>
        </p:spPr>
        <p:txBody>
          <a:bodyPr/>
          <a:lstStyle/>
          <a:p>
            <a:r>
              <a:rPr lang="fr-FR"/>
              <a:t>Modifiez le style du titre</a:t>
            </a:r>
            <a:endParaRPr lang="en-US" dirty="0"/>
          </a:p>
        </p:txBody>
      </p:sp>
      <p:sp>
        <p:nvSpPr>
          <p:cNvPr id="7" name="Text Placeholder 2"/>
          <p:cNvSpPr>
            <a:spLocks noGrp="1"/>
          </p:cNvSpPr>
          <p:nvPr>
            <p:ph type="body" idx="1"/>
          </p:nvPr>
        </p:nvSpPr>
        <p:spPr>
          <a:xfrm>
            <a:off x="660946" y="2336873"/>
            <a:ext cx="3070034"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8"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0"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11" name="Text Placeholder 4"/>
          <p:cNvSpPr>
            <a:spLocks noGrp="1"/>
          </p:cNvSpPr>
          <p:nvPr>
            <p:ph type="body" sz="quarter" idx="13"/>
          </p:nvPr>
        </p:nvSpPr>
        <p:spPr>
          <a:xfrm>
            <a:off x="7224156" y="2336873"/>
            <a:ext cx="307002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2"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3" name="Date Placeholder 2"/>
          <p:cNvSpPr>
            <a:spLocks noGrp="1"/>
          </p:cNvSpPr>
          <p:nvPr>
            <p:ph type="dt" sz="half" idx="10"/>
          </p:nvPr>
        </p:nvSpPr>
        <p:spPr/>
        <p:txBody>
          <a:bodyPr/>
          <a:lstStyle/>
          <a:p>
            <a:fld id="{D1F3894F-03A6-4760-8AFF-8C8908CB964C}" type="datetimeFigureOut">
              <a:rPr lang="en-US" smtClean="0"/>
              <a:t>8/14/2026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D68962E-EF79-4265-AC71-696A4F49210D}" type="slidenum">
              <a:rPr lang="en-US" smtClean="0"/>
              <a:t>‹N°›</a:t>
            </a:fld>
            <a:endParaRPr lang="en-US" dirty="0"/>
          </a:p>
        </p:txBody>
      </p:sp>
    </p:spTree>
    <p:extLst>
      <p:ext uri="{BB962C8B-B14F-4D97-AF65-F5344CB8AC3E}">
        <p14:creationId xmlns:p14="http://schemas.microsoft.com/office/powerpoint/2010/main" val="29243558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s d’image">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fr-FR"/>
              <a:t>Modifiez le style du titre</a:t>
            </a:r>
            <a:endParaRPr lang="en-US" dirty="0"/>
          </a:p>
        </p:txBody>
      </p:sp>
      <p:sp>
        <p:nvSpPr>
          <p:cNvPr id="19" name="Text Placeholder 2"/>
          <p:cNvSpPr>
            <a:spLocks noGrp="1"/>
          </p:cNvSpPr>
          <p:nvPr>
            <p:ph type="body" idx="1"/>
          </p:nvPr>
        </p:nvSpPr>
        <p:spPr>
          <a:xfrm>
            <a:off x="680318" y="4297503"/>
            <a:ext cx="30497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0" name="Picture Placeholder 2"/>
          <p:cNvSpPr>
            <a:spLocks noGrp="1" noChangeAspect="1"/>
          </p:cNvSpPr>
          <p:nvPr>
            <p:ph type="pic" idx="15"/>
          </p:nvPr>
        </p:nvSpPr>
        <p:spPr>
          <a:xfrm>
            <a:off x="680318"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1" name="Text Placeholder 3"/>
          <p:cNvSpPr>
            <a:spLocks noGrp="1"/>
          </p:cNvSpPr>
          <p:nvPr>
            <p:ph type="body" sz="half" idx="18"/>
          </p:nvPr>
        </p:nvSpPr>
        <p:spPr>
          <a:xfrm>
            <a:off x="680318" y="4873765"/>
            <a:ext cx="3049705"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3" name="Picture Placeholder 2"/>
          <p:cNvSpPr>
            <a:spLocks noGrp="1" noChangeAspect="1"/>
          </p:cNvSpPr>
          <p:nvPr>
            <p:ph type="pic" idx="21"/>
          </p:nvPr>
        </p:nvSpPr>
        <p:spPr>
          <a:xfrm>
            <a:off x="3945470"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4" name="Text Placeholder 3"/>
          <p:cNvSpPr>
            <a:spLocks noGrp="1"/>
          </p:cNvSpPr>
          <p:nvPr>
            <p:ph type="body" sz="half" idx="19"/>
          </p:nvPr>
        </p:nvSpPr>
        <p:spPr>
          <a:xfrm>
            <a:off x="3944117" y="4873764"/>
            <a:ext cx="306729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25" name="Text Placeholder 4"/>
          <p:cNvSpPr>
            <a:spLocks noGrp="1"/>
          </p:cNvSpPr>
          <p:nvPr>
            <p:ph type="body" sz="quarter" idx="13"/>
          </p:nvPr>
        </p:nvSpPr>
        <p:spPr>
          <a:xfrm>
            <a:off x="7230678" y="4297503"/>
            <a:ext cx="30635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6" name="Picture Placeholder 2"/>
          <p:cNvSpPr>
            <a:spLocks noGrp="1" noChangeAspect="1"/>
          </p:cNvSpPr>
          <p:nvPr>
            <p:ph type="pic" idx="22"/>
          </p:nvPr>
        </p:nvSpPr>
        <p:spPr>
          <a:xfrm>
            <a:off x="7230677"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3" name="Date Placeholder 2"/>
          <p:cNvSpPr>
            <a:spLocks noGrp="1"/>
          </p:cNvSpPr>
          <p:nvPr>
            <p:ph type="dt" sz="half" idx="10"/>
          </p:nvPr>
        </p:nvSpPr>
        <p:spPr/>
        <p:txBody>
          <a:bodyPr/>
          <a:lstStyle/>
          <a:p>
            <a:fld id="{D1F3894F-03A6-4760-8AFF-8C8908CB964C}" type="datetimeFigureOut">
              <a:rPr lang="en-US" smtClean="0"/>
              <a:t>8/14/2026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D68962E-EF79-4265-AC71-696A4F49210D}" type="slidenum">
              <a:rPr lang="en-US" smtClean="0"/>
              <a:t>‹N°›</a:t>
            </a:fld>
            <a:endParaRPr lang="en-US" dirty="0"/>
          </a:p>
        </p:txBody>
      </p:sp>
    </p:spTree>
    <p:extLst>
      <p:ext uri="{BB962C8B-B14F-4D97-AF65-F5344CB8AC3E}">
        <p14:creationId xmlns:p14="http://schemas.microsoft.com/office/powerpoint/2010/main" val="192762313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9" name="Rectangle 8"/>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D1F3894F-03A6-4760-8AFF-8C8908CB964C}"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D68962E-EF79-4265-AC71-696A4F49210D}" type="slidenum">
              <a:rPr lang="en-US" smtClean="0"/>
              <a:t>‹N°›</a:t>
            </a:fld>
            <a:endParaRPr lang="en-US"/>
          </a:p>
        </p:txBody>
      </p:sp>
    </p:spTree>
    <p:extLst>
      <p:ext uri="{BB962C8B-B14F-4D97-AF65-F5344CB8AC3E}">
        <p14:creationId xmlns:p14="http://schemas.microsoft.com/office/powerpoint/2010/main" val="35615223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2" y="5372403"/>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2" cy="4353760"/>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680322" y="609597"/>
            <a:ext cx="8870004" cy="5326589"/>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6807126" y="5936187"/>
            <a:ext cx="2743200" cy="365125"/>
          </a:xfrm>
        </p:spPr>
        <p:txBody>
          <a:bodyPr/>
          <a:lstStyle/>
          <a:p>
            <a:fld id="{D1F3894F-03A6-4760-8AFF-8C8908CB964C}" type="datetimeFigureOut">
              <a:rPr lang="en-US" smtClean="0"/>
              <a:t>8/14/2026</a:t>
            </a:fld>
            <a:endParaRPr lang="en-US"/>
          </a:p>
        </p:txBody>
      </p:sp>
      <p:sp>
        <p:nvSpPr>
          <p:cNvPr id="5" name="Footer Placeholder 4"/>
          <p:cNvSpPr>
            <a:spLocks noGrp="1"/>
          </p:cNvSpPr>
          <p:nvPr>
            <p:ph type="ftr" sz="quarter" idx="11"/>
          </p:nvPr>
        </p:nvSpPr>
        <p:spPr>
          <a:xfrm>
            <a:off x="680321" y="5936188"/>
            <a:ext cx="6126805" cy="365125"/>
          </a:xfrm>
        </p:spPr>
        <p:txBody>
          <a:bodyPr/>
          <a:lstStyle/>
          <a:p>
            <a:endParaRPr lang="en-US"/>
          </a:p>
        </p:txBody>
      </p:sp>
      <p:sp>
        <p:nvSpPr>
          <p:cNvPr id="6" name="Slide Number Placeholder 5"/>
          <p:cNvSpPr>
            <a:spLocks noGrp="1"/>
          </p:cNvSpPr>
          <p:nvPr>
            <p:ph type="sldNum" sz="quarter" idx="12"/>
          </p:nvPr>
        </p:nvSpPr>
        <p:spPr>
          <a:xfrm>
            <a:off x="10097550" y="5398633"/>
            <a:ext cx="1154151" cy="1090789"/>
          </a:xfrm>
        </p:spPr>
        <p:txBody>
          <a:bodyPr anchor="t"/>
          <a:lstStyle>
            <a:lvl1pPr algn="ctr">
              <a:defRPr/>
            </a:lvl1pPr>
          </a:lstStyle>
          <a:p>
            <a:fld id="{DD68962E-EF79-4265-AC71-696A4F49210D}" type="slidenum">
              <a:rPr lang="en-US" smtClean="0"/>
              <a:t>‹N°›</a:t>
            </a:fld>
            <a:endParaRPr lang="en-US"/>
          </a:p>
        </p:txBody>
      </p:sp>
    </p:spTree>
    <p:extLst>
      <p:ext uri="{BB962C8B-B14F-4D97-AF65-F5344CB8AC3E}">
        <p14:creationId xmlns:p14="http://schemas.microsoft.com/office/powerpoint/2010/main" val="400169361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fr-FR" dirty="0"/>
              <a:t>Modifiez le style du titre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D1F3894F-03A6-4760-8AFF-8C8908CB964C}"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1161555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20">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550981" y="5936187"/>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D1F3894F-03A6-4760-8AFF-8C8908CB964C}" type="datetimeFigureOut">
              <a:rPr lang="en-US" smtClean="0"/>
              <a:t>8/14/2026</a:t>
            </a:fld>
            <a:endParaRPr lang="en-US"/>
          </a:p>
        </p:txBody>
      </p:sp>
      <p:sp>
        <p:nvSpPr>
          <p:cNvPr id="5" name="Footer Placeholder 4"/>
          <p:cNvSpPr>
            <a:spLocks noGrp="1"/>
          </p:cNvSpPr>
          <p:nvPr>
            <p:ph type="ftr" sz="quarter" idx="3"/>
          </p:nvPr>
        </p:nvSpPr>
        <p:spPr>
          <a:xfrm>
            <a:off x="680321" y="5936188"/>
            <a:ext cx="687066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729455" y="753227"/>
            <a:ext cx="1154151" cy="1090789"/>
          </a:xfrm>
          <a:prstGeom prst="rect">
            <a:avLst/>
          </a:prstGeom>
        </p:spPr>
        <p:txBody>
          <a:bodyPr vert="horz" lIns="91440" tIns="45720" rIns="91440" bIns="45720" rtlCol="0" anchor="ctr"/>
          <a:lstStyle>
            <a:lvl1pPr algn="l">
              <a:defRPr sz="3600">
                <a:solidFill>
                  <a:schemeClr val="tx1">
                    <a:tint val="75000"/>
                  </a:schemeClr>
                </a:solidFill>
              </a:defRPr>
            </a:lvl1pPr>
          </a:lstStyle>
          <a:p>
            <a:fld id="{DD68962E-EF79-4265-AC71-696A4F49210D}" type="slidenum">
              <a:rPr lang="en-US" smtClean="0"/>
              <a:t>‹N°›</a:t>
            </a:fld>
            <a:endParaRPr lang="en-US" dirty="0"/>
          </a:p>
        </p:txBody>
      </p:sp>
    </p:spTree>
    <p:extLst>
      <p:ext uri="{BB962C8B-B14F-4D97-AF65-F5344CB8AC3E}">
        <p14:creationId xmlns:p14="http://schemas.microsoft.com/office/powerpoint/2010/main" val="3983356040"/>
      </p:ext>
    </p:extLst>
  </p:cSld>
  <p:clrMap bg1="dk1" tx1="lt1" bg2="dk2" tx2="lt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 id="2147483694" r:id="rId17"/>
    <p:sldLayoutId id="2147483662" r:id="rId18"/>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ZoneTexte 3">
            <a:extLst>
              <a:ext uri="{FF2B5EF4-FFF2-40B4-BE49-F238E27FC236}">
                <a16:creationId xmlns:a16="http://schemas.microsoft.com/office/drawing/2014/main" id="{18CF6236-BAED-3295-151C-29122E2AB3D6}"/>
              </a:ext>
            </a:extLst>
          </p:cNvPr>
          <p:cNvSpPr txBox="1"/>
          <p:nvPr/>
        </p:nvSpPr>
        <p:spPr>
          <a:xfrm>
            <a:off x="449325" y="2767280"/>
            <a:ext cx="8436925" cy="1323439"/>
          </a:xfrm>
          <a:prstGeom prst="rect">
            <a:avLst/>
          </a:prstGeom>
          <a:noFill/>
        </p:spPr>
        <p:txBody>
          <a:bodyPr wrap="none" rtlCol="0">
            <a:spAutoFit/>
          </a:bodyPr>
          <a:lstStyle/>
          <a:p>
            <a:r>
              <a:rPr lang="fr-FR" sz="4000" noProof="0" dirty="0">
                <a:latin typeface="Eras Demi ITC" panose="020B0805030504020804" pitchFamily="34" charset="0"/>
              </a:rPr>
              <a:t>Projet 8 : </a:t>
            </a:r>
            <a:r>
              <a:rPr lang="fr-FR" sz="4000" noProof="0" dirty="0">
                <a:latin typeface="Eras Light ITC" panose="020B0402030504020804" pitchFamily="34" charset="0"/>
              </a:rPr>
              <a:t>Confirmez vos compétence</a:t>
            </a:r>
            <a:r>
              <a:rPr lang="fr-FR" sz="4000" dirty="0">
                <a:latin typeface="Eras Light ITC" panose="020B0402030504020804" pitchFamily="34" charset="0"/>
              </a:rPr>
              <a:t>s</a:t>
            </a:r>
            <a:br>
              <a:rPr lang="fr-FR" sz="4000" noProof="0" dirty="0">
                <a:latin typeface="Eras Light ITC" panose="020B0402030504020804" pitchFamily="34" charset="0"/>
              </a:rPr>
            </a:br>
            <a:r>
              <a:rPr lang="fr-FR" sz="4000" noProof="0" dirty="0">
                <a:latin typeface="Eras Light ITC" panose="020B0402030504020804" pitchFamily="34" charset="0"/>
              </a:rPr>
              <a:t>en </a:t>
            </a:r>
            <a:r>
              <a:rPr lang="fr-FR" sz="4000" noProof="0" dirty="0" err="1">
                <a:latin typeface="Eras Light ITC" panose="020B0402030504020804" pitchFamily="34" charset="0"/>
              </a:rPr>
              <a:t>MLOps</a:t>
            </a:r>
            <a:endParaRPr lang="fr-FR" sz="4000" noProof="0" dirty="0">
              <a:latin typeface="Eras Bold ITC" panose="020B0907030504020204" pitchFamily="34" charset="0"/>
            </a:endParaRPr>
          </a:p>
        </p:txBody>
      </p:sp>
      <p:grpSp>
        <p:nvGrpSpPr>
          <p:cNvPr id="8" name="Groupe 7">
            <a:extLst>
              <a:ext uri="{FF2B5EF4-FFF2-40B4-BE49-F238E27FC236}">
                <a16:creationId xmlns:a16="http://schemas.microsoft.com/office/drawing/2014/main" id="{BC06D275-A421-672F-9A19-2F79B3DCF016}"/>
              </a:ext>
            </a:extLst>
          </p:cNvPr>
          <p:cNvGrpSpPr/>
          <p:nvPr/>
        </p:nvGrpSpPr>
        <p:grpSpPr>
          <a:xfrm>
            <a:off x="368936" y="2862737"/>
            <a:ext cx="7184571" cy="1192811"/>
            <a:chOff x="4250453" y="1341454"/>
            <a:chExt cx="7184571" cy="1192811"/>
          </a:xfrm>
        </p:grpSpPr>
        <p:cxnSp>
          <p:nvCxnSpPr>
            <p:cNvPr id="3" name="Connecteur droit 2">
              <a:extLst>
                <a:ext uri="{FF2B5EF4-FFF2-40B4-BE49-F238E27FC236}">
                  <a16:creationId xmlns:a16="http://schemas.microsoft.com/office/drawing/2014/main" id="{40657F70-B0B7-ECE1-0085-F78FECFEA79E}"/>
                </a:ext>
              </a:extLst>
            </p:cNvPr>
            <p:cNvCxnSpPr/>
            <p:nvPr/>
          </p:nvCxnSpPr>
          <p:spPr>
            <a:xfrm>
              <a:off x="4250453" y="1341454"/>
              <a:ext cx="0" cy="1192811"/>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5" name="Connecteur droit 4">
              <a:extLst>
                <a:ext uri="{FF2B5EF4-FFF2-40B4-BE49-F238E27FC236}">
                  <a16:creationId xmlns:a16="http://schemas.microsoft.com/office/drawing/2014/main" id="{E9B0BC0E-FD05-566B-7232-994C53136326}"/>
                </a:ext>
              </a:extLst>
            </p:cNvPr>
            <p:cNvCxnSpPr>
              <a:cxnSpLocks/>
            </p:cNvCxnSpPr>
            <p:nvPr/>
          </p:nvCxnSpPr>
          <p:spPr>
            <a:xfrm>
              <a:off x="4252129" y="2534265"/>
              <a:ext cx="7182895" cy="0"/>
            </a:xfrm>
            <a:prstGeom prst="line">
              <a:avLst/>
            </a:prstGeom>
            <a:ln w="19050"/>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782112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346F0-F1B5-4CE1-F07D-BBA9A5894051}"/>
            </a:ext>
          </a:extLst>
        </p:cNvPr>
        <p:cNvGrpSpPr/>
        <p:nvPr/>
      </p:nvGrpSpPr>
      <p:grpSpPr>
        <a:xfrm>
          <a:off x="0" y="0"/>
          <a:ext cx="0" cy="0"/>
          <a:chOff x="0" y="0"/>
          <a:chExt cx="0" cy="0"/>
        </a:xfrm>
      </p:grpSpPr>
      <p:sp>
        <p:nvSpPr>
          <p:cNvPr id="2" name="ZoneTexte 1">
            <a:extLst>
              <a:ext uri="{FF2B5EF4-FFF2-40B4-BE49-F238E27FC236}">
                <a16:creationId xmlns:a16="http://schemas.microsoft.com/office/drawing/2014/main" id="{8C655703-BF14-801F-5143-7ADE3616C370}"/>
              </a:ext>
            </a:extLst>
          </p:cNvPr>
          <p:cNvSpPr txBox="1"/>
          <p:nvPr/>
        </p:nvSpPr>
        <p:spPr>
          <a:xfrm>
            <a:off x="171770" y="916024"/>
            <a:ext cx="5758308" cy="707886"/>
          </a:xfrm>
          <a:prstGeom prst="rect">
            <a:avLst/>
          </a:prstGeom>
          <a:noFill/>
        </p:spPr>
        <p:txBody>
          <a:bodyPr wrap="none" rtlCol="0">
            <a:spAutoFit/>
          </a:bodyPr>
          <a:lstStyle/>
          <a:p>
            <a:r>
              <a:rPr lang="fr-FR" sz="4000" noProof="0" dirty="0">
                <a:latin typeface="Eras Demi ITC" panose="020B0805030504020804" pitchFamily="34" charset="0"/>
              </a:rPr>
              <a:t>Plan de la présentation</a:t>
            </a:r>
          </a:p>
        </p:txBody>
      </p:sp>
      <p:grpSp>
        <p:nvGrpSpPr>
          <p:cNvPr id="17" name="Groupe 16">
            <a:extLst>
              <a:ext uri="{FF2B5EF4-FFF2-40B4-BE49-F238E27FC236}">
                <a16:creationId xmlns:a16="http://schemas.microsoft.com/office/drawing/2014/main" id="{86DCB13D-B8CB-CC5D-4F28-3D5BFEDE488A}"/>
              </a:ext>
            </a:extLst>
          </p:cNvPr>
          <p:cNvGrpSpPr/>
          <p:nvPr/>
        </p:nvGrpSpPr>
        <p:grpSpPr>
          <a:xfrm>
            <a:off x="803098" y="2342826"/>
            <a:ext cx="11388901" cy="3749178"/>
            <a:chOff x="518893" y="2507925"/>
            <a:chExt cx="11388901" cy="4510698"/>
          </a:xfrm>
        </p:grpSpPr>
        <p:sp>
          <p:nvSpPr>
            <p:cNvPr id="3" name="ZoneTexte 2">
              <a:extLst>
                <a:ext uri="{FF2B5EF4-FFF2-40B4-BE49-F238E27FC236}">
                  <a16:creationId xmlns:a16="http://schemas.microsoft.com/office/drawing/2014/main" id="{C6B6A1D4-D551-6FD5-6DF1-83413D0C2D6B}"/>
                </a:ext>
              </a:extLst>
            </p:cNvPr>
            <p:cNvSpPr txBox="1"/>
            <p:nvPr/>
          </p:nvSpPr>
          <p:spPr>
            <a:xfrm>
              <a:off x="674169" y="2507925"/>
              <a:ext cx="11233625" cy="4459847"/>
            </a:xfrm>
            <a:prstGeom prst="rect">
              <a:avLst/>
            </a:prstGeom>
            <a:noFill/>
          </p:spPr>
          <p:txBody>
            <a:bodyPr wrap="square">
              <a:spAutoFit/>
            </a:bodyPr>
            <a:lstStyle/>
            <a:p>
              <a:pPr marL="571500" indent="-571500">
                <a:lnSpc>
                  <a:spcPct val="150000"/>
                </a:lnSpc>
                <a:buAutoNum type="romanUcPeriod"/>
              </a:pPr>
              <a:r>
                <a:rPr lang="fr-FR" sz="3200" noProof="0" dirty="0">
                  <a:latin typeface="Eras Light ITC" panose="020B0402030504020804" pitchFamily="34" charset="0"/>
                </a:rPr>
                <a:t>Contexte métier</a:t>
              </a:r>
            </a:p>
            <a:p>
              <a:pPr marL="571500" indent="-571500">
                <a:lnSpc>
                  <a:spcPct val="150000"/>
                </a:lnSpc>
                <a:buFontTx/>
                <a:buAutoNum type="romanUcPeriod"/>
              </a:pPr>
              <a:r>
                <a:rPr lang="fr-FR" sz="3200" dirty="0">
                  <a:latin typeface="Eras Light ITC" panose="020B0402030504020804" pitchFamily="34" charset="0"/>
                </a:rPr>
                <a:t>Structure du dépôt</a:t>
              </a:r>
            </a:p>
            <a:p>
              <a:pPr marL="571500" indent="-571500">
                <a:lnSpc>
                  <a:spcPct val="150000"/>
                </a:lnSpc>
                <a:buFontTx/>
                <a:buAutoNum type="romanUcPeriod"/>
              </a:pPr>
              <a:r>
                <a:rPr lang="fr-FR" sz="3200" dirty="0">
                  <a:latin typeface="Eras Light ITC" panose="020B0402030504020804" pitchFamily="34" charset="0"/>
                </a:rPr>
                <a:t>Démonstration du fonctionnement du pipeline de CI/CD </a:t>
              </a:r>
              <a:br>
                <a:rPr lang="fr-FR" sz="3200" dirty="0">
                  <a:latin typeface="Eras Light ITC" panose="020B0402030504020804" pitchFamily="34" charset="0"/>
                </a:rPr>
              </a:br>
              <a:r>
                <a:rPr lang="fr-FR" sz="3200" dirty="0">
                  <a:latin typeface="Eras Light ITC" panose="020B0402030504020804" pitchFamily="34" charset="0"/>
                </a:rPr>
                <a:t>et de l’API déployée</a:t>
              </a:r>
            </a:p>
            <a:p>
              <a:pPr marL="571500" indent="-571500">
                <a:lnSpc>
                  <a:spcPct val="150000"/>
                </a:lnSpc>
                <a:buFontTx/>
                <a:buAutoNum type="romanUcPeriod"/>
              </a:pPr>
              <a:r>
                <a:rPr lang="fr-FR" sz="3200" dirty="0">
                  <a:latin typeface="Eras Light ITC" panose="020B0402030504020804" pitchFamily="34" charset="0"/>
                </a:rPr>
                <a:t>Résultats du monitoring et optimisation</a:t>
              </a:r>
            </a:p>
          </p:txBody>
        </p:sp>
        <p:grpSp>
          <p:nvGrpSpPr>
            <p:cNvPr id="6" name="Groupe 5">
              <a:extLst>
                <a:ext uri="{FF2B5EF4-FFF2-40B4-BE49-F238E27FC236}">
                  <a16:creationId xmlns:a16="http://schemas.microsoft.com/office/drawing/2014/main" id="{D57693ED-FC97-604C-54B1-73CD674F2D20}"/>
                </a:ext>
              </a:extLst>
            </p:cNvPr>
            <p:cNvGrpSpPr/>
            <p:nvPr/>
          </p:nvGrpSpPr>
          <p:grpSpPr>
            <a:xfrm>
              <a:off x="518893" y="2767915"/>
              <a:ext cx="7182895" cy="4250708"/>
              <a:chOff x="4252129" y="1444848"/>
              <a:chExt cx="7182895" cy="1381564"/>
            </a:xfrm>
          </p:grpSpPr>
          <p:cxnSp>
            <p:nvCxnSpPr>
              <p:cNvPr id="7" name="Connecteur droit 6">
                <a:extLst>
                  <a:ext uri="{FF2B5EF4-FFF2-40B4-BE49-F238E27FC236}">
                    <a16:creationId xmlns:a16="http://schemas.microsoft.com/office/drawing/2014/main" id="{D09DB2F8-F85B-298D-6676-60C39C3E4F9C}"/>
                  </a:ext>
                </a:extLst>
              </p:cNvPr>
              <p:cNvCxnSpPr>
                <a:cxnSpLocks/>
              </p:cNvCxnSpPr>
              <p:nvPr/>
            </p:nvCxnSpPr>
            <p:spPr>
              <a:xfrm>
                <a:off x="4252129" y="1444848"/>
                <a:ext cx="0" cy="1381564"/>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B1B023AC-2E4E-C3CB-C537-2EF36F52D2D4}"/>
                  </a:ext>
                </a:extLst>
              </p:cNvPr>
              <p:cNvCxnSpPr>
                <a:cxnSpLocks/>
              </p:cNvCxnSpPr>
              <p:nvPr/>
            </p:nvCxnSpPr>
            <p:spPr>
              <a:xfrm>
                <a:off x="4252129" y="2826412"/>
                <a:ext cx="7182895" cy="0"/>
              </a:xfrm>
              <a:prstGeom prst="line">
                <a:avLst/>
              </a:prstGeom>
              <a:ln w="19050"/>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933145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678B7-F5D3-F92C-F6DF-1AE6B3F3B8E4}"/>
            </a:ext>
          </a:extLst>
        </p:cNvPr>
        <p:cNvGrpSpPr/>
        <p:nvPr/>
      </p:nvGrpSpPr>
      <p:grpSpPr>
        <a:xfrm>
          <a:off x="0" y="0"/>
          <a:ext cx="0" cy="0"/>
          <a:chOff x="0" y="0"/>
          <a:chExt cx="0" cy="0"/>
        </a:xfrm>
      </p:grpSpPr>
      <p:sp>
        <p:nvSpPr>
          <p:cNvPr id="4" name="ZoneTexte 3">
            <a:extLst>
              <a:ext uri="{FF2B5EF4-FFF2-40B4-BE49-F238E27FC236}">
                <a16:creationId xmlns:a16="http://schemas.microsoft.com/office/drawing/2014/main" id="{E8B1AC99-2FDA-48DB-07A5-9F9C93E55E73}"/>
              </a:ext>
            </a:extLst>
          </p:cNvPr>
          <p:cNvSpPr txBox="1"/>
          <p:nvPr/>
        </p:nvSpPr>
        <p:spPr>
          <a:xfrm>
            <a:off x="381600" y="632143"/>
            <a:ext cx="4503156" cy="707886"/>
          </a:xfrm>
          <a:prstGeom prst="rect">
            <a:avLst/>
          </a:prstGeom>
          <a:noFill/>
        </p:spPr>
        <p:txBody>
          <a:bodyPr wrap="none" rtlCol="0">
            <a:spAutoFit/>
          </a:bodyPr>
          <a:lstStyle/>
          <a:p>
            <a:r>
              <a:rPr lang="fr-FR" sz="4000" dirty="0">
                <a:latin typeface="Eras Demi ITC" panose="020B0805030504020804" pitchFamily="34" charset="0"/>
              </a:rPr>
              <a:t>I</a:t>
            </a:r>
            <a:r>
              <a:rPr lang="fr-FR" sz="4000" noProof="0" dirty="0">
                <a:latin typeface="Eras Demi ITC" panose="020B0805030504020804" pitchFamily="34" charset="0"/>
              </a:rPr>
              <a:t>. Contexte métier</a:t>
            </a:r>
          </a:p>
        </p:txBody>
      </p:sp>
      <p:sp>
        <p:nvSpPr>
          <p:cNvPr id="10" name="ZoneTexte 9">
            <a:extLst>
              <a:ext uri="{FF2B5EF4-FFF2-40B4-BE49-F238E27FC236}">
                <a16:creationId xmlns:a16="http://schemas.microsoft.com/office/drawing/2014/main" id="{BB1EC7EF-2AF5-9099-B33E-4E658D380657}"/>
              </a:ext>
            </a:extLst>
          </p:cNvPr>
          <p:cNvSpPr txBox="1"/>
          <p:nvPr/>
        </p:nvSpPr>
        <p:spPr>
          <a:xfrm>
            <a:off x="167718" y="2076886"/>
            <a:ext cx="2014650" cy="584775"/>
          </a:xfrm>
          <a:prstGeom prst="rect">
            <a:avLst/>
          </a:prstGeom>
          <a:noFill/>
          <a:ln>
            <a:noFill/>
          </a:ln>
        </p:spPr>
        <p:txBody>
          <a:bodyPr wrap="square" rtlCol="0">
            <a:spAutoFit/>
          </a:bodyPr>
          <a:lstStyle/>
          <a:p>
            <a:r>
              <a:rPr lang="fr-FR" sz="3200" b="1" noProof="0" dirty="0">
                <a:ea typeface="Microsoft JhengHei UI" panose="020B0604030504040204" pitchFamily="34" charset="-120"/>
              </a:rPr>
              <a:t>Mission :</a:t>
            </a:r>
            <a:endParaRPr lang="fr-FR" sz="3200" i="1" noProof="0" dirty="0">
              <a:ea typeface="Microsoft JhengHei UI Light" panose="020B0304030504040204" pitchFamily="34" charset="-120"/>
            </a:endParaRPr>
          </a:p>
        </p:txBody>
      </p:sp>
      <p:sp>
        <p:nvSpPr>
          <p:cNvPr id="11" name="ZoneTexte 10">
            <a:extLst>
              <a:ext uri="{FF2B5EF4-FFF2-40B4-BE49-F238E27FC236}">
                <a16:creationId xmlns:a16="http://schemas.microsoft.com/office/drawing/2014/main" id="{A06D7BB9-EBCA-2C92-E48E-B1CB8588E5DE}"/>
              </a:ext>
            </a:extLst>
          </p:cNvPr>
          <p:cNvSpPr txBox="1"/>
          <p:nvPr/>
        </p:nvSpPr>
        <p:spPr>
          <a:xfrm>
            <a:off x="2212589" y="2107586"/>
            <a:ext cx="9979411" cy="1077218"/>
          </a:xfrm>
          <a:prstGeom prst="rect">
            <a:avLst/>
          </a:prstGeom>
          <a:noFill/>
          <a:ln>
            <a:noFill/>
          </a:ln>
        </p:spPr>
        <p:txBody>
          <a:bodyPr wrap="square" rtlCol="0">
            <a:spAutoFit/>
          </a:bodyPr>
          <a:lstStyle/>
          <a:p>
            <a:r>
              <a:rPr lang="en-US" sz="3200" dirty="0"/>
              <a:t>Simulation de la mise </a:t>
            </a:r>
            <a:r>
              <a:rPr lang="en-US" sz="3200" dirty="0" err="1"/>
              <a:t>en</a:t>
            </a:r>
            <a:r>
              <a:rPr lang="en-US" sz="3200" dirty="0"/>
              <a:t> production d'un </a:t>
            </a:r>
            <a:r>
              <a:rPr lang="en-US" sz="3200" dirty="0" err="1"/>
              <a:t>modèle</a:t>
            </a:r>
            <a:r>
              <a:rPr lang="en-US" sz="3200" dirty="0"/>
              <a:t> de scoring client </a:t>
            </a:r>
            <a:r>
              <a:rPr lang="en-US" sz="3200" dirty="0" err="1"/>
              <a:t>basé</a:t>
            </a:r>
            <a:r>
              <a:rPr lang="en-US" sz="3200" dirty="0"/>
              <a:t> sur des données </a:t>
            </a:r>
            <a:r>
              <a:rPr lang="en-US" sz="3200" dirty="0" err="1"/>
              <a:t>banquaires</a:t>
            </a:r>
            <a:r>
              <a:rPr lang="en-US" sz="3200" dirty="0"/>
              <a:t>.</a:t>
            </a:r>
            <a:endParaRPr lang="fr-FR" sz="3200" noProof="0" dirty="0">
              <a:latin typeface="Eras Light ITC" panose="020B0402030504020804" pitchFamily="34" charset="0"/>
              <a:ea typeface="Microsoft JhengHei UI Light" panose="020B0304030504040204" pitchFamily="34" charset="-120"/>
            </a:endParaRPr>
          </a:p>
        </p:txBody>
      </p:sp>
      <p:sp>
        <p:nvSpPr>
          <p:cNvPr id="14" name="ZoneTexte 13">
            <a:extLst>
              <a:ext uri="{FF2B5EF4-FFF2-40B4-BE49-F238E27FC236}">
                <a16:creationId xmlns:a16="http://schemas.microsoft.com/office/drawing/2014/main" id="{2AEFB32B-5903-71A3-4905-6423E2EBF815}"/>
              </a:ext>
            </a:extLst>
          </p:cNvPr>
          <p:cNvSpPr txBox="1"/>
          <p:nvPr/>
        </p:nvSpPr>
        <p:spPr>
          <a:xfrm>
            <a:off x="167718" y="3282450"/>
            <a:ext cx="2112186" cy="584775"/>
          </a:xfrm>
          <a:prstGeom prst="rect">
            <a:avLst/>
          </a:prstGeom>
          <a:noFill/>
          <a:ln>
            <a:noFill/>
          </a:ln>
        </p:spPr>
        <p:txBody>
          <a:bodyPr wrap="square" rtlCol="0">
            <a:spAutoFit/>
          </a:bodyPr>
          <a:lstStyle/>
          <a:p>
            <a:r>
              <a:rPr lang="fr-FR" sz="3200" b="1" noProof="0" dirty="0">
                <a:ea typeface="Microsoft JhengHei UI" panose="020B0604030504040204" pitchFamily="34" charset="-120"/>
              </a:rPr>
              <a:t>Modèle :</a:t>
            </a:r>
            <a:endParaRPr lang="fr-FR" sz="3200" i="1" noProof="0" dirty="0">
              <a:ea typeface="Microsoft JhengHei UI Light" panose="020B0304030504040204" pitchFamily="34" charset="-120"/>
            </a:endParaRPr>
          </a:p>
        </p:txBody>
      </p:sp>
      <p:sp>
        <p:nvSpPr>
          <p:cNvPr id="16" name="ZoneTexte 15">
            <a:extLst>
              <a:ext uri="{FF2B5EF4-FFF2-40B4-BE49-F238E27FC236}">
                <a16:creationId xmlns:a16="http://schemas.microsoft.com/office/drawing/2014/main" id="{8AF51C47-6D73-DD8B-26BB-3192322B2FF0}"/>
              </a:ext>
            </a:extLst>
          </p:cNvPr>
          <p:cNvSpPr txBox="1"/>
          <p:nvPr/>
        </p:nvSpPr>
        <p:spPr>
          <a:xfrm>
            <a:off x="2212589" y="3328853"/>
            <a:ext cx="11149472" cy="1569660"/>
          </a:xfrm>
          <a:prstGeom prst="rect">
            <a:avLst/>
          </a:prstGeom>
          <a:noFill/>
          <a:ln>
            <a:noFill/>
          </a:ln>
        </p:spPr>
        <p:txBody>
          <a:bodyPr wrap="square" rtlCol="0">
            <a:spAutoFit/>
          </a:bodyPr>
          <a:lstStyle/>
          <a:p>
            <a:r>
              <a:rPr lang="fr-FR" sz="3200" noProof="0" dirty="0">
                <a:latin typeface="Eras Light ITC" panose="020B0402030504020804" pitchFamily="34" charset="0"/>
                <a:ea typeface="Microsoft JhengHei Light" panose="020B0304030504040204" pitchFamily="34" charset="-120"/>
              </a:rPr>
              <a:t>Prédiction de la probabilité de recouvrement d’un prêt </a:t>
            </a:r>
            <a:br>
              <a:rPr lang="fr-FR" sz="3200" noProof="0" dirty="0">
                <a:latin typeface="Eras Light ITC" panose="020B0402030504020804" pitchFamily="34" charset="0"/>
                <a:ea typeface="Microsoft JhengHei Light" panose="020B0304030504040204" pitchFamily="34" charset="-120"/>
              </a:rPr>
            </a:br>
            <a:r>
              <a:rPr lang="fr-FR" sz="3200" noProof="0" dirty="0">
                <a:latin typeface="Eras Light ITC" panose="020B0402030504020804" pitchFamily="34" charset="0"/>
                <a:ea typeface="Microsoft JhengHei Light" panose="020B0304030504040204" pitchFamily="34" charset="-120"/>
              </a:rPr>
              <a:t>en se basant l’historique bancaire et des données </a:t>
            </a:r>
            <a:br>
              <a:rPr lang="fr-FR" sz="3200" noProof="0" dirty="0">
                <a:latin typeface="Eras Light ITC" panose="020B0402030504020804" pitchFamily="34" charset="0"/>
                <a:ea typeface="Microsoft JhengHei Light" panose="020B0304030504040204" pitchFamily="34" charset="-120"/>
              </a:rPr>
            </a:br>
            <a:r>
              <a:rPr lang="fr-FR" sz="3200" noProof="0" dirty="0">
                <a:latin typeface="Eras Light ITC" panose="020B0402030504020804" pitchFamily="34" charset="0"/>
                <a:ea typeface="Microsoft JhengHei Light" panose="020B0304030504040204" pitchFamily="34" charset="-120"/>
              </a:rPr>
              <a:t>personnelles.</a:t>
            </a:r>
            <a:endParaRPr lang="fr-FR" sz="3200" noProof="0" dirty="0">
              <a:latin typeface="Eras Light ITC" panose="020B0402030504020804" pitchFamily="34" charset="0"/>
              <a:ea typeface="Microsoft JhengHei UI Light" panose="020B0304030504040204" pitchFamily="34" charset="-120"/>
            </a:endParaRPr>
          </a:p>
        </p:txBody>
      </p:sp>
      <p:sp>
        <p:nvSpPr>
          <p:cNvPr id="6" name="ZoneTexte 5">
            <a:extLst>
              <a:ext uri="{FF2B5EF4-FFF2-40B4-BE49-F238E27FC236}">
                <a16:creationId xmlns:a16="http://schemas.microsoft.com/office/drawing/2014/main" id="{02A70FEC-3880-76D7-F6F4-65FB0220AEC9}"/>
              </a:ext>
            </a:extLst>
          </p:cNvPr>
          <p:cNvSpPr txBox="1"/>
          <p:nvPr/>
        </p:nvSpPr>
        <p:spPr>
          <a:xfrm>
            <a:off x="164000" y="4984869"/>
            <a:ext cx="2233511" cy="584775"/>
          </a:xfrm>
          <a:prstGeom prst="rect">
            <a:avLst/>
          </a:prstGeom>
          <a:noFill/>
          <a:ln>
            <a:noFill/>
          </a:ln>
        </p:spPr>
        <p:txBody>
          <a:bodyPr wrap="square" rtlCol="0">
            <a:spAutoFit/>
          </a:bodyPr>
          <a:lstStyle/>
          <a:p>
            <a:r>
              <a:rPr lang="fr-FR" sz="3200" b="1" noProof="0" dirty="0">
                <a:ea typeface="Microsoft JhengHei UI" panose="020B0604030504040204" pitchFamily="34" charset="-120"/>
              </a:rPr>
              <a:t>Objectifs :</a:t>
            </a:r>
            <a:endParaRPr lang="fr-FR" sz="3200" i="1" noProof="0" dirty="0">
              <a:ea typeface="Microsoft JhengHei UI Light" panose="020B0304030504040204" pitchFamily="34" charset="-120"/>
            </a:endParaRPr>
          </a:p>
        </p:txBody>
      </p:sp>
      <p:sp>
        <p:nvSpPr>
          <p:cNvPr id="8" name="ZoneTexte 7">
            <a:extLst>
              <a:ext uri="{FF2B5EF4-FFF2-40B4-BE49-F238E27FC236}">
                <a16:creationId xmlns:a16="http://schemas.microsoft.com/office/drawing/2014/main" id="{ADF549B2-5124-90F2-D601-A086455872E8}"/>
              </a:ext>
            </a:extLst>
          </p:cNvPr>
          <p:cNvSpPr txBox="1"/>
          <p:nvPr/>
        </p:nvSpPr>
        <p:spPr>
          <a:xfrm>
            <a:off x="2186570" y="5031272"/>
            <a:ext cx="9343791" cy="1077218"/>
          </a:xfrm>
          <a:prstGeom prst="rect">
            <a:avLst/>
          </a:prstGeom>
          <a:noFill/>
          <a:ln>
            <a:noFill/>
          </a:ln>
        </p:spPr>
        <p:txBody>
          <a:bodyPr wrap="square" rtlCol="0">
            <a:spAutoFit/>
          </a:bodyPr>
          <a:lstStyle/>
          <a:p>
            <a:r>
              <a:rPr lang="fr-FR" sz="3200" dirty="0">
                <a:latin typeface="Eras Light ITC" panose="020B0402030504020804" pitchFamily="34" charset="0"/>
                <a:ea typeface="Microsoft JhengHei Light" panose="020B0304030504040204" pitchFamily="34" charset="-120"/>
              </a:rPr>
              <a:t>	- Déploiement d’une API conteneurisée</a:t>
            </a:r>
          </a:p>
          <a:p>
            <a:r>
              <a:rPr lang="fr-FR" sz="3200" dirty="0">
                <a:latin typeface="Eras Light ITC" panose="020B0402030504020804" pitchFamily="34" charset="0"/>
                <a:ea typeface="Microsoft JhengHei Light" panose="020B0304030504040204" pitchFamily="34" charset="-120"/>
              </a:rPr>
              <a:t>	- Dashboard de monitoring	</a:t>
            </a:r>
            <a:endParaRPr lang="fr-FR" sz="3200" noProof="0" dirty="0">
              <a:latin typeface="Eras Light ITC" panose="020B0402030504020804" pitchFamily="34" charset="0"/>
              <a:ea typeface="Microsoft JhengHei UI Light" panose="020B0304030504040204" pitchFamily="34" charset="-120"/>
            </a:endParaRPr>
          </a:p>
        </p:txBody>
      </p:sp>
    </p:spTree>
    <p:extLst>
      <p:ext uri="{BB962C8B-B14F-4D97-AF65-F5344CB8AC3E}">
        <p14:creationId xmlns:p14="http://schemas.microsoft.com/office/powerpoint/2010/main" val="507554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270000"/>
                <a:satMod val="200000"/>
                <a:lumMod val="128000"/>
              </a:schemeClr>
            </a:gs>
            <a:gs pos="50000">
              <a:schemeClr val="bg2">
                <a:shade val="100000"/>
                <a:hueMod val="100000"/>
                <a:satMod val="110000"/>
                <a:lumMod val="130000"/>
              </a:schemeClr>
            </a:gs>
            <a:gs pos="100000">
              <a:schemeClr val="bg2">
                <a:shade val="78000"/>
                <a:hueMod val="44000"/>
                <a:satMod val="200000"/>
                <a:lumMod val="69000"/>
              </a:schemeClr>
            </a:gs>
          </a:gsLst>
          <a:lin ang="2520000" scaled="0"/>
        </a:gradFill>
        <a:effectLst/>
      </p:bgPr>
    </p:bg>
    <p:spTree>
      <p:nvGrpSpPr>
        <p:cNvPr id="1" name="">
          <a:extLst>
            <a:ext uri="{FF2B5EF4-FFF2-40B4-BE49-F238E27FC236}">
              <a16:creationId xmlns:a16="http://schemas.microsoft.com/office/drawing/2014/main" id="{F45BE370-017B-9C7A-CCBD-8C3AE0BDC15F}"/>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F4979F40-3A44-4CCB-9EB7-F8318BCE57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4" name="Picture 33">
            <a:extLst>
              <a:ext uri="{FF2B5EF4-FFF2-40B4-BE49-F238E27FC236}">
                <a16:creationId xmlns:a16="http://schemas.microsoft.com/office/drawing/2014/main" id="{15291D39-6B03-4BB5-BFC6-CBF11E90BFD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36" name="Rectangle 35">
            <a:extLst>
              <a:ext uri="{FF2B5EF4-FFF2-40B4-BE49-F238E27FC236}">
                <a16:creationId xmlns:a16="http://schemas.microsoft.com/office/drawing/2014/main" id="{AFD071FA-0514-4371-9568-86216A1F46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5211DDA4-E7B5-4325-A844-B7F59B084B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40" name="Picture 39">
            <a:extLst>
              <a:ext uri="{FF2B5EF4-FFF2-40B4-BE49-F238E27FC236}">
                <a16:creationId xmlns:a16="http://schemas.microsoft.com/office/drawing/2014/main" id="{0D58E222-6309-4F79-AC20-9D3C69CD9B1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5" name="ZoneTexte 4">
            <a:extLst>
              <a:ext uri="{FF2B5EF4-FFF2-40B4-BE49-F238E27FC236}">
                <a16:creationId xmlns:a16="http://schemas.microsoft.com/office/drawing/2014/main" id="{5454DF5A-1FFC-7C98-CC76-B419D683E33F}"/>
              </a:ext>
            </a:extLst>
          </p:cNvPr>
          <p:cNvSpPr txBox="1"/>
          <p:nvPr/>
        </p:nvSpPr>
        <p:spPr>
          <a:xfrm>
            <a:off x="681205" y="1340029"/>
            <a:ext cx="3215945" cy="461665"/>
          </a:xfrm>
          <a:prstGeom prst="rect">
            <a:avLst/>
          </a:prstGeom>
          <a:noFill/>
        </p:spPr>
        <p:txBody>
          <a:bodyPr wrap="none" rtlCol="0">
            <a:spAutoFit/>
          </a:bodyPr>
          <a:lstStyle/>
          <a:p>
            <a:pPr lvl="1"/>
            <a:r>
              <a:rPr lang="fr-FR" sz="2400" dirty="0">
                <a:latin typeface="Eras Demi ITC" panose="020B0805030504020804" pitchFamily="34" charset="0"/>
              </a:rPr>
              <a:t>2</a:t>
            </a:r>
            <a:r>
              <a:rPr lang="fr-FR" sz="2400" noProof="0" dirty="0">
                <a:latin typeface="Eras Demi ITC" panose="020B0805030504020804" pitchFamily="34" charset="0"/>
              </a:rPr>
              <a:t>.1 –</a:t>
            </a:r>
            <a:r>
              <a:rPr lang="fr-FR" sz="2400" b="1" noProof="0" dirty="0">
                <a:latin typeface="Eras Light ITC" panose="020B0402030504020804" pitchFamily="34" charset="0"/>
              </a:rPr>
              <a:t> </a:t>
            </a:r>
            <a:r>
              <a:rPr lang="fr-FR" sz="2400" noProof="0" dirty="0">
                <a:latin typeface="Eras Light ITC" panose="020B0402030504020804" pitchFamily="34" charset="0"/>
              </a:rPr>
              <a:t>Arborescence</a:t>
            </a:r>
          </a:p>
        </p:txBody>
      </p:sp>
      <p:sp>
        <p:nvSpPr>
          <p:cNvPr id="10" name="ZoneTexte 9">
            <a:extLst>
              <a:ext uri="{FF2B5EF4-FFF2-40B4-BE49-F238E27FC236}">
                <a16:creationId xmlns:a16="http://schemas.microsoft.com/office/drawing/2014/main" id="{20AC79AE-8802-D061-9114-6C6A46DA3C46}"/>
              </a:ext>
            </a:extLst>
          </p:cNvPr>
          <p:cNvSpPr txBox="1"/>
          <p:nvPr/>
        </p:nvSpPr>
        <p:spPr>
          <a:xfrm>
            <a:off x="47962" y="632143"/>
            <a:ext cx="5065810" cy="584775"/>
          </a:xfrm>
          <a:prstGeom prst="rect">
            <a:avLst/>
          </a:prstGeom>
          <a:noFill/>
        </p:spPr>
        <p:txBody>
          <a:bodyPr wrap="none" rtlCol="0">
            <a:spAutoFit/>
          </a:bodyPr>
          <a:lstStyle/>
          <a:p>
            <a:r>
              <a:rPr lang="fr-FR" sz="3200" dirty="0">
                <a:latin typeface="Eras Demi ITC" panose="020B0805030504020804" pitchFamily="34" charset="0"/>
              </a:rPr>
              <a:t>II</a:t>
            </a:r>
            <a:r>
              <a:rPr lang="fr-FR" sz="3200" noProof="0" dirty="0">
                <a:latin typeface="Eras Demi ITC" panose="020B0805030504020804" pitchFamily="34" charset="0"/>
              </a:rPr>
              <a:t>. Organisation du projet</a:t>
            </a:r>
          </a:p>
        </p:txBody>
      </p:sp>
      <p:pic>
        <p:nvPicPr>
          <p:cNvPr id="12" name="Image 11">
            <a:extLst>
              <a:ext uri="{FF2B5EF4-FFF2-40B4-BE49-F238E27FC236}">
                <a16:creationId xmlns:a16="http://schemas.microsoft.com/office/drawing/2014/main" id="{5D500773-D542-B61C-6F26-477C5F0CDD39}"/>
              </a:ext>
            </a:extLst>
          </p:cNvPr>
          <p:cNvPicPr>
            <a:picLocks noChangeAspect="1"/>
          </p:cNvPicPr>
          <p:nvPr/>
        </p:nvPicPr>
        <p:blipFill>
          <a:blip r:embed="rId5"/>
          <a:stretch>
            <a:fillRect/>
          </a:stretch>
        </p:blipFill>
        <p:spPr>
          <a:xfrm>
            <a:off x="1675761" y="2170028"/>
            <a:ext cx="8840477" cy="4609431"/>
          </a:xfrm>
          <a:prstGeom prst="rect">
            <a:avLst/>
          </a:prstGeom>
        </p:spPr>
      </p:pic>
    </p:spTree>
    <p:extLst>
      <p:ext uri="{BB962C8B-B14F-4D97-AF65-F5344CB8AC3E}">
        <p14:creationId xmlns:p14="http://schemas.microsoft.com/office/powerpoint/2010/main" val="22877986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35724-676F-7877-5F60-DBA4B110A06F}"/>
            </a:ext>
          </a:extLst>
        </p:cNvPr>
        <p:cNvGrpSpPr/>
        <p:nvPr/>
      </p:nvGrpSpPr>
      <p:grpSpPr>
        <a:xfrm>
          <a:off x="0" y="0"/>
          <a:ext cx="0" cy="0"/>
          <a:chOff x="0" y="0"/>
          <a:chExt cx="0" cy="0"/>
        </a:xfrm>
      </p:grpSpPr>
      <p:sp>
        <p:nvSpPr>
          <p:cNvPr id="4" name="ZoneTexte 3">
            <a:extLst>
              <a:ext uri="{FF2B5EF4-FFF2-40B4-BE49-F238E27FC236}">
                <a16:creationId xmlns:a16="http://schemas.microsoft.com/office/drawing/2014/main" id="{F26041EE-715C-B0DE-6D4E-E2ADAA5F4C67}"/>
              </a:ext>
            </a:extLst>
          </p:cNvPr>
          <p:cNvSpPr txBox="1"/>
          <p:nvPr/>
        </p:nvSpPr>
        <p:spPr>
          <a:xfrm>
            <a:off x="1014843" y="1340029"/>
            <a:ext cx="3579826" cy="461665"/>
          </a:xfrm>
          <a:prstGeom prst="rect">
            <a:avLst/>
          </a:prstGeom>
          <a:noFill/>
        </p:spPr>
        <p:txBody>
          <a:bodyPr wrap="none" rtlCol="0">
            <a:spAutoFit/>
          </a:bodyPr>
          <a:lstStyle/>
          <a:p>
            <a:pPr lvl="1"/>
            <a:r>
              <a:rPr lang="fr-FR" sz="2400" dirty="0">
                <a:latin typeface="Eras Demi ITC" panose="020B0805030504020804" pitchFamily="34" charset="0"/>
              </a:rPr>
              <a:t>2</a:t>
            </a:r>
            <a:r>
              <a:rPr lang="fr-FR" sz="2400" noProof="0" dirty="0">
                <a:latin typeface="Eras Demi ITC" panose="020B0805030504020804" pitchFamily="34" charset="0"/>
              </a:rPr>
              <a:t>.2 –</a:t>
            </a:r>
            <a:r>
              <a:rPr lang="fr-FR" sz="2400" b="1" noProof="0" dirty="0">
                <a:latin typeface="Eras Light ITC" panose="020B0402030504020804" pitchFamily="34" charset="0"/>
              </a:rPr>
              <a:t> </a:t>
            </a:r>
            <a:r>
              <a:rPr lang="fr-FR" sz="2400" noProof="0" dirty="0">
                <a:latin typeface="Eras Light ITC" panose="020B0402030504020804" pitchFamily="34" charset="0"/>
              </a:rPr>
              <a:t>Flux de travail git</a:t>
            </a:r>
          </a:p>
        </p:txBody>
      </p:sp>
      <p:sp>
        <p:nvSpPr>
          <p:cNvPr id="5" name="ZoneTexte 4">
            <a:extLst>
              <a:ext uri="{FF2B5EF4-FFF2-40B4-BE49-F238E27FC236}">
                <a16:creationId xmlns:a16="http://schemas.microsoft.com/office/drawing/2014/main" id="{987F7662-94B0-730C-1EF1-C25A1A0D0CA6}"/>
              </a:ext>
            </a:extLst>
          </p:cNvPr>
          <p:cNvSpPr txBox="1"/>
          <p:nvPr/>
        </p:nvSpPr>
        <p:spPr>
          <a:xfrm>
            <a:off x="381600" y="632143"/>
            <a:ext cx="6138219" cy="707886"/>
          </a:xfrm>
          <a:prstGeom prst="rect">
            <a:avLst/>
          </a:prstGeom>
          <a:noFill/>
        </p:spPr>
        <p:txBody>
          <a:bodyPr wrap="none" rtlCol="0">
            <a:spAutoFit/>
          </a:bodyPr>
          <a:lstStyle/>
          <a:p>
            <a:r>
              <a:rPr lang="fr-FR" sz="4000" dirty="0">
                <a:latin typeface="Eras Demi ITC" panose="020B0805030504020804" pitchFamily="34" charset="0"/>
              </a:rPr>
              <a:t>I</a:t>
            </a:r>
            <a:r>
              <a:rPr lang="fr-FR" sz="4000" noProof="0" dirty="0">
                <a:latin typeface="Eras Demi ITC" panose="020B0805030504020804" pitchFamily="34" charset="0"/>
              </a:rPr>
              <a:t>. Organisation du projet</a:t>
            </a:r>
          </a:p>
        </p:txBody>
      </p:sp>
      <p:grpSp>
        <p:nvGrpSpPr>
          <p:cNvPr id="12" name="Groupe 11">
            <a:extLst>
              <a:ext uri="{FF2B5EF4-FFF2-40B4-BE49-F238E27FC236}">
                <a16:creationId xmlns:a16="http://schemas.microsoft.com/office/drawing/2014/main" id="{A6580A44-D26A-FC60-F554-8A26F5C83A3D}"/>
              </a:ext>
            </a:extLst>
          </p:cNvPr>
          <p:cNvGrpSpPr/>
          <p:nvPr/>
        </p:nvGrpSpPr>
        <p:grpSpPr>
          <a:xfrm>
            <a:off x="0" y="2336800"/>
            <a:ext cx="12192000" cy="1977126"/>
            <a:chOff x="0" y="3190240"/>
            <a:chExt cx="12192000" cy="1977126"/>
          </a:xfrm>
        </p:grpSpPr>
        <p:pic>
          <p:nvPicPr>
            <p:cNvPr id="26" name="Image 25" descr="Une image contenant capture d’écran, ligne, Tracé, diagramme&#10;&#10;Le contenu généré par l’IA peut être incorrect.">
              <a:extLst>
                <a:ext uri="{FF2B5EF4-FFF2-40B4-BE49-F238E27FC236}">
                  <a16:creationId xmlns:a16="http://schemas.microsoft.com/office/drawing/2014/main" id="{BD5B962D-75CC-5BAD-674B-CFF1D0B129AF}"/>
                </a:ext>
              </a:extLst>
            </p:cNvPr>
            <p:cNvPicPr>
              <a:picLocks noChangeAspect="1"/>
            </p:cNvPicPr>
            <p:nvPr/>
          </p:nvPicPr>
          <p:blipFill>
            <a:blip r:embed="rId3"/>
            <a:stretch>
              <a:fillRect/>
            </a:stretch>
          </p:blipFill>
          <p:spPr>
            <a:xfrm>
              <a:off x="0" y="3190240"/>
              <a:ext cx="12192000" cy="1977126"/>
            </a:xfrm>
            <a:prstGeom prst="rect">
              <a:avLst/>
            </a:prstGeom>
            <a:solidFill>
              <a:srgbClr val="1C1B22"/>
            </a:solidFill>
          </p:spPr>
        </p:pic>
        <p:sp>
          <p:nvSpPr>
            <p:cNvPr id="2" name="ZoneTexte 1">
              <a:extLst>
                <a:ext uri="{FF2B5EF4-FFF2-40B4-BE49-F238E27FC236}">
                  <a16:creationId xmlns:a16="http://schemas.microsoft.com/office/drawing/2014/main" id="{4D7BF73F-F010-09AF-2972-9E5CF5816081}"/>
                </a:ext>
              </a:extLst>
            </p:cNvPr>
            <p:cNvSpPr txBox="1"/>
            <p:nvPr/>
          </p:nvSpPr>
          <p:spPr>
            <a:xfrm>
              <a:off x="3050801" y="3208528"/>
              <a:ext cx="625171" cy="161583"/>
            </a:xfrm>
            <a:prstGeom prst="rect">
              <a:avLst/>
            </a:prstGeom>
            <a:solidFill>
              <a:srgbClr val="1C1B22"/>
            </a:solidFill>
          </p:spPr>
          <p:txBody>
            <a:bodyPr wrap="none" lIns="0" tIns="0" rIns="0" bIns="0" rtlCol="0">
              <a:spAutoFit/>
            </a:bodyPr>
            <a:lstStyle/>
            <a:p>
              <a:r>
                <a:rPr lang="fr-FR" sz="1050" dirty="0"/>
                <a:t>Tag: V.1.0</a:t>
              </a:r>
              <a:endParaRPr lang="en-US" sz="1050" dirty="0"/>
            </a:p>
          </p:txBody>
        </p:sp>
        <p:sp>
          <p:nvSpPr>
            <p:cNvPr id="6" name="ZoneTexte 5">
              <a:extLst>
                <a:ext uri="{FF2B5EF4-FFF2-40B4-BE49-F238E27FC236}">
                  <a16:creationId xmlns:a16="http://schemas.microsoft.com/office/drawing/2014/main" id="{AA26E457-E4B2-DB05-663C-ACBD2F74E0F8}"/>
                </a:ext>
              </a:extLst>
            </p:cNvPr>
            <p:cNvSpPr txBox="1"/>
            <p:nvPr/>
          </p:nvSpPr>
          <p:spPr>
            <a:xfrm>
              <a:off x="8336033" y="3208528"/>
              <a:ext cx="625171" cy="161583"/>
            </a:xfrm>
            <a:prstGeom prst="rect">
              <a:avLst/>
            </a:prstGeom>
            <a:solidFill>
              <a:srgbClr val="1C1B22"/>
            </a:solidFill>
          </p:spPr>
          <p:txBody>
            <a:bodyPr wrap="none" lIns="0" tIns="0" rIns="0" bIns="0" rtlCol="0">
              <a:spAutoFit/>
            </a:bodyPr>
            <a:lstStyle/>
            <a:p>
              <a:r>
                <a:rPr lang="fr-FR" sz="1050" dirty="0"/>
                <a:t>Tag: V.1.1</a:t>
              </a:r>
              <a:endParaRPr lang="en-US" sz="1050" dirty="0"/>
            </a:p>
          </p:txBody>
        </p:sp>
        <p:sp>
          <p:nvSpPr>
            <p:cNvPr id="8" name="ZoneTexte 7">
              <a:extLst>
                <a:ext uri="{FF2B5EF4-FFF2-40B4-BE49-F238E27FC236}">
                  <a16:creationId xmlns:a16="http://schemas.microsoft.com/office/drawing/2014/main" id="{CFEF9CFD-A98B-6FF4-B1F2-DF3D9F36C43E}"/>
                </a:ext>
              </a:extLst>
            </p:cNvPr>
            <p:cNvSpPr txBox="1"/>
            <p:nvPr/>
          </p:nvSpPr>
          <p:spPr>
            <a:xfrm>
              <a:off x="10579361" y="3207551"/>
              <a:ext cx="625171" cy="161583"/>
            </a:xfrm>
            <a:prstGeom prst="rect">
              <a:avLst/>
            </a:prstGeom>
            <a:solidFill>
              <a:srgbClr val="1C1B22"/>
            </a:solidFill>
          </p:spPr>
          <p:txBody>
            <a:bodyPr wrap="none" lIns="0" tIns="0" rIns="0" bIns="0" rtlCol="0">
              <a:spAutoFit/>
            </a:bodyPr>
            <a:lstStyle/>
            <a:p>
              <a:r>
                <a:rPr lang="fr-FR" sz="1050" dirty="0"/>
                <a:t>Tag: V.1.2</a:t>
              </a:r>
              <a:endParaRPr lang="en-US" sz="1050" dirty="0"/>
            </a:p>
          </p:txBody>
        </p:sp>
        <p:sp>
          <p:nvSpPr>
            <p:cNvPr id="10" name="ZoneTexte 9">
              <a:extLst>
                <a:ext uri="{FF2B5EF4-FFF2-40B4-BE49-F238E27FC236}">
                  <a16:creationId xmlns:a16="http://schemas.microsoft.com/office/drawing/2014/main" id="{68670FC0-9241-0805-361D-411996DE6FB0}"/>
                </a:ext>
              </a:extLst>
            </p:cNvPr>
            <p:cNvSpPr txBox="1"/>
            <p:nvPr/>
          </p:nvSpPr>
          <p:spPr>
            <a:xfrm>
              <a:off x="1748260" y="4865983"/>
              <a:ext cx="1179810" cy="276999"/>
            </a:xfrm>
            <a:prstGeom prst="rect">
              <a:avLst/>
            </a:prstGeom>
            <a:solidFill>
              <a:srgbClr val="1C1B22"/>
            </a:solidFill>
          </p:spPr>
          <p:txBody>
            <a:bodyPr wrap="none" lIns="0" tIns="0" rIns="0" bIns="0" rtlCol="0">
              <a:spAutoFit/>
            </a:bodyPr>
            <a:lstStyle/>
            <a:p>
              <a:r>
                <a:rPr lang="fr-FR" sz="900" dirty="0"/>
                <a:t>Développement d’une </a:t>
              </a:r>
              <a:br>
                <a:rPr lang="fr-FR" sz="900" dirty="0"/>
              </a:br>
              <a:r>
                <a:rPr lang="fr-FR" sz="900" dirty="0"/>
                <a:t>première version d’API</a:t>
              </a:r>
              <a:endParaRPr lang="en-US" sz="900" dirty="0"/>
            </a:p>
          </p:txBody>
        </p:sp>
        <p:sp>
          <p:nvSpPr>
            <p:cNvPr id="11" name="ZoneTexte 10">
              <a:extLst>
                <a:ext uri="{FF2B5EF4-FFF2-40B4-BE49-F238E27FC236}">
                  <a16:creationId xmlns:a16="http://schemas.microsoft.com/office/drawing/2014/main" id="{E7A5FA1D-F013-E8CC-F1E2-91D92837BEC1}"/>
                </a:ext>
              </a:extLst>
            </p:cNvPr>
            <p:cNvSpPr txBox="1"/>
            <p:nvPr/>
          </p:nvSpPr>
          <p:spPr>
            <a:xfrm>
              <a:off x="322387" y="3429000"/>
              <a:ext cx="282129" cy="153888"/>
            </a:xfrm>
            <a:prstGeom prst="rect">
              <a:avLst/>
            </a:prstGeom>
            <a:solidFill>
              <a:srgbClr val="1C1B22"/>
            </a:solidFill>
          </p:spPr>
          <p:txBody>
            <a:bodyPr wrap="none" lIns="0" tIns="0" rIns="0" bIns="0" rtlCol="0">
              <a:spAutoFit/>
            </a:bodyPr>
            <a:lstStyle/>
            <a:p>
              <a:r>
                <a:rPr lang="fr-FR" sz="1000" dirty="0">
                  <a:latin typeface="Consolas" panose="020B0609020204030204" pitchFamily="49" charset="0"/>
                </a:rPr>
                <a:t>prod</a:t>
              </a:r>
              <a:endParaRPr lang="en-US" sz="1000" dirty="0">
                <a:latin typeface="Consolas" panose="020B0609020204030204" pitchFamily="49" charset="0"/>
              </a:endParaRPr>
            </a:p>
          </p:txBody>
        </p:sp>
      </p:grpSp>
      <p:cxnSp>
        <p:nvCxnSpPr>
          <p:cNvPr id="14" name="Connecteur droit 13">
            <a:extLst>
              <a:ext uri="{FF2B5EF4-FFF2-40B4-BE49-F238E27FC236}">
                <a16:creationId xmlns:a16="http://schemas.microsoft.com/office/drawing/2014/main" id="{7D66114D-EDBA-B2F6-547E-BAC897F7D43F}"/>
              </a:ext>
            </a:extLst>
          </p:cNvPr>
          <p:cNvCxnSpPr/>
          <p:nvPr/>
        </p:nvCxnSpPr>
        <p:spPr>
          <a:xfrm>
            <a:off x="1634490" y="3238500"/>
            <a:ext cx="186309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Ellipse 14">
            <a:extLst>
              <a:ext uri="{FF2B5EF4-FFF2-40B4-BE49-F238E27FC236}">
                <a16:creationId xmlns:a16="http://schemas.microsoft.com/office/drawing/2014/main" id="{C3B86FD5-57D5-9B04-2A62-075688D9E793}"/>
              </a:ext>
            </a:extLst>
          </p:cNvPr>
          <p:cNvSpPr/>
          <p:nvPr/>
        </p:nvSpPr>
        <p:spPr>
          <a:xfrm>
            <a:off x="1524000" y="3141347"/>
            <a:ext cx="198120" cy="194305"/>
          </a:xfrm>
          <a:prstGeom prst="ellipse">
            <a:avLst/>
          </a:prstGeom>
          <a:solidFill>
            <a:srgbClr val="67500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Ellipse 16">
            <a:extLst>
              <a:ext uri="{FF2B5EF4-FFF2-40B4-BE49-F238E27FC236}">
                <a16:creationId xmlns:a16="http://schemas.microsoft.com/office/drawing/2014/main" id="{47A11F50-5878-A133-B231-907CA30F2C8A}"/>
              </a:ext>
            </a:extLst>
          </p:cNvPr>
          <p:cNvSpPr/>
          <p:nvPr/>
        </p:nvSpPr>
        <p:spPr>
          <a:xfrm>
            <a:off x="3006090" y="3141347"/>
            <a:ext cx="198120" cy="194305"/>
          </a:xfrm>
          <a:prstGeom prst="ellipse">
            <a:avLst/>
          </a:prstGeom>
          <a:solidFill>
            <a:srgbClr val="67500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ZoneTexte 18">
            <a:extLst>
              <a:ext uri="{FF2B5EF4-FFF2-40B4-BE49-F238E27FC236}">
                <a16:creationId xmlns:a16="http://schemas.microsoft.com/office/drawing/2014/main" id="{8C658319-33D3-1612-BE65-80A3BC7813F8}"/>
              </a:ext>
            </a:extLst>
          </p:cNvPr>
          <p:cNvSpPr txBox="1"/>
          <p:nvPr/>
        </p:nvSpPr>
        <p:spPr>
          <a:xfrm>
            <a:off x="273454" y="4493211"/>
            <a:ext cx="11796626" cy="400110"/>
          </a:xfrm>
          <a:prstGeom prst="rect">
            <a:avLst/>
          </a:prstGeom>
          <a:noFill/>
          <a:ln>
            <a:noFill/>
          </a:ln>
        </p:spPr>
        <p:txBody>
          <a:bodyPr wrap="square" rtlCol="0">
            <a:spAutoFit/>
          </a:bodyPr>
          <a:lstStyle/>
          <a:p>
            <a:r>
              <a:rPr lang="fr-FR" sz="2000" b="1" noProof="0" dirty="0">
                <a:ea typeface="Microsoft JhengHei UI" panose="020B0604030504040204" pitchFamily="34" charset="-120"/>
              </a:rPr>
              <a:t>Branches de fonctionnalité:</a:t>
            </a:r>
            <a:r>
              <a:rPr lang="fr-FR" sz="2000" b="1" dirty="0">
                <a:ea typeface="Microsoft JhengHei UI" panose="020B0604030504040204" pitchFamily="34" charset="-120"/>
              </a:rPr>
              <a:t> </a:t>
            </a:r>
            <a:r>
              <a:rPr lang="fr-FR" sz="2000" b="1" dirty="0">
                <a:latin typeface="Eras Light ITC" panose="020B0402030504020804" pitchFamily="34" charset="0"/>
                <a:ea typeface="Microsoft JhengHei UI" panose="020B0604030504040204" pitchFamily="34" charset="-120"/>
              </a:rPr>
              <a:t>api, </a:t>
            </a:r>
            <a:r>
              <a:rPr lang="fr-FR" sz="2000" b="1" dirty="0" err="1">
                <a:latin typeface="Eras Light ITC" panose="020B0402030504020804" pitchFamily="34" charset="0"/>
                <a:ea typeface="Microsoft JhengHei UI" panose="020B0604030504040204" pitchFamily="34" charset="-120"/>
              </a:rPr>
              <a:t>db</a:t>
            </a:r>
            <a:r>
              <a:rPr lang="fr-FR" sz="2000" b="1" dirty="0">
                <a:latin typeface="Eras Light ITC" panose="020B0402030504020804" pitchFamily="34" charset="0"/>
                <a:ea typeface="Microsoft JhengHei UI" panose="020B0604030504040204" pitchFamily="34" charset="-120"/>
              </a:rPr>
              <a:t>, cd, ci, </a:t>
            </a:r>
            <a:r>
              <a:rPr lang="fr-FR" sz="2000" b="1" dirty="0" err="1">
                <a:latin typeface="Eras Light ITC" panose="020B0402030504020804" pitchFamily="34" charset="0"/>
                <a:ea typeface="Microsoft JhengHei UI" panose="020B0604030504040204" pitchFamily="34" charset="-120"/>
              </a:rPr>
              <a:t>db</a:t>
            </a:r>
            <a:r>
              <a:rPr lang="fr-FR" sz="2000" b="1" dirty="0">
                <a:latin typeface="Eras Light ITC" panose="020B0402030504020804" pitchFamily="34" charset="0"/>
                <a:ea typeface="Microsoft JhengHei UI" panose="020B0604030504040204" pitchFamily="34" charset="-120"/>
              </a:rPr>
              <a:t>-to-api, </a:t>
            </a:r>
            <a:r>
              <a:rPr lang="fr-FR" sz="2000" b="1" dirty="0" err="1">
                <a:latin typeface="Eras Light ITC" panose="020B0402030504020804" pitchFamily="34" charset="0"/>
                <a:ea typeface="Microsoft JhengHei UI" panose="020B0604030504040204" pitchFamily="34" charset="-120"/>
              </a:rPr>
              <a:t>optimize</a:t>
            </a:r>
            <a:r>
              <a:rPr lang="fr-FR" sz="2000" b="1" dirty="0">
                <a:latin typeface="Eras Light ITC" panose="020B0402030504020804" pitchFamily="34" charset="0"/>
                <a:ea typeface="Microsoft JhengHei UI" panose="020B0604030504040204" pitchFamily="34" charset="-120"/>
              </a:rPr>
              <a:t>-pipeline, </a:t>
            </a:r>
            <a:r>
              <a:rPr lang="fr-FR" sz="2000" b="1" dirty="0" err="1">
                <a:latin typeface="Eras Light ITC" panose="020B0402030504020804" pitchFamily="34" charset="0"/>
                <a:ea typeface="Microsoft JhengHei UI" panose="020B0604030504040204" pitchFamily="34" charset="-120"/>
              </a:rPr>
              <a:t>streamlit</a:t>
            </a:r>
            <a:r>
              <a:rPr lang="fr-FR" sz="2000" b="1" dirty="0">
                <a:latin typeface="Eras Light ITC" panose="020B0402030504020804" pitchFamily="34" charset="0"/>
                <a:ea typeface="Microsoft JhengHei UI" panose="020B0604030504040204" pitchFamily="34" charset="-120"/>
              </a:rPr>
              <a:t>-monitoring-interface</a:t>
            </a:r>
            <a:endParaRPr lang="fr-FR" sz="2000" i="1" noProof="0" dirty="0">
              <a:latin typeface="Eras Light ITC" panose="020B0402030504020804" pitchFamily="34" charset="0"/>
              <a:ea typeface="Microsoft JhengHei UI Light" panose="020B0304030504040204" pitchFamily="34" charset="-120"/>
            </a:endParaRPr>
          </a:p>
        </p:txBody>
      </p:sp>
    </p:spTree>
    <p:extLst>
      <p:ext uri="{BB962C8B-B14F-4D97-AF65-F5344CB8AC3E}">
        <p14:creationId xmlns:p14="http://schemas.microsoft.com/office/powerpoint/2010/main" val="26190647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9773B-9526-F703-E06E-9BC5A97379EC}"/>
            </a:ext>
          </a:extLst>
        </p:cNvPr>
        <p:cNvGrpSpPr/>
        <p:nvPr/>
      </p:nvGrpSpPr>
      <p:grpSpPr>
        <a:xfrm>
          <a:off x="0" y="0"/>
          <a:ext cx="0" cy="0"/>
          <a:chOff x="0" y="0"/>
          <a:chExt cx="0" cy="0"/>
        </a:xfrm>
      </p:grpSpPr>
      <p:sp>
        <p:nvSpPr>
          <p:cNvPr id="5" name="ZoneTexte 4">
            <a:extLst>
              <a:ext uri="{FF2B5EF4-FFF2-40B4-BE49-F238E27FC236}">
                <a16:creationId xmlns:a16="http://schemas.microsoft.com/office/drawing/2014/main" id="{AC67082E-7E3E-8F30-71AD-684552A18077}"/>
              </a:ext>
            </a:extLst>
          </p:cNvPr>
          <p:cNvSpPr txBox="1"/>
          <p:nvPr/>
        </p:nvSpPr>
        <p:spPr>
          <a:xfrm>
            <a:off x="381600" y="632143"/>
            <a:ext cx="10012466" cy="707886"/>
          </a:xfrm>
          <a:prstGeom prst="rect">
            <a:avLst/>
          </a:prstGeom>
          <a:noFill/>
        </p:spPr>
        <p:txBody>
          <a:bodyPr wrap="square" rtlCol="0">
            <a:spAutoFit/>
          </a:bodyPr>
          <a:lstStyle/>
          <a:p>
            <a:r>
              <a:rPr lang="fr-FR" sz="4000" dirty="0">
                <a:latin typeface="Eras Demi ITC" panose="020B0805030504020804" pitchFamily="34" charset="0"/>
              </a:rPr>
              <a:t>III</a:t>
            </a:r>
            <a:r>
              <a:rPr lang="fr-FR" sz="4000" noProof="0" dirty="0">
                <a:latin typeface="Eras Demi ITC" panose="020B0805030504020804" pitchFamily="34" charset="0"/>
              </a:rPr>
              <a:t>. Démonstration CI/CD et API déployée</a:t>
            </a:r>
          </a:p>
        </p:txBody>
      </p:sp>
      <p:sp>
        <p:nvSpPr>
          <p:cNvPr id="6" name="ZoneTexte 5">
            <a:extLst>
              <a:ext uri="{FF2B5EF4-FFF2-40B4-BE49-F238E27FC236}">
                <a16:creationId xmlns:a16="http://schemas.microsoft.com/office/drawing/2014/main" id="{0C3A026E-B7C0-2BDE-C4D0-C173FF27830D}"/>
              </a:ext>
            </a:extLst>
          </p:cNvPr>
          <p:cNvSpPr txBox="1"/>
          <p:nvPr/>
        </p:nvSpPr>
        <p:spPr>
          <a:xfrm>
            <a:off x="1574800" y="2759628"/>
            <a:ext cx="9672320" cy="523220"/>
          </a:xfrm>
          <a:prstGeom prst="rect">
            <a:avLst/>
          </a:prstGeom>
          <a:noFill/>
        </p:spPr>
        <p:txBody>
          <a:bodyPr wrap="square">
            <a:spAutoFit/>
          </a:bodyPr>
          <a:lstStyle/>
          <a:p>
            <a:r>
              <a:rPr lang="en-US" sz="2800" dirty="0"/>
              <a:t>https://huggingface.co/spaces/JPoitreau/OC-projet-8</a:t>
            </a:r>
          </a:p>
        </p:txBody>
      </p:sp>
      <p:sp>
        <p:nvSpPr>
          <p:cNvPr id="8" name="ZoneTexte 7">
            <a:extLst>
              <a:ext uri="{FF2B5EF4-FFF2-40B4-BE49-F238E27FC236}">
                <a16:creationId xmlns:a16="http://schemas.microsoft.com/office/drawing/2014/main" id="{A21F18F2-9C80-B6D8-7144-53585E6A4E42}"/>
              </a:ext>
            </a:extLst>
          </p:cNvPr>
          <p:cNvSpPr txBox="1"/>
          <p:nvPr/>
        </p:nvSpPr>
        <p:spPr>
          <a:xfrm>
            <a:off x="1574800" y="4259619"/>
            <a:ext cx="8940800" cy="523220"/>
          </a:xfrm>
          <a:prstGeom prst="rect">
            <a:avLst/>
          </a:prstGeom>
          <a:noFill/>
        </p:spPr>
        <p:txBody>
          <a:bodyPr wrap="square">
            <a:spAutoFit/>
          </a:bodyPr>
          <a:lstStyle/>
          <a:p>
            <a:r>
              <a:rPr lang="en-US" sz="2800" dirty="0"/>
              <a:t>https://github.com/JPoitreau/OC-Projet-8/tree/dev</a:t>
            </a:r>
          </a:p>
        </p:txBody>
      </p:sp>
    </p:spTree>
    <p:extLst>
      <p:ext uri="{BB962C8B-B14F-4D97-AF65-F5344CB8AC3E}">
        <p14:creationId xmlns:p14="http://schemas.microsoft.com/office/powerpoint/2010/main" val="30829113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6EBAF-AE33-3222-E17B-B278C438F83B}"/>
            </a:ext>
          </a:extLst>
        </p:cNvPr>
        <p:cNvGrpSpPr/>
        <p:nvPr/>
      </p:nvGrpSpPr>
      <p:grpSpPr>
        <a:xfrm>
          <a:off x="0" y="0"/>
          <a:ext cx="0" cy="0"/>
          <a:chOff x="0" y="0"/>
          <a:chExt cx="0" cy="0"/>
        </a:xfrm>
      </p:grpSpPr>
      <p:sp>
        <p:nvSpPr>
          <p:cNvPr id="5" name="ZoneTexte 4">
            <a:extLst>
              <a:ext uri="{FF2B5EF4-FFF2-40B4-BE49-F238E27FC236}">
                <a16:creationId xmlns:a16="http://schemas.microsoft.com/office/drawing/2014/main" id="{74B4771C-D936-F30F-66D1-44593BD43F89}"/>
              </a:ext>
            </a:extLst>
          </p:cNvPr>
          <p:cNvSpPr txBox="1"/>
          <p:nvPr/>
        </p:nvSpPr>
        <p:spPr>
          <a:xfrm>
            <a:off x="381600" y="632143"/>
            <a:ext cx="10012466" cy="1323439"/>
          </a:xfrm>
          <a:prstGeom prst="rect">
            <a:avLst/>
          </a:prstGeom>
          <a:noFill/>
        </p:spPr>
        <p:txBody>
          <a:bodyPr wrap="square" rtlCol="0">
            <a:spAutoFit/>
          </a:bodyPr>
          <a:lstStyle/>
          <a:p>
            <a:r>
              <a:rPr lang="fr-FR" sz="4000" dirty="0">
                <a:latin typeface="Eras Demi ITC" panose="020B0805030504020804" pitchFamily="34" charset="0"/>
              </a:rPr>
              <a:t>III</a:t>
            </a:r>
            <a:r>
              <a:rPr lang="fr-FR" sz="4000" noProof="0" dirty="0">
                <a:latin typeface="Eras Demi ITC" panose="020B0805030504020804" pitchFamily="34" charset="0"/>
              </a:rPr>
              <a:t>. Résultats du monitoring et optimisation</a:t>
            </a:r>
          </a:p>
        </p:txBody>
      </p:sp>
      <p:sp>
        <p:nvSpPr>
          <p:cNvPr id="3" name="ZoneTexte 2">
            <a:extLst>
              <a:ext uri="{FF2B5EF4-FFF2-40B4-BE49-F238E27FC236}">
                <a16:creationId xmlns:a16="http://schemas.microsoft.com/office/drawing/2014/main" id="{9F21C6A7-7EB7-8876-6B22-00951EC1D657}"/>
              </a:ext>
            </a:extLst>
          </p:cNvPr>
          <p:cNvSpPr txBox="1"/>
          <p:nvPr/>
        </p:nvSpPr>
        <p:spPr>
          <a:xfrm>
            <a:off x="3652598" y="3429000"/>
            <a:ext cx="5135802" cy="584775"/>
          </a:xfrm>
          <a:prstGeom prst="rect">
            <a:avLst/>
          </a:prstGeom>
          <a:noFill/>
          <a:ln>
            <a:noFill/>
          </a:ln>
        </p:spPr>
        <p:txBody>
          <a:bodyPr wrap="square" rtlCol="0">
            <a:spAutoFit/>
          </a:bodyPr>
          <a:lstStyle/>
          <a:p>
            <a:r>
              <a:rPr lang="fr-FR" sz="3200" b="1" noProof="0" dirty="0">
                <a:ea typeface="Microsoft JhengHei UI" panose="020B0604030504040204" pitchFamily="34" charset="-120"/>
              </a:rPr>
              <a:t>Dashboard </a:t>
            </a:r>
            <a:r>
              <a:rPr lang="fr-FR" sz="3200" b="1" noProof="0" dirty="0" err="1">
                <a:ea typeface="Microsoft JhengHei UI" panose="020B0604030504040204" pitchFamily="34" charset="-120"/>
              </a:rPr>
              <a:t>streamlit</a:t>
            </a:r>
            <a:endParaRPr lang="fr-FR" sz="3200" i="1" noProof="0" dirty="0">
              <a:ea typeface="Microsoft JhengHei UI Light" panose="020B0304030504040204" pitchFamily="34" charset="-120"/>
            </a:endParaRPr>
          </a:p>
        </p:txBody>
      </p:sp>
    </p:spTree>
    <p:extLst>
      <p:ext uri="{BB962C8B-B14F-4D97-AF65-F5344CB8AC3E}">
        <p14:creationId xmlns:p14="http://schemas.microsoft.com/office/powerpoint/2010/main" val="14878101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C9237-6C85-6D46-16B2-CAD6765594C4}"/>
            </a:ext>
          </a:extLst>
        </p:cNvPr>
        <p:cNvGrpSpPr/>
        <p:nvPr/>
      </p:nvGrpSpPr>
      <p:grpSpPr>
        <a:xfrm>
          <a:off x="0" y="0"/>
          <a:ext cx="0" cy="0"/>
          <a:chOff x="0" y="0"/>
          <a:chExt cx="0" cy="0"/>
        </a:xfrm>
      </p:grpSpPr>
      <p:sp>
        <p:nvSpPr>
          <p:cNvPr id="5" name="ZoneTexte 4">
            <a:extLst>
              <a:ext uri="{FF2B5EF4-FFF2-40B4-BE49-F238E27FC236}">
                <a16:creationId xmlns:a16="http://schemas.microsoft.com/office/drawing/2014/main" id="{76A56AEA-B1E1-F0B3-F478-D04B7B8FA394}"/>
              </a:ext>
            </a:extLst>
          </p:cNvPr>
          <p:cNvSpPr txBox="1"/>
          <p:nvPr/>
        </p:nvSpPr>
        <p:spPr>
          <a:xfrm>
            <a:off x="381600" y="632143"/>
            <a:ext cx="10012466" cy="1323439"/>
          </a:xfrm>
          <a:prstGeom prst="rect">
            <a:avLst/>
          </a:prstGeom>
          <a:noFill/>
        </p:spPr>
        <p:txBody>
          <a:bodyPr wrap="square" rtlCol="0">
            <a:spAutoFit/>
          </a:bodyPr>
          <a:lstStyle/>
          <a:p>
            <a:r>
              <a:rPr lang="fr-FR" sz="4000" dirty="0">
                <a:latin typeface="Eras Demi ITC" panose="020B0805030504020804" pitchFamily="34" charset="0"/>
              </a:rPr>
              <a:t>III</a:t>
            </a:r>
            <a:r>
              <a:rPr lang="fr-FR" sz="4000" noProof="0" dirty="0">
                <a:latin typeface="Eras Demi ITC" panose="020B0805030504020804" pitchFamily="34" charset="0"/>
              </a:rPr>
              <a:t>. Résultats du monitoring et optimisation</a:t>
            </a:r>
          </a:p>
        </p:txBody>
      </p:sp>
      <p:sp>
        <p:nvSpPr>
          <p:cNvPr id="4" name="ZoneTexte 3">
            <a:extLst>
              <a:ext uri="{FF2B5EF4-FFF2-40B4-BE49-F238E27FC236}">
                <a16:creationId xmlns:a16="http://schemas.microsoft.com/office/drawing/2014/main" id="{38B3416D-B6B6-001E-C3B7-4F9029989ADD}"/>
              </a:ext>
            </a:extLst>
          </p:cNvPr>
          <p:cNvSpPr txBox="1"/>
          <p:nvPr/>
        </p:nvSpPr>
        <p:spPr>
          <a:xfrm>
            <a:off x="167718" y="2076886"/>
            <a:ext cx="5796202" cy="584775"/>
          </a:xfrm>
          <a:prstGeom prst="rect">
            <a:avLst/>
          </a:prstGeom>
          <a:noFill/>
          <a:ln>
            <a:noFill/>
          </a:ln>
        </p:spPr>
        <p:txBody>
          <a:bodyPr wrap="square" rtlCol="0">
            <a:spAutoFit/>
          </a:bodyPr>
          <a:lstStyle/>
          <a:p>
            <a:r>
              <a:rPr lang="fr-FR" sz="3200" b="1" noProof="0" dirty="0">
                <a:ea typeface="Microsoft JhengHei UI" panose="020B0604030504040204" pitchFamily="34" charset="-120"/>
              </a:rPr>
              <a:t>Optimisation du modèle :</a:t>
            </a:r>
            <a:endParaRPr lang="fr-FR" sz="3200" i="1" noProof="0" dirty="0">
              <a:ea typeface="Microsoft JhengHei UI Light" panose="020B0304030504040204" pitchFamily="34" charset="-120"/>
            </a:endParaRPr>
          </a:p>
        </p:txBody>
      </p:sp>
      <p:sp>
        <p:nvSpPr>
          <p:cNvPr id="7" name="ZoneTexte 6">
            <a:extLst>
              <a:ext uri="{FF2B5EF4-FFF2-40B4-BE49-F238E27FC236}">
                <a16:creationId xmlns:a16="http://schemas.microsoft.com/office/drawing/2014/main" id="{623545B2-6B17-768A-BEC6-8FF21BFA5E18}"/>
              </a:ext>
            </a:extLst>
          </p:cNvPr>
          <p:cNvSpPr txBox="1"/>
          <p:nvPr/>
        </p:nvSpPr>
        <p:spPr>
          <a:xfrm>
            <a:off x="251709" y="2490577"/>
            <a:ext cx="4911306" cy="584775"/>
          </a:xfrm>
          <a:prstGeom prst="rect">
            <a:avLst/>
          </a:prstGeom>
          <a:noFill/>
          <a:ln>
            <a:noFill/>
          </a:ln>
        </p:spPr>
        <p:txBody>
          <a:bodyPr wrap="square" rtlCol="0">
            <a:spAutoFit/>
          </a:bodyPr>
          <a:lstStyle/>
          <a:p>
            <a:r>
              <a:rPr lang="fr-FR" sz="3200" dirty="0" err="1">
                <a:latin typeface="Eras Light ITC" panose="020B0402030504020804" pitchFamily="34" charset="0"/>
                <a:ea typeface="Microsoft JhengHei Light" panose="020B0304030504040204" pitchFamily="34" charset="-120"/>
              </a:rPr>
              <a:t>cProfile</a:t>
            </a:r>
            <a:r>
              <a:rPr lang="fr-FR" sz="3200" dirty="0">
                <a:latin typeface="Eras Light ITC" panose="020B0402030504020804" pitchFamily="34" charset="0"/>
                <a:ea typeface="Microsoft JhengHei Light" panose="020B0304030504040204" pitchFamily="34" charset="-120"/>
              </a:rPr>
              <a:t> et o</a:t>
            </a:r>
            <a:r>
              <a:rPr lang="fr-FR" sz="3200" noProof="0" dirty="0" err="1">
                <a:latin typeface="Eras Light ITC" panose="020B0402030504020804" pitchFamily="34" charset="0"/>
                <a:ea typeface="Microsoft JhengHei Light" panose="020B0304030504040204" pitchFamily="34" charset="-120"/>
              </a:rPr>
              <a:t>nnx</a:t>
            </a:r>
            <a:r>
              <a:rPr lang="fr-FR" sz="3200" noProof="0" dirty="0">
                <a:latin typeface="Eras Light ITC" panose="020B0402030504020804" pitchFamily="34" charset="0"/>
                <a:ea typeface="Microsoft JhengHei Light" panose="020B0304030504040204" pitchFamily="34" charset="-120"/>
              </a:rPr>
              <a:t> runtime</a:t>
            </a:r>
            <a:endParaRPr lang="fr-FR" sz="3200" noProof="0" dirty="0">
              <a:latin typeface="Eras Light ITC" panose="020B0402030504020804" pitchFamily="34" charset="0"/>
              <a:ea typeface="Microsoft JhengHei UI Light" panose="020B0304030504040204" pitchFamily="34" charset="-120"/>
            </a:endParaRPr>
          </a:p>
        </p:txBody>
      </p:sp>
      <p:pic>
        <p:nvPicPr>
          <p:cNvPr id="11" name="Image 10">
            <a:extLst>
              <a:ext uri="{FF2B5EF4-FFF2-40B4-BE49-F238E27FC236}">
                <a16:creationId xmlns:a16="http://schemas.microsoft.com/office/drawing/2014/main" id="{1EE061D7-4D56-AED3-14EC-B6B045D49F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72480" y="1534160"/>
            <a:ext cx="6151802" cy="5041060"/>
          </a:xfrm>
          <a:prstGeom prst="rect">
            <a:avLst/>
          </a:prstGeom>
        </p:spPr>
      </p:pic>
      <p:sp>
        <p:nvSpPr>
          <p:cNvPr id="13" name="ZoneTexte 12">
            <a:extLst>
              <a:ext uri="{FF2B5EF4-FFF2-40B4-BE49-F238E27FC236}">
                <a16:creationId xmlns:a16="http://schemas.microsoft.com/office/drawing/2014/main" id="{98748F0D-56D8-6C4E-FB30-1A0D1E9A0384}"/>
              </a:ext>
            </a:extLst>
          </p:cNvPr>
          <p:cNvSpPr txBox="1"/>
          <p:nvPr/>
        </p:nvSpPr>
        <p:spPr>
          <a:xfrm>
            <a:off x="251709" y="3327586"/>
            <a:ext cx="5301598" cy="1077218"/>
          </a:xfrm>
          <a:prstGeom prst="rect">
            <a:avLst/>
          </a:prstGeom>
          <a:noFill/>
          <a:ln>
            <a:noFill/>
          </a:ln>
        </p:spPr>
        <p:txBody>
          <a:bodyPr wrap="square" rtlCol="0">
            <a:spAutoFit/>
          </a:bodyPr>
          <a:lstStyle/>
          <a:p>
            <a:r>
              <a:rPr lang="fr-FR" sz="3200" noProof="0" dirty="0">
                <a:latin typeface="Eras Light ITC" panose="020B0402030504020804" pitchFamily="34" charset="0"/>
                <a:ea typeface="Microsoft JhengHei Light" panose="020B0304030504040204" pitchFamily="34" charset="-120"/>
              </a:rPr>
              <a:t>Dur</a:t>
            </a:r>
            <a:r>
              <a:rPr lang="fr-FR" sz="3200" dirty="0" err="1">
                <a:latin typeface="Eras Light ITC" panose="020B0402030504020804" pitchFamily="34" charset="0"/>
                <a:ea typeface="Microsoft JhengHei Light" panose="020B0304030504040204" pitchFamily="34" charset="-120"/>
              </a:rPr>
              <a:t>ée</a:t>
            </a:r>
            <a:r>
              <a:rPr lang="fr-FR" sz="3200" dirty="0">
                <a:latin typeface="Eras Light ITC" panose="020B0402030504020804" pitchFamily="34" charset="0"/>
                <a:ea typeface="Microsoft JhengHei Light" panose="020B0304030504040204" pitchFamily="34" charset="-120"/>
              </a:rPr>
              <a:t> moyenne du pipeline : 31ms (Inférence = 71%)</a:t>
            </a:r>
            <a:endParaRPr lang="fr-FR" sz="3200" noProof="0" dirty="0">
              <a:latin typeface="Eras Light ITC" panose="020B0402030504020804" pitchFamily="34" charset="0"/>
              <a:ea typeface="Microsoft JhengHei UI Light" panose="020B0304030504040204" pitchFamily="34" charset="-120"/>
            </a:endParaRPr>
          </a:p>
        </p:txBody>
      </p:sp>
    </p:spTree>
    <p:extLst>
      <p:ext uri="{BB962C8B-B14F-4D97-AF65-F5344CB8AC3E}">
        <p14:creationId xmlns:p14="http://schemas.microsoft.com/office/powerpoint/2010/main" val="9692965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61774-17B2-316B-B5E3-C8ECC654D36E}"/>
            </a:ext>
          </a:extLst>
        </p:cNvPr>
        <p:cNvGrpSpPr/>
        <p:nvPr/>
      </p:nvGrpSpPr>
      <p:grpSpPr>
        <a:xfrm>
          <a:off x="0" y="0"/>
          <a:ext cx="0" cy="0"/>
          <a:chOff x="0" y="0"/>
          <a:chExt cx="0" cy="0"/>
        </a:xfrm>
      </p:grpSpPr>
      <p:sp>
        <p:nvSpPr>
          <p:cNvPr id="5" name="ZoneTexte 4">
            <a:extLst>
              <a:ext uri="{FF2B5EF4-FFF2-40B4-BE49-F238E27FC236}">
                <a16:creationId xmlns:a16="http://schemas.microsoft.com/office/drawing/2014/main" id="{3894094E-56AD-D7E0-BF48-63B4518BF1FC}"/>
              </a:ext>
            </a:extLst>
          </p:cNvPr>
          <p:cNvSpPr txBox="1"/>
          <p:nvPr/>
        </p:nvSpPr>
        <p:spPr>
          <a:xfrm>
            <a:off x="381600" y="632143"/>
            <a:ext cx="10012466" cy="1323439"/>
          </a:xfrm>
          <a:prstGeom prst="rect">
            <a:avLst/>
          </a:prstGeom>
          <a:noFill/>
        </p:spPr>
        <p:txBody>
          <a:bodyPr wrap="square" rtlCol="0">
            <a:spAutoFit/>
          </a:bodyPr>
          <a:lstStyle/>
          <a:p>
            <a:r>
              <a:rPr lang="fr-FR" sz="4000" dirty="0">
                <a:latin typeface="Eras Demi ITC" panose="020B0805030504020804" pitchFamily="34" charset="0"/>
              </a:rPr>
              <a:t>III</a:t>
            </a:r>
            <a:r>
              <a:rPr lang="fr-FR" sz="4000" noProof="0" dirty="0">
                <a:latin typeface="Eras Demi ITC" panose="020B0805030504020804" pitchFamily="34" charset="0"/>
              </a:rPr>
              <a:t>. Résultats du monitoring et optimisation</a:t>
            </a:r>
          </a:p>
        </p:txBody>
      </p:sp>
      <p:pic>
        <p:nvPicPr>
          <p:cNvPr id="3" name="Image 2">
            <a:extLst>
              <a:ext uri="{FF2B5EF4-FFF2-40B4-BE49-F238E27FC236}">
                <a16:creationId xmlns:a16="http://schemas.microsoft.com/office/drawing/2014/main" id="{4779BAFB-8C55-6147-EDE8-D3C1F8FF0C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71824" y="2184140"/>
            <a:ext cx="6552458" cy="4376997"/>
          </a:xfrm>
          <a:prstGeom prst="rect">
            <a:avLst/>
          </a:prstGeom>
        </p:spPr>
      </p:pic>
      <p:sp>
        <p:nvSpPr>
          <p:cNvPr id="8" name="ZoneTexte 7">
            <a:extLst>
              <a:ext uri="{FF2B5EF4-FFF2-40B4-BE49-F238E27FC236}">
                <a16:creationId xmlns:a16="http://schemas.microsoft.com/office/drawing/2014/main" id="{B94ACE82-35E3-E7B1-A889-4608302337A5}"/>
              </a:ext>
            </a:extLst>
          </p:cNvPr>
          <p:cNvSpPr txBox="1"/>
          <p:nvPr/>
        </p:nvSpPr>
        <p:spPr>
          <a:xfrm>
            <a:off x="167718" y="2076886"/>
            <a:ext cx="5796202" cy="584775"/>
          </a:xfrm>
          <a:prstGeom prst="rect">
            <a:avLst/>
          </a:prstGeom>
          <a:noFill/>
          <a:ln>
            <a:noFill/>
          </a:ln>
        </p:spPr>
        <p:txBody>
          <a:bodyPr wrap="square" rtlCol="0">
            <a:spAutoFit/>
          </a:bodyPr>
          <a:lstStyle/>
          <a:p>
            <a:r>
              <a:rPr lang="fr-FR" sz="3200" b="1" noProof="0" dirty="0">
                <a:ea typeface="Microsoft JhengHei UI" panose="020B0604030504040204" pitchFamily="34" charset="-120"/>
              </a:rPr>
              <a:t>Optimisation du modèle :</a:t>
            </a:r>
            <a:endParaRPr lang="fr-FR" sz="3200" i="1" noProof="0" dirty="0">
              <a:ea typeface="Microsoft JhengHei UI Light" panose="020B0304030504040204" pitchFamily="34" charset="-120"/>
            </a:endParaRPr>
          </a:p>
        </p:txBody>
      </p:sp>
      <p:sp>
        <p:nvSpPr>
          <p:cNvPr id="15" name="ZoneTexte 14">
            <a:extLst>
              <a:ext uri="{FF2B5EF4-FFF2-40B4-BE49-F238E27FC236}">
                <a16:creationId xmlns:a16="http://schemas.microsoft.com/office/drawing/2014/main" id="{31995DC8-B439-6522-91A7-8AD4E4F1C465}"/>
              </a:ext>
            </a:extLst>
          </p:cNvPr>
          <p:cNvSpPr txBox="1"/>
          <p:nvPr/>
        </p:nvSpPr>
        <p:spPr>
          <a:xfrm>
            <a:off x="251709" y="2490577"/>
            <a:ext cx="4911306" cy="584775"/>
          </a:xfrm>
          <a:prstGeom prst="rect">
            <a:avLst/>
          </a:prstGeom>
          <a:noFill/>
          <a:ln>
            <a:noFill/>
          </a:ln>
        </p:spPr>
        <p:txBody>
          <a:bodyPr wrap="square" rtlCol="0">
            <a:spAutoFit/>
          </a:bodyPr>
          <a:lstStyle/>
          <a:p>
            <a:r>
              <a:rPr lang="fr-FR" sz="3200" dirty="0" err="1">
                <a:latin typeface="Eras Light ITC" panose="020B0402030504020804" pitchFamily="34" charset="0"/>
                <a:ea typeface="Microsoft JhengHei Light" panose="020B0304030504040204" pitchFamily="34" charset="-120"/>
              </a:rPr>
              <a:t>cProfile</a:t>
            </a:r>
            <a:r>
              <a:rPr lang="fr-FR" sz="3200" dirty="0">
                <a:latin typeface="Eras Light ITC" panose="020B0402030504020804" pitchFamily="34" charset="0"/>
                <a:ea typeface="Microsoft JhengHei Light" panose="020B0304030504040204" pitchFamily="34" charset="-120"/>
              </a:rPr>
              <a:t> et o</a:t>
            </a:r>
            <a:r>
              <a:rPr lang="fr-FR" sz="3200" noProof="0" dirty="0" err="1">
                <a:latin typeface="Eras Light ITC" panose="020B0402030504020804" pitchFamily="34" charset="0"/>
                <a:ea typeface="Microsoft JhengHei Light" panose="020B0304030504040204" pitchFamily="34" charset="-120"/>
              </a:rPr>
              <a:t>nnx</a:t>
            </a:r>
            <a:r>
              <a:rPr lang="fr-FR" sz="3200" noProof="0" dirty="0">
                <a:latin typeface="Eras Light ITC" panose="020B0402030504020804" pitchFamily="34" charset="0"/>
                <a:ea typeface="Microsoft JhengHei Light" panose="020B0304030504040204" pitchFamily="34" charset="-120"/>
              </a:rPr>
              <a:t> runtime</a:t>
            </a:r>
            <a:endParaRPr lang="fr-FR" sz="3200" noProof="0" dirty="0">
              <a:latin typeface="Eras Light ITC" panose="020B0402030504020804" pitchFamily="34" charset="0"/>
              <a:ea typeface="Microsoft JhengHei UI Light" panose="020B0304030504040204" pitchFamily="34" charset="-120"/>
            </a:endParaRPr>
          </a:p>
        </p:txBody>
      </p:sp>
      <p:sp>
        <p:nvSpPr>
          <p:cNvPr id="17" name="ZoneTexte 16">
            <a:extLst>
              <a:ext uri="{FF2B5EF4-FFF2-40B4-BE49-F238E27FC236}">
                <a16:creationId xmlns:a16="http://schemas.microsoft.com/office/drawing/2014/main" id="{D451A7FD-3D56-75D0-BCA2-7CF2DAE1AC43}"/>
              </a:ext>
            </a:extLst>
          </p:cNvPr>
          <p:cNvSpPr txBox="1"/>
          <p:nvPr/>
        </p:nvSpPr>
        <p:spPr>
          <a:xfrm>
            <a:off x="251709" y="3327586"/>
            <a:ext cx="5301598" cy="1077218"/>
          </a:xfrm>
          <a:prstGeom prst="rect">
            <a:avLst/>
          </a:prstGeom>
          <a:noFill/>
          <a:ln>
            <a:noFill/>
          </a:ln>
        </p:spPr>
        <p:txBody>
          <a:bodyPr wrap="square" rtlCol="0">
            <a:spAutoFit/>
          </a:bodyPr>
          <a:lstStyle/>
          <a:p>
            <a:r>
              <a:rPr lang="fr-FR" sz="3200" noProof="0" dirty="0">
                <a:latin typeface="Eras Light ITC" panose="020B0402030504020804" pitchFamily="34" charset="0"/>
                <a:ea typeface="Microsoft JhengHei Light" panose="020B0304030504040204" pitchFamily="34" charset="-120"/>
              </a:rPr>
              <a:t>Dur</a:t>
            </a:r>
            <a:r>
              <a:rPr lang="fr-FR" sz="3200" dirty="0" err="1">
                <a:latin typeface="Eras Light ITC" panose="020B0402030504020804" pitchFamily="34" charset="0"/>
                <a:ea typeface="Microsoft JhengHei Light" panose="020B0304030504040204" pitchFamily="34" charset="-120"/>
              </a:rPr>
              <a:t>ée</a:t>
            </a:r>
            <a:r>
              <a:rPr lang="fr-FR" sz="3200" dirty="0">
                <a:latin typeface="Eras Light ITC" panose="020B0402030504020804" pitchFamily="34" charset="0"/>
                <a:ea typeface="Microsoft JhengHei Light" panose="020B0304030504040204" pitchFamily="34" charset="-120"/>
              </a:rPr>
              <a:t> moyenne du pipeline : 18ms (Inférence = 66%)</a:t>
            </a:r>
            <a:endParaRPr lang="fr-FR" sz="3200" noProof="0" dirty="0">
              <a:latin typeface="Eras Light ITC" panose="020B0402030504020804" pitchFamily="34" charset="0"/>
              <a:ea typeface="Microsoft JhengHei UI Light" panose="020B0304030504040204" pitchFamily="34" charset="-120"/>
            </a:endParaRPr>
          </a:p>
        </p:txBody>
      </p:sp>
    </p:spTree>
    <p:extLst>
      <p:ext uri="{BB962C8B-B14F-4D97-AF65-F5344CB8AC3E}">
        <p14:creationId xmlns:p14="http://schemas.microsoft.com/office/powerpoint/2010/main" val="3176112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4BBA8-251F-CE49-558E-F48B846E23C5}"/>
            </a:ext>
          </a:extLst>
        </p:cNvPr>
        <p:cNvGrpSpPr/>
        <p:nvPr/>
      </p:nvGrpSpPr>
      <p:grpSpPr>
        <a:xfrm>
          <a:off x="0" y="0"/>
          <a:ext cx="0" cy="0"/>
          <a:chOff x="0" y="0"/>
          <a:chExt cx="0" cy="0"/>
        </a:xfrm>
      </p:grpSpPr>
      <p:sp>
        <p:nvSpPr>
          <p:cNvPr id="13" name="ZoneTexte 12">
            <a:extLst>
              <a:ext uri="{FF2B5EF4-FFF2-40B4-BE49-F238E27FC236}">
                <a16:creationId xmlns:a16="http://schemas.microsoft.com/office/drawing/2014/main" id="{3D9F2927-4B71-6B2E-07FE-E96FC54EE9C4}"/>
              </a:ext>
            </a:extLst>
          </p:cNvPr>
          <p:cNvSpPr txBox="1"/>
          <p:nvPr/>
        </p:nvSpPr>
        <p:spPr>
          <a:xfrm>
            <a:off x="381600" y="909243"/>
            <a:ext cx="2877711" cy="707886"/>
          </a:xfrm>
          <a:prstGeom prst="rect">
            <a:avLst/>
          </a:prstGeom>
          <a:noFill/>
        </p:spPr>
        <p:txBody>
          <a:bodyPr wrap="none" rtlCol="0">
            <a:spAutoFit/>
          </a:bodyPr>
          <a:lstStyle/>
          <a:p>
            <a:r>
              <a:rPr lang="fr-FR" sz="4000" noProof="0" dirty="0">
                <a:latin typeface="Eras Demi ITC" panose="020B0805030504020804" pitchFamily="34" charset="0"/>
              </a:rPr>
              <a:t>Conclusion</a:t>
            </a:r>
          </a:p>
        </p:txBody>
      </p:sp>
      <p:sp>
        <p:nvSpPr>
          <p:cNvPr id="3" name="ZoneTexte 2">
            <a:extLst>
              <a:ext uri="{FF2B5EF4-FFF2-40B4-BE49-F238E27FC236}">
                <a16:creationId xmlns:a16="http://schemas.microsoft.com/office/drawing/2014/main" id="{DCC69F91-2F2F-04E8-EE38-1F1317AD6ED1}"/>
              </a:ext>
            </a:extLst>
          </p:cNvPr>
          <p:cNvSpPr txBox="1"/>
          <p:nvPr/>
        </p:nvSpPr>
        <p:spPr>
          <a:xfrm>
            <a:off x="381600" y="2268350"/>
            <a:ext cx="10546510" cy="954107"/>
          </a:xfrm>
          <a:prstGeom prst="rect">
            <a:avLst/>
          </a:prstGeom>
          <a:noFill/>
          <a:ln>
            <a:noFill/>
          </a:ln>
        </p:spPr>
        <p:txBody>
          <a:bodyPr wrap="square" rtlCol="0">
            <a:spAutoFit/>
          </a:bodyPr>
          <a:lstStyle/>
          <a:p>
            <a:pPr marL="457200" indent="-457200">
              <a:buFont typeface="Arial" panose="020B0604020202020204" pitchFamily="34" charset="0"/>
              <a:buChar char="•"/>
            </a:pPr>
            <a:r>
              <a:rPr lang="fr-FR" sz="2800" noProof="0" dirty="0">
                <a:latin typeface="Eras Light ITC" panose="020B0402030504020804" pitchFamily="34" charset="0"/>
                <a:ea typeface="Microsoft JhengHei UI" panose="020B0604030504040204" pitchFamily="34" charset="-120"/>
              </a:rPr>
              <a:t>Mise en place d’une API </a:t>
            </a:r>
            <a:r>
              <a:rPr lang="fr-FR" sz="2800" noProof="0" dirty="0" err="1">
                <a:latin typeface="Eras Light ITC" panose="020B0402030504020804" pitchFamily="34" charset="0"/>
                <a:ea typeface="Microsoft JhengHei UI" panose="020B0604030504040204" pitchFamily="34" charset="-120"/>
              </a:rPr>
              <a:t>FastAPI</a:t>
            </a:r>
            <a:r>
              <a:rPr lang="fr-FR" sz="2800" noProof="0" dirty="0">
                <a:latin typeface="Eras Light ITC" panose="020B0402030504020804" pitchFamily="34" charset="0"/>
                <a:ea typeface="Microsoft JhengHei UI" panose="020B0604030504040204" pitchFamily="34" charset="-120"/>
              </a:rPr>
              <a:t> fonctionnelle pour l’exposition d’un modèle de classification.</a:t>
            </a:r>
            <a:endParaRPr lang="fr-FR" sz="2800" i="1" noProof="0" dirty="0">
              <a:latin typeface="Eras Light ITC" panose="020B0402030504020804" pitchFamily="34" charset="0"/>
              <a:ea typeface="Microsoft JhengHei UI Light" panose="020B0304030504040204" pitchFamily="34" charset="-120"/>
            </a:endParaRPr>
          </a:p>
        </p:txBody>
      </p:sp>
      <p:sp>
        <p:nvSpPr>
          <p:cNvPr id="8" name="ZoneTexte 7">
            <a:extLst>
              <a:ext uri="{FF2B5EF4-FFF2-40B4-BE49-F238E27FC236}">
                <a16:creationId xmlns:a16="http://schemas.microsoft.com/office/drawing/2014/main" id="{699CCBD5-B931-CB00-AD1E-F32D35A3D0F1}"/>
              </a:ext>
            </a:extLst>
          </p:cNvPr>
          <p:cNvSpPr txBox="1"/>
          <p:nvPr/>
        </p:nvSpPr>
        <p:spPr>
          <a:xfrm>
            <a:off x="381600" y="3379545"/>
            <a:ext cx="10546510" cy="1384995"/>
          </a:xfrm>
          <a:prstGeom prst="rect">
            <a:avLst/>
          </a:prstGeom>
          <a:noFill/>
          <a:ln>
            <a:noFill/>
          </a:ln>
        </p:spPr>
        <p:txBody>
          <a:bodyPr wrap="square" rtlCol="0">
            <a:spAutoFit/>
          </a:bodyPr>
          <a:lstStyle/>
          <a:p>
            <a:pPr marL="457200" indent="-457200">
              <a:buFont typeface="Arial" panose="020B0604020202020204" pitchFamily="34" charset="0"/>
              <a:buChar char="•"/>
            </a:pPr>
            <a:r>
              <a:rPr lang="fr-FR" sz="2800" noProof="0" dirty="0">
                <a:latin typeface="Eras Light ITC" panose="020B0402030504020804" pitchFamily="34" charset="0"/>
                <a:ea typeface="Microsoft JhengHei Light" panose="020B0304030504040204" pitchFamily="34" charset="-120"/>
              </a:rPr>
              <a:t>Mise en place d’un pipeline automatique de CI/CD permettant le contrôle de la qualité et du fonctionnement du code ainsi que sont déploiement continue sur </a:t>
            </a:r>
            <a:r>
              <a:rPr lang="fr-FR" sz="2800" noProof="0" dirty="0" err="1">
                <a:latin typeface="Eras Light ITC" panose="020B0402030504020804" pitchFamily="34" charset="0"/>
                <a:ea typeface="Microsoft JhengHei Light" panose="020B0304030504040204" pitchFamily="34" charset="-120"/>
              </a:rPr>
              <a:t>HuggingFace</a:t>
            </a:r>
            <a:r>
              <a:rPr lang="fr-FR" sz="2800" noProof="0" dirty="0">
                <a:latin typeface="Eras Light ITC" panose="020B0402030504020804" pitchFamily="34" charset="0"/>
                <a:ea typeface="Microsoft JhengHei Light" panose="020B0304030504040204" pitchFamily="34" charset="-120"/>
              </a:rPr>
              <a:t> </a:t>
            </a:r>
            <a:r>
              <a:rPr lang="fr-FR" sz="2800" noProof="0" dirty="0" err="1">
                <a:latin typeface="Eras Light ITC" panose="020B0402030504020804" pitchFamily="34" charset="0"/>
                <a:ea typeface="Microsoft JhengHei Light" panose="020B0304030504040204" pitchFamily="34" charset="-120"/>
              </a:rPr>
              <a:t>Spaces</a:t>
            </a:r>
            <a:r>
              <a:rPr lang="fr-FR" sz="2800" noProof="0" dirty="0">
                <a:latin typeface="Eras Light ITC" panose="020B0402030504020804" pitchFamily="34" charset="0"/>
                <a:ea typeface="Microsoft JhengHei Light" panose="020B0304030504040204" pitchFamily="34" charset="-120"/>
              </a:rPr>
              <a:t>.	</a:t>
            </a:r>
            <a:r>
              <a:rPr lang="fr-FR" sz="2800" i="1" noProof="0" dirty="0">
                <a:latin typeface="Eras Light ITC" panose="020B0402030504020804" pitchFamily="34" charset="0"/>
                <a:ea typeface="Microsoft JhengHei Light" panose="020B0304030504040204" pitchFamily="34" charset="-120"/>
              </a:rPr>
              <a:t>	</a:t>
            </a:r>
            <a:endParaRPr lang="fr-FR" sz="2800" i="1" noProof="0" dirty="0">
              <a:latin typeface="Eras Light ITC" panose="020B0402030504020804" pitchFamily="34" charset="0"/>
              <a:ea typeface="Microsoft JhengHei UI Light" panose="020B0304030504040204" pitchFamily="34" charset="-120"/>
            </a:endParaRPr>
          </a:p>
        </p:txBody>
      </p:sp>
      <p:sp>
        <p:nvSpPr>
          <p:cNvPr id="10" name="ZoneTexte 9">
            <a:extLst>
              <a:ext uri="{FF2B5EF4-FFF2-40B4-BE49-F238E27FC236}">
                <a16:creationId xmlns:a16="http://schemas.microsoft.com/office/drawing/2014/main" id="{DB9C21AA-C67A-2457-5C4B-9A5E8A659D19}"/>
              </a:ext>
            </a:extLst>
          </p:cNvPr>
          <p:cNvSpPr txBox="1"/>
          <p:nvPr/>
        </p:nvSpPr>
        <p:spPr>
          <a:xfrm>
            <a:off x="381600" y="4921628"/>
            <a:ext cx="10668000" cy="954107"/>
          </a:xfrm>
          <a:prstGeom prst="rect">
            <a:avLst/>
          </a:prstGeom>
          <a:noFill/>
        </p:spPr>
        <p:txBody>
          <a:bodyPr wrap="square">
            <a:spAutoFit/>
          </a:bodyPr>
          <a:lstStyle/>
          <a:p>
            <a:pPr marL="457200" indent="-457200">
              <a:buFont typeface="Arial" panose="020B0604020202020204" pitchFamily="34" charset="0"/>
              <a:buChar char="•"/>
            </a:pPr>
            <a:r>
              <a:rPr lang="fr-FR" sz="2800" noProof="0" dirty="0">
                <a:latin typeface="Eras Light ITC" panose="020B0402030504020804" pitchFamily="34" charset="0"/>
                <a:ea typeface="Microsoft JhengHei UI" panose="020B0604030504040204" pitchFamily="34" charset="-120"/>
              </a:rPr>
              <a:t>Mise en place d’une base de données PostgreSQL contenant le </a:t>
            </a:r>
            <a:r>
              <a:rPr lang="fr-FR" sz="2800" noProof="0" dirty="0" err="1">
                <a:latin typeface="Eras Light ITC" panose="020B0402030504020804" pitchFamily="34" charset="0"/>
                <a:ea typeface="Microsoft JhengHei UI" panose="020B0604030504040204" pitchFamily="34" charset="-120"/>
              </a:rPr>
              <a:t>dataset</a:t>
            </a:r>
            <a:r>
              <a:rPr lang="fr-FR" sz="2800" noProof="0" dirty="0">
                <a:latin typeface="Eras Light ITC" panose="020B0402030504020804" pitchFamily="34" charset="0"/>
                <a:ea typeface="Microsoft JhengHei UI" panose="020B0604030504040204" pitchFamily="34" charset="-120"/>
              </a:rPr>
              <a:t> et les logs d’activité de l’API.</a:t>
            </a:r>
          </a:p>
        </p:txBody>
      </p:sp>
      <p:sp>
        <p:nvSpPr>
          <p:cNvPr id="2" name="ZoneTexte 1">
            <a:extLst>
              <a:ext uri="{FF2B5EF4-FFF2-40B4-BE49-F238E27FC236}">
                <a16:creationId xmlns:a16="http://schemas.microsoft.com/office/drawing/2014/main" id="{151E8463-C254-666E-67D7-EC59FAA829B4}"/>
              </a:ext>
            </a:extLst>
          </p:cNvPr>
          <p:cNvSpPr txBox="1"/>
          <p:nvPr/>
        </p:nvSpPr>
        <p:spPr>
          <a:xfrm>
            <a:off x="320855" y="6032824"/>
            <a:ext cx="10668000" cy="523220"/>
          </a:xfrm>
          <a:prstGeom prst="rect">
            <a:avLst/>
          </a:prstGeom>
          <a:noFill/>
        </p:spPr>
        <p:txBody>
          <a:bodyPr wrap="square">
            <a:spAutoFit/>
          </a:bodyPr>
          <a:lstStyle/>
          <a:p>
            <a:pPr marL="457200" indent="-457200">
              <a:buFont typeface="Arial" panose="020B0604020202020204" pitchFamily="34" charset="0"/>
              <a:buChar char="•"/>
            </a:pPr>
            <a:r>
              <a:rPr lang="fr-FR" sz="2800" noProof="0" dirty="0">
                <a:latin typeface="Eras Light ITC" panose="020B0402030504020804" pitchFamily="34" charset="0"/>
                <a:ea typeface="Microsoft JhengHei UI" panose="020B0604030504040204" pitchFamily="34" charset="-120"/>
              </a:rPr>
              <a:t>Documentation complète de la procédure dans un README.</a:t>
            </a:r>
          </a:p>
        </p:txBody>
      </p:sp>
      <p:sp>
        <p:nvSpPr>
          <p:cNvPr id="4" name="ZoneTexte 3">
            <a:extLst>
              <a:ext uri="{FF2B5EF4-FFF2-40B4-BE49-F238E27FC236}">
                <a16:creationId xmlns:a16="http://schemas.microsoft.com/office/drawing/2014/main" id="{519EEC43-7E32-DD0D-1577-F4008E00011B}"/>
              </a:ext>
            </a:extLst>
          </p:cNvPr>
          <p:cNvSpPr txBox="1"/>
          <p:nvPr/>
        </p:nvSpPr>
        <p:spPr>
          <a:xfrm rot="18595855">
            <a:off x="2422464" y="2187231"/>
            <a:ext cx="6464783" cy="2646878"/>
          </a:xfrm>
          <a:prstGeom prst="rect">
            <a:avLst/>
          </a:prstGeom>
          <a:solidFill>
            <a:schemeClr val="bg1"/>
          </a:solidFill>
        </p:spPr>
        <p:txBody>
          <a:bodyPr wrap="none" rtlCol="0">
            <a:spAutoFit/>
          </a:bodyPr>
          <a:lstStyle/>
          <a:p>
            <a:r>
              <a:rPr lang="fr-FR" sz="16600" dirty="0">
                <a:solidFill>
                  <a:srgbClr val="FF0000"/>
                </a:solidFill>
              </a:rPr>
              <a:t>A faire</a:t>
            </a:r>
            <a:endParaRPr lang="en-US" sz="16600" dirty="0">
              <a:solidFill>
                <a:srgbClr val="FF0000"/>
              </a:solidFill>
            </a:endParaRPr>
          </a:p>
        </p:txBody>
      </p:sp>
    </p:spTree>
    <p:extLst>
      <p:ext uri="{BB962C8B-B14F-4D97-AF65-F5344CB8AC3E}">
        <p14:creationId xmlns:p14="http://schemas.microsoft.com/office/powerpoint/2010/main" val="3868084890"/>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9D360E"/>
      </a:dk2>
      <a:lt2>
        <a:srgbClr val="E7E6E6"/>
      </a:lt2>
      <a:accent1>
        <a:srgbClr val="F09415"/>
      </a:accent1>
      <a:accent2>
        <a:srgbClr val="C1B56B"/>
      </a:accent2>
      <a:accent3>
        <a:srgbClr val="4BAF73"/>
      </a:accent3>
      <a:accent4>
        <a:srgbClr val="5AA6C0"/>
      </a:accent4>
      <a:accent5>
        <a:srgbClr val="D17DF9"/>
      </a:accent5>
      <a:accent6>
        <a:srgbClr val="FA7E5C"/>
      </a:accent6>
      <a:hlink>
        <a:srgbClr val="FFAE3E"/>
      </a:hlink>
      <a:folHlink>
        <a:srgbClr val="FCC77E"/>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270000"/>
                <a:satMod val="200000"/>
                <a:lumMod val="128000"/>
              </a:schemeClr>
            </a:gs>
            <a:gs pos="50000">
              <a:schemeClr val="phClr">
                <a:shade val="100000"/>
                <a:hueMod val="100000"/>
                <a:satMod val="110000"/>
                <a:lumMod val="130000"/>
              </a:schemeClr>
            </a:gs>
            <a:gs pos="100000">
              <a:schemeClr val="phClr">
                <a:shade val="78000"/>
                <a:hueMod val="44000"/>
                <a:satMod val="20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0CBE056-4EF4-4D92-969E-947779DA7AA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TM04033917[[fn=Berlin]]</Template>
  <TotalTime>2762</TotalTime>
  <Words>635</Words>
  <Application>Microsoft Office PowerPoint</Application>
  <PresentationFormat>Grand écran</PresentationFormat>
  <Paragraphs>59</Paragraphs>
  <Slides>10</Slides>
  <Notes>10</Notes>
  <HiddenSlides>0</HiddenSlides>
  <MMClips>0</MMClips>
  <ScaleCrop>false</ScaleCrop>
  <HeadingPairs>
    <vt:vector size="6" baseType="variant">
      <vt:variant>
        <vt:lpstr>Polices utilisées</vt:lpstr>
      </vt:variant>
      <vt:variant>
        <vt:i4>9</vt:i4>
      </vt:variant>
      <vt:variant>
        <vt:lpstr>Thème</vt:lpstr>
      </vt:variant>
      <vt:variant>
        <vt:i4>1</vt:i4>
      </vt:variant>
      <vt:variant>
        <vt:lpstr>Titres des diapositives</vt:lpstr>
      </vt:variant>
      <vt:variant>
        <vt:i4>10</vt:i4>
      </vt:variant>
    </vt:vector>
  </HeadingPairs>
  <TitlesOfParts>
    <vt:vector size="20" baseType="lpstr">
      <vt:lpstr>Microsoft JhengHei UI</vt:lpstr>
      <vt:lpstr>Microsoft JhengHei UI Light</vt:lpstr>
      <vt:lpstr>Aptos</vt:lpstr>
      <vt:lpstr>Arial</vt:lpstr>
      <vt:lpstr>Consolas</vt:lpstr>
      <vt:lpstr>Eras Bold ITC</vt:lpstr>
      <vt:lpstr>Eras Demi ITC</vt:lpstr>
      <vt:lpstr>Eras Light ITC</vt:lpstr>
      <vt:lpstr>Trebuchet MS</vt:lpstr>
      <vt:lpstr>Berlin</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Julien Lucien Marcel Poitreau</dc:creator>
  <cp:lastModifiedBy>Julien Lucien Marcel Poitreau</cp:lastModifiedBy>
  <cp:revision>28</cp:revision>
  <dcterms:created xsi:type="dcterms:W3CDTF">2025-11-22T11:13:09Z</dcterms:created>
  <dcterms:modified xsi:type="dcterms:W3CDTF">2026-08-14T12:29:32Z</dcterms:modified>
</cp:coreProperties>
</file>