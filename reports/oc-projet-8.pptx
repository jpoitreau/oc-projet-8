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7" r:id="rId3"/>
    <p:sldId id="332" r:id="rId4"/>
    <p:sldId id="278" r:id="rId5"/>
    <p:sldId id="277" r:id="rId6"/>
    <p:sldId id="329" r:id="rId7"/>
    <p:sldId id="333" r:id="rId8"/>
    <p:sldId id="334" r:id="rId9"/>
    <p:sldId id="336" r:id="rId10"/>
    <p:sldId id="335" r:id="rId11"/>
    <p:sldId id="3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5000"/>
    <a:srgbClr val="1C1B22"/>
    <a:srgbClr val="4F8BBE"/>
    <a:srgbClr val="6588A5"/>
    <a:srgbClr val="CE9178"/>
    <a:srgbClr val="262626"/>
    <a:srgbClr val="9D2D0F"/>
    <a:srgbClr val="FFFFFF"/>
    <a:srgbClr val="4C72B0"/>
    <a:srgbClr val="DD8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11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3733C9E-AFC9-2203-69AD-E794060CF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A12ABE-837A-D1C3-AD69-BA6A28307C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DB058-A044-4043-A3A3-7BACA5B3A04F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0D5124-CA9E-0699-6A17-C136EDC632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E6FDFE-755F-0C64-6E9A-48D78C2737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BEB73-50BC-478F-9973-E68CD0A30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49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CF6E6-CAE2-4C00-8C24-5E0E8B2FFA0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3624B-3861-4937-8F64-3EF5A7207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2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49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2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F945-F4B6-C98E-1C52-6623B436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922442-2AAF-1D8C-264B-5B721C107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5F1BA5-95D5-A4B3-4BC1-120DBD121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D39E1A-C695-BA42-A8CF-A6D69F4FF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6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27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82EC-A145-E460-3B34-24AB2E50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0D59D5-C7F4-BFA6-404A-F68681285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A8D3E9-2FAB-88A6-CD29-D78E2CCB2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6124D5-14AD-6A9F-6E6A-92497FFDF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68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A6AC4-28D7-EE02-207D-4EA54FDB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D88ECE-EF5D-B65F-0209-99BECA0BC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8D418B-7711-BED1-FC77-BD9A592CA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E87100-1B64-3630-90B8-EE54CCD6A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8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3F210-4B84-F453-EB15-857E6313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1CAE1B-F99F-9D99-2A45-A26A9B939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8FEB244-5AB3-01F8-EBFD-0CC6973E6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CB8682-DF9A-CC7B-36D3-AC010FE16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22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FA266-E108-62A8-1EDA-D8BD8B7B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07F50A-85BE-6279-241D-DFB5D39CF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DA60D6-5998-FD94-94CE-CBA986BE5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3E5E52-DB51-B011-C68C-E1E48834D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7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2CF2A-5A16-AC72-2171-84BCFD34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E35499-6B5E-DA22-71A5-9ADA33A7F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FF6F49-72FE-6080-898E-C01660F20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 sur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=&gt; gestion des secrets et des variables =&gt; pas de BDD =&gt; route déploiement avec utilisation du csv, chemin vers le modèle et le tableau de données gérés comme variables d’environnement dans le repo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C02B4-D0F0-BEFC-E90C-80A495407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53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CD86-C302-375F-541C-210EC53D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3C846F-E495-9C77-AEC8-3D53F24CA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461232-2A74-1D69-8DB1-2BE54B7C6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16D14E-DEAD-F47A-9926-E7567C845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624B-3861-4937-8F64-3EF5A72077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2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3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53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16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82B277A-E1C9-DF4B-68C0-55E883243023}"/>
              </a:ext>
            </a:extLst>
          </p:cNvPr>
          <p:cNvSpPr/>
          <p:nvPr userDrawn="1"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9270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4B03C7BF-47AD-8B50-B045-B545FB14FA3F}"/>
              </a:ext>
            </a:extLst>
          </p:cNvPr>
          <p:cNvSpPr/>
          <p:nvPr userDrawn="1"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6568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C07A5595-4F9E-9DFA-7B8E-BD1E75138E8E}"/>
              </a:ext>
            </a:extLst>
          </p:cNvPr>
          <p:cNvSpPr/>
          <p:nvPr userDrawn="1"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1984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2A5EC09A-6B7F-F2F7-3A53-60B130660E87}"/>
              </a:ext>
            </a:extLst>
          </p:cNvPr>
          <p:cNvSpPr/>
          <p:nvPr userDrawn="1"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032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4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57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6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3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3027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8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355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2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22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D68962E-EF79-4265-AC71-696A4F49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93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3894F-03A6-4760-8AFF-8C8908CB964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8962E-EF79-4265-AC71-696A4F4921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356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6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8CF6236-BAED-3295-151C-29122E2AB3D6}"/>
              </a:ext>
            </a:extLst>
          </p:cNvPr>
          <p:cNvSpPr txBox="1"/>
          <p:nvPr/>
        </p:nvSpPr>
        <p:spPr>
          <a:xfrm>
            <a:off x="449325" y="2767280"/>
            <a:ext cx="84369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noProof="0" dirty="0">
                <a:latin typeface="Eras Demi ITC" panose="020B0805030504020804" pitchFamily="34" charset="0"/>
              </a:rPr>
              <a:t>Projet 8 : </a:t>
            </a:r>
            <a:r>
              <a:rPr lang="fr-FR" sz="4000" noProof="0" dirty="0">
                <a:latin typeface="Eras Light ITC" panose="020B0402030504020804" pitchFamily="34" charset="0"/>
              </a:rPr>
              <a:t>Confirmez vos compétence</a:t>
            </a:r>
            <a:r>
              <a:rPr lang="fr-FR" sz="4000" dirty="0">
                <a:latin typeface="Eras Light ITC" panose="020B0402030504020804" pitchFamily="34" charset="0"/>
              </a:rPr>
              <a:t>s</a:t>
            </a:r>
            <a:br>
              <a:rPr lang="fr-FR" sz="4000" noProof="0" dirty="0">
                <a:latin typeface="Eras Light ITC" panose="020B0402030504020804" pitchFamily="34" charset="0"/>
              </a:rPr>
            </a:br>
            <a:r>
              <a:rPr lang="fr-FR" sz="4000" noProof="0" dirty="0">
                <a:latin typeface="Eras Light ITC" panose="020B0402030504020804" pitchFamily="34" charset="0"/>
              </a:rPr>
              <a:t>en </a:t>
            </a:r>
            <a:r>
              <a:rPr lang="fr-FR" sz="4000" noProof="0" dirty="0" err="1">
                <a:latin typeface="Eras Light ITC" panose="020B0402030504020804" pitchFamily="34" charset="0"/>
              </a:rPr>
              <a:t>MLOps</a:t>
            </a:r>
            <a:endParaRPr lang="fr-FR" sz="4000" noProof="0" dirty="0">
              <a:latin typeface="Eras Bold ITC" panose="020B0907030504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BC06D275-A421-672F-9A19-2F79B3DCF016}"/>
              </a:ext>
            </a:extLst>
          </p:cNvPr>
          <p:cNvGrpSpPr/>
          <p:nvPr/>
        </p:nvGrpSpPr>
        <p:grpSpPr>
          <a:xfrm>
            <a:off x="368936" y="2862737"/>
            <a:ext cx="7184571" cy="1192811"/>
            <a:chOff x="4250453" y="1341454"/>
            <a:chExt cx="7184571" cy="1192811"/>
          </a:xfrm>
        </p:grpSpPr>
        <p:cxnSp>
          <p:nvCxnSpPr>
            <p:cNvPr id="3" name="Connecteur droit 2">
              <a:extLst>
                <a:ext uri="{FF2B5EF4-FFF2-40B4-BE49-F238E27FC236}">
                  <a16:creationId xmlns:a16="http://schemas.microsoft.com/office/drawing/2014/main" id="{40657F70-B0B7-ECE1-0085-F78FECFEA79E}"/>
                </a:ext>
              </a:extLst>
            </p:cNvPr>
            <p:cNvCxnSpPr/>
            <p:nvPr/>
          </p:nvCxnSpPr>
          <p:spPr>
            <a:xfrm>
              <a:off x="4250453" y="1341454"/>
              <a:ext cx="0" cy="11928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E9B0BC0E-FD05-566B-7232-994C53136326}"/>
                </a:ext>
              </a:extLst>
            </p:cNvPr>
            <p:cNvCxnSpPr>
              <a:cxnSpLocks/>
            </p:cNvCxnSpPr>
            <p:nvPr/>
          </p:nvCxnSpPr>
          <p:spPr>
            <a:xfrm>
              <a:off x="4252129" y="2534265"/>
              <a:ext cx="718289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821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46F0-F1B5-4CE1-F07D-BBA9A589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655703-BF14-801F-5143-7ADE3616C370}"/>
              </a:ext>
            </a:extLst>
          </p:cNvPr>
          <p:cNvSpPr txBox="1"/>
          <p:nvPr/>
        </p:nvSpPr>
        <p:spPr>
          <a:xfrm>
            <a:off x="171770" y="916024"/>
            <a:ext cx="5758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noProof="0" dirty="0">
                <a:latin typeface="Eras Demi ITC" panose="020B0805030504020804" pitchFamily="34" charset="0"/>
              </a:rPr>
              <a:t>Plan de la présentation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6DCB13D-B8CB-CC5D-4F28-3D5BFEDE488A}"/>
              </a:ext>
            </a:extLst>
          </p:cNvPr>
          <p:cNvGrpSpPr/>
          <p:nvPr/>
        </p:nvGrpSpPr>
        <p:grpSpPr>
          <a:xfrm>
            <a:off x="803098" y="2342826"/>
            <a:ext cx="11388901" cy="3749178"/>
            <a:chOff x="518893" y="2507925"/>
            <a:chExt cx="11388901" cy="4510698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C6B6A1D4-D551-6FD5-6DF1-83413D0C2D6B}"/>
                </a:ext>
              </a:extLst>
            </p:cNvPr>
            <p:cNvSpPr txBox="1"/>
            <p:nvPr/>
          </p:nvSpPr>
          <p:spPr>
            <a:xfrm>
              <a:off x="674169" y="2507925"/>
              <a:ext cx="11233625" cy="4459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lnSpc>
                  <a:spcPct val="150000"/>
                </a:lnSpc>
                <a:buAutoNum type="romanUcPeriod"/>
              </a:pPr>
              <a:r>
                <a:rPr lang="fr-FR" sz="3200" noProof="0" dirty="0">
                  <a:latin typeface="Eras Light ITC" panose="020B0402030504020804" pitchFamily="34" charset="0"/>
                </a:rPr>
                <a:t>Contexte métier</a:t>
              </a:r>
            </a:p>
            <a:p>
              <a:pPr marL="571500" indent="-571500">
                <a:lnSpc>
                  <a:spcPct val="150000"/>
                </a:lnSpc>
                <a:buFontTx/>
                <a:buAutoNum type="romanUcPeriod"/>
              </a:pPr>
              <a:r>
                <a:rPr lang="fr-FR" sz="3200" dirty="0">
                  <a:latin typeface="Eras Light ITC" panose="020B0402030504020804" pitchFamily="34" charset="0"/>
                </a:rPr>
                <a:t>Structure du dépôt</a:t>
              </a:r>
            </a:p>
            <a:p>
              <a:pPr marL="571500" indent="-571500">
                <a:lnSpc>
                  <a:spcPct val="150000"/>
                </a:lnSpc>
                <a:buFontTx/>
                <a:buAutoNum type="romanUcPeriod"/>
              </a:pPr>
              <a:r>
                <a:rPr lang="fr-FR" sz="3200" dirty="0">
                  <a:latin typeface="Eras Light ITC" panose="020B0402030504020804" pitchFamily="34" charset="0"/>
                </a:rPr>
                <a:t>Démonstration du fonctionnement du pipeline de CI/CD </a:t>
              </a:r>
              <a:br>
                <a:rPr lang="fr-FR" sz="3200" dirty="0">
                  <a:latin typeface="Eras Light ITC" panose="020B0402030504020804" pitchFamily="34" charset="0"/>
                </a:rPr>
              </a:br>
              <a:r>
                <a:rPr lang="fr-FR" sz="3200" dirty="0">
                  <a:latin typeface="Eras Light ITC" panose="020B0402030504020804" pitchFamily="34" charset="0"/>
                </a:rPr>
                <a:t>et de l’API déployée</a:t>
              </a:r>
            </a:p>
            <a:p>
              <a:pPr marL="571500" indent="-571500">
                <a:lnSpc>
                  <a:spcPct val="150000"/>
                </a:lnSpc>
                <a:buFontTx/>
                <a:buAutoNum type="romanUcPeriod"/>
              </a:pPr>
              <a:r>
                <a:rPr lang="fr-FR" sz="3200" dirty="0">
                  <a:latin typeface="Eras Light ITC" panose="020B0402030504020804" pitchFamily="34" charset="0"/>
                </a:rPr>
                <a:t>Résultats du monitoring et optimisation</a:t>
              </a:r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D57693ED-FC97-604C-54B1-73CD674F2D20}"/>
                </a:ext>
              </a:extLst>
            </p:cNvPr>
            <p:cNvGrpSpPr/>
            <p:nvPr/>
          </p:nvGrpSpPr>
          <p:grpSpPr>
            <a:xfrm>
              <a:off x="518893" y="2767915"/>
              <a:ext cx="7182895" cy="4250708"/>
              <a:chOff x="4252129" y="1444848"/>
              <a:chExt cx="7182895" cy="1381564"/>
            </a:xfrm>
          </p:grpSpPr>
          <p:cxnSp>
            <p:nvCxnSpPr>
              <p:cNvPr id="7" name="Connecteur droit 6">
                <a:extLst>
                  <a:ext uri="{FF2B5EF4-FFF2-40B4-BE49-F238E27FC236}">
                    <a16:creationId xmlns:a16="http://schemas.microsoft.com/office/drawing/2014/main" id="{D09DB2F8-F85B-298D-6676-60C39C3E4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2129" y="1444848"/>
                <a:ext cx="0" cy="138156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B1B023AC-2E4E-C3CB-C537-2EF36F52D2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2129" y="2826412"/>
                <a:ext cx="7182895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33145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78B7-F5D3-F92C-F6DF-1AE6B3F3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8B1AC99-2FDA-48DB-07A5-9F9C93E55E73}"/>
              </a:ext>
            </a:extLst>
          </p:cNvPr>
          <p:cNvSpPr txBox="1"/>
          <p:nvPr/>
        </p:nvSpPr>
        <p:spPr>
          <a:xfrm>
            <a:off x="381600" y="632143"/>
            <a:ext cx="45031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</a:t>
            </a:r>
            <a:r>
              <a:rPr lang="fr-FR" sz="4000" noProof="0" dirty="0">
                <a:latin typeface="Eras Demi ITC" panose="020B0805030504020804" pitchFamily="34" charset="0"/>
              </a:rPr>
              <a:t>. Contexte métier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B1EC7EF-2AF5-9099-B33E-4E658D380657}"/>
              </a:ext>
            </a:extLst>
          </p:cNvPr>
          <p:cNvSpPr txBox="1"/>
          <p:nvPr/>
        </p:nvSpPr>
        <p:spPr>
          <a:xfrm>
            <a:off x="167718" y="2076886"/>
            <a:ext cx="201465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Mission :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6D7BB9-EBCA-2C92-E48E-B1CB8588E5DE}"/>
              </a:ext>
            </a:extLst>
          </p:cNvPr>
          <p:cNvSpPr txBox="1"/>
          <p:nvPr/>
        </p:nvSpPr>
        <p:spPr>
          <a:xfrm>
            <a:off x="2212589" y="2107586"/>
            <a:ext cx="9979411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Simulation de la mise </a:t>
            </a:r>
            <a:r>
              <a:rPr lang="en-US" sz="3200" dirty="0" err="1"/>
              <a:t>en</a:t>
            </a:r>
            <a:r>
              <a:rPr lang="en-US" sz="3200" dirty="0"/>
              <a:t> production d'un </a:t>
            </a:r>
            <a:r>
              <a:rPr lang="en-US" sz="3200" dirty="0" err="1"/>
              <a:t>modèle</a:t>
            </a:r>
            <a:r>
              <a:rPr lang="en-US" sz="3200" dirty="0"/>
              <a:t> de scoring client </a:t>
            </a:r>
            <a:r>
              <a:rPr lang="en-US" sz="3200" dirty="0" err="1"/>
              <a:t>basé</a:t>
            </a:r>
            <a:r>
              <a:rPr lang="en-US" sz="3200" dirty="0"/>
              <a:t> sur des données </a:t>
            </a:r>
            <a:r>
              <a:rPr lang="en-US" sz="3200" dirty="0" err="1"/>
              <a:t>banquaires</a:t>
            </a:r>
            <a:r>
              <a:rPr lang="en-US" sz="3200" dirty="0"/>
              <a:t>.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AEFB32B-5903-71A3-4905-6423E2EBF815}"/>
              </a:ext>
            </a:extLst>
          </p:cNvPr>
          <p:cNvSpPr txBox="1"/>
          <p:nvPr/>
        </p:nvSpPr>
        <p:spPr>
          <a:xfrm>
            <a:off x="167718" y="3282450"/>
            <a:ext cx="211218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Modèle :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AF51C47-6D73-DD8B-26BB-3192322B2FF0}"/>
              </a:ext>
            </a:extLst>
          </p:cNvPr>
          <p:cNvSpPr txBox="1"/>
          <p:nvPr/>
        </p:nvSpPr>
        <p:spPr>
          <a:xfrm>
            <a:off x="2212589" y="3328853"/>
            <a:ext cx="1114947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Prédiction de la probabilité de recouvrement d’un prêt </a:t>
            </a:r>
            <a:b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</a:br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en se basant l’historique bancaire et des données </a:t>
            </a:r>
            <a:b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</a:br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personnelles.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A70FEC-3880-76D7-F6F4-65FB0220AEC9}"/>
              </a:ext>
            </a:extLst>
          </p:cNvPr>
          <p:cNvSpPr txBox="1"/>
          <p:nvPr/>
        </p:nvSpPr>
        <p:spPr>
          <a:xfrm>
            <a:off x="164000" y="4984869"/>
            <a:ext cx="223351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Objectifs :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DF549B2-5124-90F2-D601-A086455872E8}"/>
              </a:ext>
            </a:extLst>
          </p:cNvPr>
          <p:cNvSpPr txBox="1"/>
          <p:nvPr/>
        </p:nvSpPr>
        <p:spPr>
          <a:xfrm>
            <a:off x="2186570" y="5031272"/>
            <a:ext cx="9343791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	- Déploiement d’une API conteneurisée</a:t>
            </a:r>
          </a:p>
          <a:p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	- Dashboard de monitoring	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755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BE370-017B-9C7A-CCBD-8C3AE0BD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454DF5A-1FFC-7C98-CC76-B419D683E33F}"/>
              </a:ext>
            </a:extLst>
          </p:cNvPr>
          <p:cNvSpPr txBox="1"/>
          <p:nvPr/>
        </p:nvSpPr>
        <p:spPr>
          <a:xfrm>
            <a:off x="681205" y="1340029"/>
            <a:ext cx="3215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fr-FR" sz="2400" dirty="0">
                <a:latin typeface="Eras Demi ITC" panose="020B0805030504020804" pitchFamily="34" charset="0"/>
              </a:rPr>
              <a:t>2</a:t>
            </a:r>
            <a:r>
              <a:rPr lang="fr-FR" sz="2400" noProof="0" dirty="0">
                <a:latin typeface="Eras Demi ITC" panose="020B0805030504020804" pitchFamily="34" charset="0"/>
              </a:rPr>
              <a:t>.1 –</a:t>
            </a:r>
            <a:r>
              <a:rPr lang="fr-FR" sz="2400" b="1" noProof="0" dirty="0">
                <a:latin typeface="Eras Light ITC" panose="020B0402030504020804" pitchFamily="34" charset="0"/>
              </a:rPr>
              <a:t> </a:t>
            </a:r>
            <a:r>
              <a:rPr lang="fr-FR" sz="2400" noProof="0" dirty="0">
                <a:latin typeface="Eras Light ITC" panose="020B0402030504020804" pitchFamily="34" charset="0"/>
              </a:rPr>
              <a:t>Arborescence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0AC79AE-8802-D061-9114-6C6A46DA3C46}"/>
              </a:ext>
            </a:extLst>
          </p:cNvPr>
          <p:cNvSpPr txBox="1"/>
          <p:nvPr/>
        </p:nvSpPr>
        <p:spPr>
          <a:xfrm>
            <a:off x="47962" y="632143"/>
            <a:ext cx="5065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latin typeface="Eras Demi ITC" panose="020B0805030504020804" pitchFamily="34" charset="0"/>
              </a:rPr>
              <a:t>II</a:t>
            </a:r>
            <a:r>
              <a:rPr lang="fr-FR" sz="3200" noProof="0" dirty="0">
                <a:latin typeface="Eras Demi ITC" panose="020B0805030504020804" pitchFamily="34" charset="0"/>
              </a:rPr>
              <a:t>. Organisation du projet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D500773-D542-B61C-6F26-477C5F0CD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761" y="2170028"/>
            <a:ext cx="8840477" cy="46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9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5724-676F-7877-5F60-DBA4B110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26041EE-715C-B0DE-6D4E-E2ADAA5F4C67}"/>
              </a:ext>
            </a:extLst>
          </p:cNvPr>
          <p:cNvSpPr txBox="1"/>
          <p:nvPr/>
        </p:nvSpPr>
        <p:spPr>
          <a:xfrm>
            <a:off x="1014843" y="1340029"/>
            <a:ext cx="3579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fr-FR" sz="2400" dirty="0">
                <a:latin typeface="Eras Demi ITC" panose="020B0805030504020804" pitchFamily="34" charset="0"/>
              </a:rPr>
              <a:t>2</a:t>
            </a:r>
            <a:r>
              <a:rPr lang="fr-FR" sz="2400" noProof="0" dirty="0">
                <a:latin typeface="Eras Demi ITC" panose="020B0805030504020804" pitchFamily="34" charset="0"/>
              </a:rPr>
              <a:t>.2 –</a:t>
            </a:r>
            <a:r>
              <a:rPr lang="fr-FR" sz="2400" b="1" noProof="0" dirty="0">
                <a:latin typeface="Eras Light ITC" panose="020B0402030504020804" pitchFamily="34" charset="0"/>
              </a:rPr>
              <a:t> </a:t>
            </a:r>
            <a:r>
              <a:rPr lang="fr-FR" sz="2400" noProof="0" dirty="0">
                <a:latin typeface="Eras Light ITC" panose="020B0402030504020804" pitchFamily="34" charset="0"/>
              </a:rPr>
              <a:t>Flux de travail git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7F7662-94B0-730C-1EF1-C25A1A0D0CA6}"/>
              </a:ext>
            </a:extLst>
          </p:cNvPr>
          <p:cNvSpPr txBox="1"/>
          <p:nvPr/>
        </p:nvSpPr>
        <p:spPr>
          <a:xfrm>
            <a:off x="381600" y="632143"/>
            <a:ext cx="6138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</a:t>
            </a:r>
            <a:r>
              <a:rPr lang="fr-FR" sz="4000" noProof="0" dirty="0">
                <a:latin typeface="Eras Demi ITC" panose="020B0805030504020804" pitchFamily="34" charset="0"/>
              </a:rPr>
              <a:t>. Organisation du projet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6580A44-D26A-FC60-F554-8A26F5C83A3D}"/>
              </a:ext>
            </a:extLst>
          </p:cNvPr>
          <p:cNvGrpSpPr/>
          <p:nvPr/>
        </p:nvGrpSpPr>
        <p:grpSpPr>
          <a:xfrm>
            <a:off x="0" y="2336800"/>
            <a:ext cx="12192000" cy="1977126"/>
            <a:chOff x="0" y="3190240"/>
            <a:chExt cx="12192000" cy="1977126"/>
          </a:xfrm>
        </p:grpSpPr>
        <p:pic>
          <p:nvPicPr>
            <p:cNvPr id="26" name="Image 25" descr="Une image contenant capture d’écran, ligne, Tracé, diagramme&#10;&#10;Le contenu généré par l’IA peut être incorrect.">
              <a:extLst>
                <a:ext uri="{FF2B5EF4-FFF2-40B4-BE49-F238E27FC236}">
                  <a16:creationId xmlns:a16="http://schemas.microsoft.com/office/drawing/2014/main" id="{BD5B962D-75CC-5BAD-674B-CFF1D0B12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90240"/>
              <a:ext cx="12192000" cy="1977126"/>
            </a:xfrm>
            <a:prstGeom prst="rect">
              <a:avLst/>
            </a:prstGeom>
            <a:solidFill>
              <a:srgbClr val="1C1B22"/>
            </a:solidFill>
          </p:spPr>
        </p:pic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4D7BF73F-F010-09AF-2972-9E5CF5816081}"/>
                </a:ext>
              </a:extLst>
            </p:cNvPr>
            <p:cNvSpPr txBox="1"/>
            <p:nvPr/>
          </p:nvSpPr>
          <p:spPr>
            <a:xfrm>
              <a:off x="3050801" y="3208528"/>
              <a:ext cx="625171" cy="161583"/>
            </a:xfrm>
            <a:prstGeom prst="rect">
              <a:avLst/>
            </a:prstGeom>
            <a:solidFill>
              <a:srgbClr val="1C1B2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050" dirty="0"/>
                <a:t>Tag: V.1.0</a:t>
              </a:r>
              <a:endParaRPr lang="en-US" sz="1050" dirty="0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AA26E457-E4B2-DB05-663C-ACBD2F74E0F8}"/>
                </a:ext>
              </a:extLst>
            </p:cNvPr>
            <p:cNvSpPr txBox="1"/>
            <p:nvPr/>
          </p:nvSpPr>
          <p:spPr>
            <a:xfrm>
              <a:off x="8336033" y="3208528"/>
              <a:ext cx="625171" cy="161583"/>
            </a:xfrm>
            <a:prstGeom prst="rect">
              <a:avLst/>
            </a:prstGeom>
            <a:solidFill>
              <a:srgbClr val="1C1B2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050" dirty="0"/>
                <a:t>Tag: V.1.1</a:t>
              </a:r>
              <a:endParaRPr lang="en-US" sz="1050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FEF9CFD-A98B-6FF4-B1F2-DF3D9F36C43E}"/>
                </a:ext>
              </a:extLst>
            </p:cNvPr>
            <p:cNvSpPr txBox="1"/>
            <p:nvPr/>
          </p:nvSpPr>
          <p:spPr>
            <a:xfrm>
              <a:off x="10579361" y="3207551"/>
              <a:ext cx="625171" cy="161583"/>
            </a:xfrm>
            <a:prstGeom prst="rect">
              <a:avLst/>
            </a:prstGeom>
            <a:solidFill>
              <a:srgbClr val="1C1B2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050" dirty="0"/>
                <a:t>Tag: V.1.2</a:t>
              </a:r>
              <a:endParaRPr lang="en-US" sz="1050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8670FC0-9241-0805-361D-411996DE6FB0}"/>
                </a:ext>
              </a:extLst>
            </p:cNvPr>
            <p:cNvSpPr txBox="1"/>
            <p:nvPr/>
          </p:nvSpPr>
          <p:spPr>
            <a:xfrm>
              <a:off x="1748260" y="4865983"/>
              <a:ext cx="1179810" cy="276999"/>
            </a:xfrm>
            <a:prstGeom prst="rect">
              <a:avLst/>
            </a:prstGeom>
            <a:solidFill>
              <a:srgbClr val="1C1B2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900" dirty="0"/>
                <a:t>Développement d’une </a:t>
              </a:r>
              <a:br>
                <a:rPr lang="fr-FR" sz="900" dirty="0"/>
              </a:br>
              <a:r>
                <a:rPr lang="fr-FR" sz="900" dirty="0"/>
                <a:t>première version d’API</a:t>
              </a:r>
              <a:endParaRPr lang="en-US" sz="900" dirty="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E7A5FA1D-F013-E8CC-F1E2-91D92837BEC1}"/>
                </a:ext>
              </a:extLst>
            </p:cNvPr>
            <p:cNvSpPr txBox="1"/>
            <p:nvPr/>
          </p:nvSpPr>
          <p:spPr>
            <a:xfrm>
              <a:off x="322387" y="3429000"/>
              <a:ext cx="282129" cy="153888"/>
            </a:xfrm>
            <a:prstGeom prst="rect">
              <a:avLst/>
            </a:prstGeom>
            <a:solidFill>
              <a:srgbClr val="1C1B2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</a:rPr>
                <a:t>prod</a:t>
              </a:r>
              <a:endParaRPr lang="en-US" sz="10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D66114D-EDBA-B2F6-547E-BAC897F7D43F}"/>
              </a:ext>
            </a:extLst>
          </p:cNvPr>
          <p:cNvCxnSpPr/>
          <p:nvPr/>
        </p:nvCxnSpPr>
        <p:spPr>
          <a:xfrm>
            <a:off x="1634490" y="3238500"/>
            <a:ext cx="18630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C3B86FD5-57D5-9B04-2A62-075688D9E793}"/>
              </a:ext>
            </a:extLst>
          </p:cNvPr>
          <p:cNvSpPr/>
          <p:nvPr/>
        </p:nvSpPr>
        <p:spPr>
          <a:xfrm>
            <a:off x="1524000" y="3141347"/>
            <a:ext cx="198120" cy="194305"/>
          </a:xfrm>
          <a:prstGeom prst="ellipse">
            <a:avLst/>
          </a:prstGeom>
          <a:solidFill>
            <a:srgbClr val="675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7A11F50-5878-A133-B231-907CA30F2C8A}"/>
              </a:ext>
            </a:extLst>
          </p:cNvPr>
          <p:cNvSpPr/>
          <p:nvPr/>
        </p:nvSpPr>
        <p:spPr>
          <a:xfrm>
            <a:off x="3006090" y="3141347"/>
            <a:ext cx="198120" cy="194305"/>
          </a:xfrm>
          <a:prstGeom prst="ellipse">
            <a:avLst/>
          </a:prstGeom>
          <a:solidFill>
            <a:srgbClr val="675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C658319-33D3-1612-BE65-80A3BC7813F8}"/>
              </a:ext>
            </a:extLst>
          </p:cNvPr>
          <p:cNvSpPr txBox="1"/>
          <p:nvPr/>
        </p:nvSpPr>
        <p:spPr>
          <a:xfrm>
            <a:off x="273454" y="4493211"/>
            <a:ext cx="1179662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ea typeface="Microsoft JhengHei UI" panose="020B0604030504040204" pitchFamily="34" charset="-120"/>
              </a:rPr>
              <a:t>Branches de fonctionnalité:</a:t>
            </a:r>
            <a:r>
              <a:rPr lang="fr-FR" sz="2000" b="1" dirty="0">
                <a:ea typeface="Microsoft JhengHei UI" panose="020B0604030504040204" pitchFamily="34" charset="-120"/>
              </a:rPr>
              <a:t> </a:t>
            </a:r>
            <a:r>
              <a:rPr lang="fr-FR" sz="2000" b="1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api, </a:t>
            </a:r>
            <a:r>
              <a:rPr lang="fr-FR" sz="2000" b="1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db</a:t>
            </a:r>
            <a:r>
              <a:rPr lang="fr-FR" sz="2000" b="1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, cd, ci, </a:t>
            </a:r>
            <a:r>
              <a:rPr lang="fr-FR" sz="2000" b="1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db</a:t>
            </a:r>
            <a:r>
              <a:rPr lang="fr-FR" sz="2000" b="1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-to-api, </a:t>
            </a:r>
            <a:r>
              <a:rPr lang="fr-FR" sz="2000" b="1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optimize</a:t>
            </a:r>
            <a:r>
              <a:rPr lang="fr-FR" sz="2000" b="1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-pipeline, </a:t>
            </a:r>
            <a:r>
              <a:rPr lang="fr-FR" sz="2000" b="1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streamlit</a:t>
            </a:r>
            <a:r>
              <a:rPr lang="fr-FR" sz="2000" b="1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-monitoring-interface</a:t>
            </a:r>
            <a:endParaRPr lang="fr-FR" sz="2000" i="1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906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773B-9526-F703-E06E-9BC5A973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C67082E-7E3E-8F30-71AD-684552A18077}"/>
              </a:ext>
            </a:extLst>
          </p:cNvPr>
          <p:cNvSpPr txBox="1"/>
          <p:nvPr/>
        </p:nvSpPr>
        <p:spPr>
          <a:xfrm>
            <a:off x="381600" y="632143"/>
            <a:ext cx="10012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III</a:t>
            </a:r>
            <a:r>
              <a:rPr lang="fr-FR" sz="4000" noProof="0" dirty="0">
                <a:latin typeface="Eras Demi ITC" panose="020B0805030504020804" pitchFamily="34" charset="0"/>
              </a:rPr>
              <a:t>. Démonstration CI/CD et API déployée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3A026E-B7C0-2BDE-C4D0-C173FF27830D}"/>
              </a:ext>
            </a:extLst>
          </p:cNvPr>
          <p:cNvSpPr txBox="1"/>
          <p:nvPr/>
        </p:nvSpPr>
        <p:spPr>
          <a:xfrm>
            <a:off x="1574800" y="2759628"/>
            <a:ext cx="9672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https://huggingface.co/spaces/JPoitreau/OC-projet-8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1F18F2-9C80-B6D8-7144-53585E6A4E42}"/>
              </a:ext>
            </a:extLst>
          </p:cNvPr>
          <p:cNvSpPr txBox="1"/>
          <p:nvPr/>
        </p:nvSpPr>
        <p:spPr>
          <a:xfrm>
            <a:off x="1574800" y="4259619"/>
            <a:ext cx="894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https://github.com/JPoitreau/OC-Projet-8/tree/dev</a:t>
            </a:r>
          </a:p>
        </p:txBody>
      </p:sp>
    </p:spTree>
    <p:extLst>
      <p:ext uri="{BB962C8B-B14F-4D97-AF65-F5344CB8AC3E}">
        <p14:creationId xmlns:p14="http://schemas.microsoft.com/office/powerpoint/2010/main" val="308291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EBAF-AE33-3222-E17B-B278C438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4B4771C-D936-F30F-66D1-44593BD43F89}"/>
              </a:ext>
            </a:extLst>
          </p:cNvPr>
          <p:cNvSpPr txBox="1"/>
          <p:nvPr/>
        </p:nvSpPr>
        <p:spPr>
          <a:xfrm>
            <a:off x="381600" y="632143"/>
            <a:ext cx="10012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III</a:t>
            </a:r>
            <a:r>
              <a:rPr lang="fr-FR" sz="4000" noProof="0" dirty="0">
                <a:latin typeface="Eras Demi ITC" panose="020B0805030504020804" pitchFamily="34" charset="0"/>
              </a:rPr>
              <a:t>. Résultats du monitoring et optimisation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F21C6A7-7EB7-8876-6B22-00951EC1D657}"/>
              </a:ext>
            </a:extLst>
          </p:cNvPr>
          <p:cNvSpPr txBox="1"/>
          <p:nvPr/>
        </p:nvSpPr>
        <p:spPr>
          <a:xfrm>
            <a:off x="3652598" y="3429000"/>
            <a:ext cx="513580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Dashboard </a:t>
            </a:r>
            <a:r>
              <a:rPr lang="fr-FR" sz="3200" b="1" noProof="0" dirty="0" err="1">
                <a:ea typeface="Microsoft JhengHei UI" panose="020B0604030504040204" pitchFamily="34" charset="-120"/>
              </a:rPr>
              <a:t>streamlit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781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9237-6C85-6D46-16B2-CAD67655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6A56AEA-B1E1-F0B3-F478-D04B7B8FA394}"/>
              </a:ext>
            </a:extLst>
          </p:cNvPr>
          <p:cNvSpPr txBox="1"/>
          <p:nvPr/>
        </p:nvSpPr>
        <p:spPr>
          <a:xfrm>
            <a:off x="381600" y="632143"/>
            <a:ext cx="10012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III</a:t>
            </a:r>
            <a:r>
              <a:rPr lang="fr-FR" sz="4000" noProof="0" dirty="0">
                <a:latin typeface="Eras Demi ITC" panose="020B0805030504020804" pitchFamily="34" charset="0"/>
              </a:rPr>
              <a:t>. Résultats du monitoring et optimisation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B3416D-B6B6-001E-C3B7-4F9029989ADD}"/>
              </a:ext>
            </a:extLst>
          </p:cNvPr>
          <p:cNvSpPr txBox="1"/>
          <p:nvPr/>
        </p:nvSpPr>
        <p:spPr>
          <a:xfrm>
            <a:off x="167718" y="2076886"/>
            <a:ext cx="579620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Optimisation du modèle :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23545B2-6B17-768A-BEC6-8FF21BFA5E18}"/>
              </a:ext>
            </a:extLst>
          </p:cNvPr>
          <p:cNvSpPr txBox="1"/>
          <p:nvPr/>
        </p:nvSpPr>
        <p:spPr>
          <a:xfrm>
            <a:off x="251709" y="2490577"/>
            <a:ext cx="49113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cProfile</a:t>
            </a:r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et o</a:t>
            </a:r>
            <a:r>
              <a:rPr lang="fr-FR" sz="3200" noProof="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nnx</a:t>
            </a:r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runtime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EE061D7-4D56-AED3-14EC-B6B045D49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6" r="27750" b="68498"/>
          <a:stretch>
            <a:fillRect/>
          </a:stretch>
        </p:blipFill>
        <p:spPr>
          <a:xfrm>
            <a:off x="5729527" y="1499753"/>
            <a:ext cx="6210764" cy="523632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8748F0D-56D8-6C4E-FB30-1A0D1E9A0384}"/>
              </a:ext>
            </a:extLst>
          </p:cNvPr>
          <p:cNvSpPr txBox="1"/>
          <p:nvPr/>
        </p:nvSpPr>
        <p:spPr>
          <a:xfrm>
            <a:off x="251709" y="3327586"/>
            <a:ext cx="530159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Dur</a:t>
            </a:r>
            <a:r>
              <a:rPr lang="fr-FR" sz="320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ée</a:t>
            </a:r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moyenne du pipeline : 31ms (Inférence = 71%)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929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9C27-CEE7-B1FC-08CB-E986C3C1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2F87969-F3B0-FD80-3705-67C81F733544}"/>
              </a:ext>
            </a:extLst>
          </p:cNvPr>
          <p:cNvSpPr txBox="1"/>
          <p:nvPr/>
        </p:nvSpPr>
        <p:spPr>
          <a:xfrm>
            <a:off x="381600" y="632143"/>
            <a:ext cx="10012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III</a:t>
            </a:r>
            <a:r>
              <a:rPr lang="fr-FR" sz="4000" noProof="0" dirty="0">
                <a:latin typeface="Eras Demi ITC" panose="020B0805030504020804" pitchFamily="34" charset="0"/>
              </a:rPr>
              <a:t>. Résultats du monitoring et optimisation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71AAED4-AF28-9D47-A41A-0ADECF4D0551}"/>
              </a:ext>
            </a:extLst>
          </p:cNvPr>
          <p:cNvSpPr txBox="1"/>
          <p:nvPr/>
        </p:nvSpPr>
        <p:spPr>
          <a:xfrm>
            <a:off x="167718" y="2076886"/>
            <a:ext cx="579620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Optimisation du modèle :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0D90A3-2E34-7CF3-7374-35C62EB697DC}"/>
              </a:ext>
            </a:extLst>
          </p:cNvPr>
          <p:cNvSpPr txBox="1"/>
          <p:nvPr/>
        </p:nvSpPr>
        <p:spPr>
          <a:xfrm>
            <a:off x="251709" y="2490577"/>
            <a:ext cx="49113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cProfile</a:t>
            </a:r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et o</a:t>
            </a:r>
            <a:r>
              <a:rPr lang="fr-FR" sz="3200" noProof="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nnx</a:t>
            </a:r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runtime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350D8FA-E376-4F41-2F73-FF8D81A23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6" r="27750" b="68498"/>
          <a:stretch>
            <a:fillRect/>
          </a:stretch>
        </p:blipFill>
        <p:spPr>
          <a:xfrm>
            <a:off x="5729527" y="1499753"/>
            <a:ext cx="6210764" cy="523632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A837EFC-4D4B-87AC-80B1-02A4A8E96D5B}"/>
              </a:ext>
            </a:extLst>
          </p:cNvPr>
          <p:cNvSpPr txBox="1"/>
          <p:nvPr/>
        </p:nvSpPr>
        <p:spPr>
          <a:xfrm>
            <a:off x="251709" y="3327586"/>
            <a:ext cx="530159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Dur</a:t>
            </a:r>
            <a:r>
              <a:rPr lang="fr-FR" sz="320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ée</a:t>
            </a:r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moyenne du pipeline : 31ms (Inférence = 71%)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C1FF8-9486-1EFD-0405-642B3194A064}"/>
              </a:ext>
            </a:extLst>
          </p:cNvPr>
          <p:cNvSpPr/>
          <p:nvPr/>
        </p:nvSpPr>
        <p:spPr>
          <a:xfrm>
            <a:off x="251709" y="4805680"/>
            <a:ext cx="4911306" cy="107721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69D181-9F5F-C34D-5421-0DC22635D4C9}"/>
              </a:ext>
            </a:extLst>
          </p:cNvPr>
          <p:cNvCxnSpPr>
            <a:cxnSpLocks/>
          </p:cNvCxnSpPr>
          <p:nvPr/>
        </p:nvCxnSpPr>
        <p:spPr>
          <a:xfrm>
            <a:off x="462880" y="5100320"/>
            <a:ext cx="62424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12">
            <a:extLst>
              <a:ext uri="{FF2B5EF4-FFF2-40B4-BE49-F238E27FC236}">
                <a16:creationId xmlns:a16="http://schemas.microsoft.com/office/drawing/2014/main" id="{3B86516C-D9E0-081D-8DFB-B2ECB61904BE}"/>
              </a:ext>
            </a:extLst>
          </p:cNvPr>
          <p:cNvSpPr txBox="1"/>
          <p:nvPr/>
        </p:nvSpPr>
        <p:spPr>
          <a:xfrm>
            <a:off x="1263340" y="4896991"/>
            <a:ext cx="389967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Goulot d’étranglement :</a:t>
            </a:r>
          </a:p>
          <a:p>
            <a:r>
              <a:rPr lang="fr-FR" sz="2400" b="1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Sklearn</a:t>
            </a:r>
            <a:r>
              <a:rPr lang="fr-FR" sz="2400" b="1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       fonction </a:t>
            </a:r>
            <a:r>
              <a:rPr lang="fr-FR" sz="2400" b="1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predict</a:t>
            </a:r>
            <a:endParaRPr lang="fr-FR" sz="2400" b="1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D128D9-A2B3-5171-F470-DA891210B821}"/>
              </a:ext>
            </a:extLst>
          </p:cNvPr>
          <p:cNvCxnSpPr>
            <a:cxnSpLocks/>
          </p:cNvCxnSpPr>
          <p:nvPr/>
        </p:nvCxnSpPr>
        <p:spPr>
          <a:xfrm>
            <a:off x="2398082" y="5506720"/>
            <a:ext cx="36008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BD4B49C7-2D25-1428-2A46-63838E6F8242}"/>
              </a:ext>
            </a:extLst>
          </p:cNvPr>
          <p:cNvSpPr/>
          <p:nvPr/>
        </p:nvSpPr>
        <p:spPr>
          <a:xfrm>
            <a:off x="5729527" y="2684227"/>
            <a:ext cx="1310640" cy="151211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280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61774-17B2-316B-B5E3-C8ECC654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894094E-56AD-D7E0-BF48-63B4518BF1FC}"/>
              </a:ext>
            </a:extLst>
          </p:cNvPr>
          <p:cNvSpPr txBox="1"/>
          <p:nvPr/>
        </p:nvSpPr>
        <p:spPr>
          <a:xfrm>
            <a:off x="381600" y="632143"/>
            <a:ext cx="10012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Eras Demi ITC" panose="020B0805030504020804" pitchFamily="34" charset="0"/>
              </a:rPr>
              <a:t>III</a:t>
            </a:r>
            <a:r>
              <a:rPr lang="fr-FR" sz="4000" noProof="0" dirty="0">
                <a:latin typeface="Eras Demi ITC" panose="020B0805030504020804" pitchFamily="34" charset="0"/>
              </a:rPr>
              <a:t>. Résultats du monitoring et optimisation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79BAFB-8C55-6147-EDE8-D3C1F8FF0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9" t="47" r="33259" b="59326"/>
          <a:stretch>
            <a:fillRect/>
          </a:stretch>
        </p:blipFill>
        <p:spPr>
          <a:xfrm>
            <a:off x="5553307" y="2165176"/>
            <a:ext cx="6393268" cy="425594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94ACE82-35E3-E7B1-A889-4608302337A5}"/>
              </a:ext>
            </a:extLst>
          </p:cNvPr>
          <p:cNvSpPr txBox="1"/>
          <p:nvPr/>
        </p:nvSpPr>
        <p:spPr>
          <a:xfrm>
            <a:off x="167718" y="2076886"/>
            <a:ext cx="579620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noProof="0" dirty="0">
                <a:ea typeface="Microsoft JhengHei UI" panose="020B0604030504040204" pitchFamily="34" charset="-120"/>
              </a:rPr>
              <a:t>Optimisation du modèle :</a:t>
            </a:r>
            <a:endParaRPr lang="fr-FR" sz="3200" i="1" noProof="0" dirty="0">
              <a:ea typeface="Microsoft JhengHei UI Light" panose="020B0304030504040204" pitchFamily="34" charset="-12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1995DC8-B439-6522-91A7-8AD4E4F1C465}"/>
              </a:ext>
            </a:extLst>
          </p:cNvPr>
          <p:cNvSpPr txBox="1"/>
          <p:nvPr/>
        </p:nvSpPr>
        <p:spPr>
          <a:xfrm>
            <a:off x="251709" y="2490577"/>
            <a:ext cx="49113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cProfile</a:t>
            </a:r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et o</a:t>
            </a:r>
            <a:r>
              <a:rPr lang="fr-FR" sz="3200" noProof="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nnx</a:t>
            </a:r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runtime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451A7FD-3D56-75D0-BCA2-7CF2DAE1AC43}"/>
              </a:ext>
            </a:extLst>
          </p:cNvPr>
          <p:cNvSpPr txBox="1"/>
          <p:nvPr/>
        </p:nvSpPr>
        <p:spPr>
          <a:xfrm>
            <a:off x="251709" y="3327586"/>
            <a:ext cx="530159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32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Dur</a:t>
            </a:r>
            <a:r>
              <a:rPr lang="fr-FR" sz="320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ée</a:t>
            </a:r>
            <a:r>
              <a:rPr lang="fr-FR" sz="320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moyenne du pipeline : 18ms (Inférence = 66%)</a:t>
            </a:r>
            <a:endParaRPr lang="fr-FR" sz="3200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8C720F-D9C4-D524-5B7E-2B3C77C2F393}"/>
              </a:ext>
            </a:extLst>
          </p:cNvPr>
          <p:cNvSpPr/>
          <p:nvPr/>
        </p:nvSpPr>
        <p:spPr>
          <a:xfrm>
            <a:off x="251709" y="4805680"/>
            <a:ext cx="4911306" cy="107721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FD56F8-7CB9-C210-E32E-734AD7BC82FF}"/>
              </a:ext>
            </a:extLst>
          </p:cNvPr>
          <p:cNvCxnSpPr>
            <a:cxnSpLocks/>
          </p:cNvCxnSpPr>
          <p:nvPr/>
        </p:nvCxnSpPr>
        <p:spPr>
          <a:xfrm>
            <a:off x="462880" y="5100320"/>
            <a:ext cx="62424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12">
            <a:extLst>
              <a:ext uri="{FF2B5EF4-FFF2-40B4-BE49-F238E27FC236}">
                <a16:creationId xmlns:a16="http://schemas.microsoft.com/office/drawing/2014/main" id="{976ADC03-2BC2-DCE7-30A4-68335B28A399}"/>
              </a:ext>
            </a:extLst>
          </p:cNvPr>
          <p:cNvSpPr txBox="1"/>
          <p:nvPr/>
        </p:nvSpPr>
        <p:spPr>
          <a:xfrm>
            <a:off x="1263340" y="4896991"/>
            <a:ext cx="389967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Temps de traitement moyen divisé par 2.</a:t>
            </a:r>
            <a:endParaRPr lang="fr-FR" sz="2400" b="1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6112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BBA8-251F-CE49-558E-F48B846E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3D9F2927-4B71-6B2E-07FE-E96FC54EE9C4}"/>
              </a:ext>
            </a:extLst>
          </p:cNvPr>
          <p:cNvSpPr txBox="1"/>
          <p:nvPr/>
        </p:nvSpPr>
        <p:spPr>
          <a:xfrm>
            <a:off x="381600" y="909243"/>
            <a:ext cx="28777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noProof="0" dirty="0">
                <a:latin typeface="Eras Demi ITC" panose="020B0805030504020804" pitchFamily="34" charset="0"/>
              </a:rPr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C69F91-2F2F-04E8-EE38-1F1317AD6ED1}"/>
              </a:ext>
            </a:extLst>
          </p:cNvPr>
          <p:cNvSpPr txBox="1"/>
          <p:nvPr/>
        </p:nvSpPr>
        <p:spPr>
          <a:xfrm>
            <a:off x="381600" y="2268350"/>
            <a:ext cx="1054651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noProof="0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Mise en place d’une API </a:t>
            </a:r>
            <a:r>
              <a:rPr lang="fr-FR" sz="2800" noProof="0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gradio</a:t>
            </a:r>
            <a:r>
              <a:rPr lang="fr-FR" sz="2800" noProof="0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 fonctionnelle permettant d’obtenir une prédiction du modèle de </a:t>
            </a:r>
            <a:r>
              <a:rPr lang="fr-FR" sz="2800" noProof="0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scoring</a:t>
            </a:r>
            <a:r>
              <a:rPr lang="fr-FR" sz="2800" noProof="0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 à partir de nouvelles valeurs des variables les plus explicatives du </a:t>
            </a:r>
            <a:r>
              <a:rPr lang="fr-FR" sz="2800" noProof="0" dirty="0" err="1">
                <a:latin typeface="Eras Light ITC" panose="020B0402030504020804" pitchFamily="34" charset="0"/>
                <a:ea typeface="Microsoft JhengHei UI" panose="020B0604030504040204" pitchFamily="34" charset="-120"/>
              </a:rPr>
              <a:t>scoring</a:t>
            </a:r>
            <a:endParaRPr lang="fr-FR" sz="2800" i="1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9CCBD5-B931-CB00-AD1E-F32D35A3D0F1}"/>
              </a:ext>
            </a:extLst>
          </p:cNvPr>
          <p:cNvSpPr txBox="1"/>
          <p:nvPr/>
        </p:nvSpPr>
        <p:spPr>
          <a:xfrm>
            <a:off x="371440" y="3765625"/>
            <a:ext cx="1054651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Mise en place d’un pipeline automatique de CI/CD permettant le contrôle de la qualité et du fonctionnement du code ainsi que sont déploiement continue sur </a:t>
            </a:r>
            <a:r>
              <a:rPr lang="fr-FR" sz="2800" noProof="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HuggingFace</a:t>
            </a:r>
            <a:r>
              <a:rPr lang="fr-FR" sz="28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 </a:t>
            </a:r>
            <a:r>
              <a:rPr lang="fr-FR" sz="2800" noProof="0" dirty="0" err="1">
                <a:latin typeface="Eras Light ITC" panose="020B0402030504020804" pitchFamily="34" charset="0"/>
                <a:ea typeface="Microsoft JhengHei Light" panose="020B0304030504040204" pitchFamily="34" charset="-120"/>
              </a:rPr>
              <a:t>Spaces</a:t>
            </a:r>
            <a:r>
              <a:rPr lang="fr-FR" sz="28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.	</a:t>
            </a:r>
            <a:r>
              <a:rPr lang="fr-FR" sz="2800" i="1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	</a:t>
            </a:r>
            <a:endParaRPr lang="fr-FR" sz="2800" i="1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1E8463-C254-666E-67D7-EC59FAA829B4}"/>
              </a:ext>
            </a:extLst>
          </p:cNvPr>
          <p:cNvSpPr txBox="1"/>
          <p:nvPr/>
        </p:nvSpPr>
        <p:spPr>
          <a:xfrm>
            <a:off x="320855" y="6032824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noProof="0" dirty="0">
                <a:latin typeface="Eras Light ITC" panose="020B0402030504020804" pitchFamily="34" charset="0"/>
                <a:ea typeface="Microsoft JhengHei UI" panose="020B0604030504040204" pitchFamily="34" charset="-120"/>
              </a:rPr>
              <a:t>Documentation complète du projet.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BBCFF9EA-1D53-528D-15D9-153B334FB7B8}"/>
              </a:ext>
            </a:extLst>
          </p:cNvPr>
          <p:cNvSpPr txBox="1"/>
          <p:nvPr/>
        </p:nvSpPr>
        <p:spPr>
          <a:xfrm>
            <a:off x="361280" y="5295519"/>
            <a:ext cx="1054651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Optimisation du pipeline	</a:t>
            </a:r>
            <a:r>
              <a:rPr lang="fr-FR" sz="2800" i="1" noProof="0" dirty="0">
                <a:latin typeface="Eras Light ITC" panose="020B0402030504020804" pitchFamily="34" charset="0"/>
                <a:ea typeface="Microsoft JhengHei Light" panose="020B0304030504040204" pitchFamily="34" charset="-120"/>
              </a:rPr>
              <a:t>	</a:t>
            </a:r>
            <a:endParaRPr lang="fr-FR" sz="2800" i="1" noProof="0" dirty="0">
              <a:latin typeface="Eras Light ITC" panose="020B0402030504020804" pitchFamily="34" charset="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808489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2775</TotalTime>
  <Words>409</Words>
  <Application>Microsoft Office PowerPoint</Application>
  <PresentationFormat>Widescreen</PresentationFormat>
  <Paragraphs>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Microsoft JhengHei UI</vt:lpstr>
      <vt:lpstr>Microsoft JhengHei UI Light</vt:lpstr>
      <vt:lpstr>Aptos</vt:lpstr>
      <vt:lpstr>Arial</vt:lpstr>
      <vt:lpstr>Consolas</vt:lpstr>
      <vt:lpstr>Eras Bold ITC</vt:lpstr>
      <vt:lpstr>Eras Demi ITC</vt:lpstr>
      <vt:lpstr>Eras Light ITC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Lucien Marcel Poitreau</dc:creator>
  <cp:lastModifiedBy>General Akanthas</cp:lastModifiedBy>
  <cp:revision>29</cp:revision>
  <dcterms:created xsi:type="dcterms:W3CDTF">2025-11-22T11:13:09Z</dcterms:created>
  <dcterms:modified xsi:type="dcterms:W3CDTF">2026-08-17T16:46:48Z</dcterms:modified>
</cp:coreProperties>
</file>